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a802ec05704d30" /><Relationship Type="http://schemas.openxmlformats.org/officeDocument/2006/relationships/extended-properties" Target="/docProps/app.xml" Id="Ra42bfe88bcce43b4" /><Relationship Type="http://schemas.openxmlformats.org/officeDocument/2006/relationships/officeDocument" Target="/ppt/presentation.xml" Id="Rda5c19d685e64155" /></Relationships>
</file>

<file path=ppt/presentation.xml><?xml version="1.0" encoding="utf-8"?>
<p:presentation xmlns:p="http://schemas.openxmlformats.org/presentationml/2006/main">
  <p:sldMasterIdLst>
    <p:sldMasterId xmlns:r="http://schemas.openxmlformats.org/officeDocument/2006/relationships" id="2147483648" r:id="Rfd858ff15a7646e1"/>
  </p:sldMasterIdLst>
  <p:notesMasterIdLst>
    <p:notesMasterId xmlns:r="http://schemas.openxmlformats.org/officeDocument/2006/relationships" r:id="Rec327892051c401f"/>
  </p:notesMasterIdLst>
  <p:sldIdLst>
    <p:sldId xmlns:r="http://schemas.openxmlformats.org/officeDocument/2006/relationships" id="256" r:id="R30a8838010db4667"/>
    <p:sldId xmlns:r="http://schemas.openxmlformats.org/officeDocument/2006/relationships" id="257" r:id="R8e44dbb7651f437f"/>
    <p:sldId xmlns:r="http://schemas.openxmlformats.org/officeDocument/2006/relationships" id="258" r:id="Ra4c794f1db9c419c"/>
    <p:sldId xmlns:r="http://schemas.openxmlformats.org/officeDocument/2006/relationships" id="259" r:id="R0267d8b0b6564f75"/>
    <p:sldId xmlns:r="http://schemas.openxmlformats.org/officeDocument/2006/relationships" id="260" r:id="R05fbdd14fd5448d1"/>
    <p:sldId xmlns:r="http://schemas.openxmlformats.org/officeDocument/2006/relationships" id="261" r:id="Rc298ef069d274c26"/>
    <p:sldId xmlns:r="http://schemas.openxmlformats.org/officeDocument/2006/relationships" id="262" r:id="Rd14ac4637b4c4cf5"/>
    <p:sldId xmlns:r="http://schemas.openxmlformats.org/officeDocument/2006/relationships" id="263" r:id="R425bd43ffc584f96"/>
    <p:sldId xmlns:r="http://schemas.openxmlformats.org/officeDocument/2006/relationships" id="264" r:id="R64d5d5edabdb4a12"/>
    <p:sldId xmlns:r="http://schemas.openxmlformats.org/officeDocument/2006/relationships" id="265" r:id="R5555d44f78d6411f"/>
    <p:sldId xmlns:r="http://schemas.openxmlformats.org/officeDocument/2006/relationships" id="266" r:id="R37523d2a143d46e4"/>
    <p:sldId xmlns:r="http://schemas.openxmlformats.org/officeDocument/2006/relationships" id="267" r:id="R596d16f5cac24224"/>
    <p:sldId xmlns:r="http://schemas.openxmlformats.org/officeDocument/2006/relationships" id="268" r:id="R7dfda44eac6f407a"/>
    <p:sldId xmlns:r="http://schemas.openxmlformats.org/officeDocument/2006/relationships" id="269" r:id="R6cc7d70024a54bb0"/>
    <p:sldId xmlns:r="http://schemas.openxmlformats.org/officeDocument/2006/relationships" id="270" r:id="Rfeb361123e6846cc"/>
    <p:sldId xmlns:r="http://schemas.openxmlformats.org/officeDocument/2006/relationships" id="271" r:id="R6e0b7062abd445de"/>
    <p:sldId xmlns:r="http://schemas.openxmlformats.org/officeDocument/2006/relationships" id="272" r:id="Rd496146550b94d49"/>
    <p:sldId xmlns:r="http://schemas.openxmlformats.org/officeDocument/2006/relationships" id="273" r:id="Rfd43dac1677d4954"/>
    <p:sldId xmlns:r="http://schemas.openxmlformats.org/officeDocument/2006/relationships" id="274" r:id="Rec71bdbbf6094215"/>
    <p:sldId xmlns:r="http://schemas.openxmlformats.org/officeDocument/2006/relationships" id="275" r:id="R1ef958d098fe4f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385d63b33e4bb5" /><Relationship Type="http://schemas.openxmlformats.org/officeDocument/2006/relationships/slideMaster" Target="/ppt/slideMasters/slideMaster1.xml" Id="Rfd858ff15a7646e1" /><Relationship Type="http://schemas.openxmlformats.org/officeDocument/2006/relationships/notesMaster" Target="/ppt/notesMasters/notesMaster1.xml" Id="Rec327892051c401f" /><Relationship Type="http://schemas.openxmlformats.org/officeDocument/2006/relationships/presProps" Target="/ppt/presProps.xml" Id="Rf21f636808844f39" /><Relationship Type="http://schemas.openxmlformats.org/officeDocument/2006/relationships/tableStyles" Target="/ppt/tableStyles.xml" Id="Rb9383c0b9d8f4208" /><Relationship Type="http://schemas.openxmlformats.org/officeDocument/2006/relationships/slide" Target="/ppt/slides/slide1.xml" Id="R30a8838010db4667" /><Relationship Type="http://schemas.openxmlformats.org/officeDocument/2006/relationships/slide" Target="/ppt/slides/slide2.xml" Id="R8e44dbb7651f437f" /><Relationship Type="http://schemas.openxmlformats.org/officeDocument/2006/relationships/slide" Target="/ppt/slides/slide3.xml" Id="Ra4c794f1db9c419c" /><Relationship Type="http://schemas.openxmlformats.org/officeDocument/2006/relationships/slide" Target="/ppt/slides/slide4.xml" Id="R0267d8b0b6564f75" /><Relationship Type="http://schemas.openxmlformats.org/officeDocument/2006/relationships/slide" Target="/ppt/slides/slide5.xml" Id="R05fbdd14fd5448d1" /><Relationship Type="http://schemas.openxmlformats.org/officeDocument/2006/relationships/slide" Target="/ppt/slides/slide6.xml" Id="Rc298ef069d274c26" /><Relationship Type="http://schemas.openxmlformats.org/officeDocument/2006/relationships/slide" Target="/ppt/slides/slide7.xml" Id="Rd14ac4637b4c4cf5" /><Relationship Type="http://schemas.openxmlformats.org/officeDocument/2006/relationships/slide" Target="/ppt/slides/slide8.xml" Id="R425bd43ffc584f96" /><Relationship Type="http://schemas.openxmlformats.org/officeDocument/2006/relationships/slide" Target="/ppt/slides/slide9.xml" Id="R64d5d5edabdb4a12" /><Relationship Type="http://schemas.openxmlformats.org/officeDocument/2006/relationships/slide" Target="/ppt/slides/slide10.xml" Id="R5555d44f78d6411f" /><Relationship Type="http://schemas.openxmlformats.org/officeDocument/2006/relationships/slide" Target="/ppt/slides/slide11.xml" Id="R37523d2a143d46e4" /><Relationship Type="http://schemas.openxmlformats.org/officeDocument/2006/relationships/slide" Target="/ppt/slides/slide12.xml" Id="R596d16f5cac24224" /><Relationship Type="http://schemas.openxmlformats.org/officeDocument/2006/relationships/slide" Target="/ppt/slides/slide13.xml" Id="R7dfda44eac6f407a" /><Relationship Type="http://schemas.openxmlformats.org/officeDocument/2006/relationships/slide" Target="/ppt/slides/slide14.xml" Id="R6cc7d70024a54bb0" /><Relationship Type="http://schemas.openxmlformats.org/officeDocument/2006/relationships/slide" Target="/ppt/slides/slide15.xml" Id="Rfeb361123e6846cc" /><Relationship Type="http://schemas.openxmlformats.org/officeDocument/2006/relationships/slide" Target="/ppt/slides/slide16.xml" Id="R6e0b7062abd445de" /><Relationship Type="http://schemas.openxmlformats.org/officeDocument/2006/relationships/slide" Target="/ppt/slides/slide17.xml" Id="Rd496146550b94d49" /><Relationship Type="http://schemas.openxmlformats.org/officeDocument/2006/relationships/slide" Target="/ppt/slides/slide18.xml" Id="Rfd43dac1677d4954" /><Relationship Type="http://schemas.openxmlformats.org/officeDocument/2006/relationships/slide" Target="/ppt/slides/slide19.xml" Id="Rec71bdbbf6094215" /><Relationship Type="http://schemas.openxmlformats.org/officeDocument/2006/relationships/slide" Target="/ppt/slides/slide20.xml" Id="R1ef958d098fe4f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d147ae916448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6c1351d5594f4e" /><Relationship Type="http://schemas.openxmlformats.org/officeDocument/2006/relationships/notesMaster" Target="/ppt/notesMasters/notesMaster1.xml" Id="R9c08dc1c8b474f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5960b73f344d80" /><Relationship Type="http://schemas.openxmlformats.org/officeDocument/2006/relationships/notesMaster" Target="/ppt/notesMasters/notesMaster1.xml" Id="Rbed5b647c1204e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ed09d315d746e0" /><Relationship Type="http://schemas.openxmlformats.org/officeDocument/2006/relationships/notesMaster" Target="/ppt/notesMasters/notesMaster1.xml" Id="Rfe61f9ae3fce4e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09a2407ec04150" /><Relationship Type="http://schemas.openxmlformats.org/officeDocument/2006/relationships/notesMaster" Target="/ppt/notesMasters/notesMaster1.xml" Id="R07f799e2bd3b41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5c48c18db4420b" /><Relationship Type="http://schemas.openxmlformats.org/officeDocument/2006/relationships/notesMaster" Target="/ppt/notesMasters/notesMaster1.xml" Id="Rb62cb85d790f49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85c228a5d34f83" /><Relationship Type="http://schemas.openxmlformats.org/officeDocument/2006/relationships/notesMaster" Target="/ppt/notesMasters/notesMaster1.xml" Id="R03c4c62c30d645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05735e9e864d1f" /><Relationship Type="http://schemas.openxmlformats.org/officeDocument/2006/relationships/notesMaster" Target="/ppt/notesMasters/notesMaster1.xml" Id="Rcd46df2bc01940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8c15be959e489d" /><Relationship Type="http://schemas.openxmlformats.org/officeDocument/2006/relationships/notesMaster" Target="/ppt/notesMasters/notesMaster1.xml" Id="Ra242fb7e8e284e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68d35cfb954aed" /><Relationship Type="http://schemas.openxmlformats.org/officeDocument/2006/relationships/notesMaster" Target="/ppt/notesMasters/notesMaster1.xml" Id="R38c27bdacd4246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ab4c96cc304716" /><Relationship Type="http://schemas.openxmlformats.org/officeDocument/2006/relationships/notesMaster" Target="/ppt/notesMasters/notesMaster1.xml" Id="R62173e4c1dd743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34f977b8574c45" /><Relationship Type="http://schemas.openxmlformats.org/officeDocument/2006/relationships/notesMaster" Target="/ppt/notesMasters/notesMaster1.xml" Id="R101d12873cb34c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8e23b892f8475e" /><Relationship Type="http://schemas.openxmlformats.org/officeDocument/2006/relationships/notesMaster" Target="/ppt/notesMasters/notesMaster1.xml" Id="R069dfc5231fe469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d096177b7c44c6" /><Relationship Type="http://schemas.openxmlformats.org/officeDocument/2006/relationships/notesMaster" Target="/ppt/notesMasters/notesMaster1.xml" Id="Rea439142b09c407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29b623a67b2486c" /><Relationship Type="http://schemas.openxmlformats.org/officeDocument/2006/relationships/notesMaster" Target="/ppt/notesMasters/notesMaster1.xml" Id="R80fab80fb5ed4d5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388c70272504dbf" /><Relationship Type="http://schemas.openxmlformats.org/officeDocument/2006/relationships/notesMaster" Target="/ppt/notesMasters/notesMaster1.xml" Id="Ra35def91cd8d40d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dcf896fb8444ee1" /><Relationship Type="http://schemas.openxmlformats.org/officeDocument/2006/relationships/notesMaster" Target="/ppt/notesMasters/notesMaster1.xml" Id="R48552706636e4da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e6a0d5acb144617" /><Relationship Type="http://schemas.openxmlformats.org/officeDocument/2006/relationships/notesMaster" Target="/ppt/notesMasters/notesMaster1.xml" Id="Ra8f9c39c4a8b4dd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7dd4971eeef4cda" /><Relationship Type="http://schemas.openxmlformats.org/officeDocument/2006/relationships/notesMaster" Target="/ppt/notesMasters/notesMaster1.xml" Id="R6be6bc0ee80a4ea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b028458e4664349" /><Relationship Type="http://schemas.openxmlformats.org/officeDocument/2006/relationships/notesMaster" Target="/ppt/notesMasters/notesMaster1.xml" Id="R7d74e9ac11d44d9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358ab0d0bba4f1c" /><Relationship Type="http://schemas.openxmlformats.org/officeDocument/2006/relationships/notesMaster" Target="/ppt/notesMasters/notesMaster1.xml" Id="Ra93b4edd85fd4e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walkthrough uses fresh in-app browser captures from the merged Harness branch. The fixture mounts the real React components with local fake clients. No provider request was 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 Capability Profiles screen is separate from Workflow authoring. The left side changes the selected profile. The right side edits the profile and shows the inherited runtime.</a:t>
            </a:r>
          </a:p>
          <a:p xmlns:a="http://schemas.openxmlformats.org/drawingml/2006/main">
            <a:r>
              <a:t/>
            </a:r>
          </a:p>
          <a:p xmlns:a="http://schemas.openxmlformats.org/drawingml/2006/main">
            <a:r>
              <a:t>[Sources]</a:t>
            </a:r>
          </a:p>
          <a:p xmlns:a="http://schemas.openxmlformats.org/drawingml/2006/main">
            <a:r>
              <a:t>- Local in-app browser capture: 01-capability-profile.png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lower part of the same profile. Model and reasoning choices can be narrowed. MCP, skills, and sandbox show what comes from the selected runtime.</a:t>
            </a:r>
          </a:p>
          <a:p xmlns:a="http://schemas.openxmlformats.org/drawingml/2006/main">
            <a:r>
              <a:t/>
            </a:r>
          </a:p>
          <a:p xmlns:a="http://schemas.openxmlformats.org/drawingml/2006/main">
            <a:r>
              <a:t>[Sources]</a:t>
            </a:r>
          </a:p>
          <a:p xmlns:a="http://schemas.openxmlformats.org/drawingml/2006/main">
            <a:r>
              <a:t>- Local in-app browser capture: 02-allowed-capabilities.png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merge fixes the largest problem in the last demo. The node list no longer replaces the flow. The canvas, recipe list, and instance list now share one screen.</a:t>
            </a:r>
          </a:p>
          <a:p xmlns:a="http://schemas.openxmlformats.org/drawingml/2006/main">
            <a:r>
              <a:t/>
            </a:r>
          </a:p>
          <a:p xmlns:a="http://schemas.openxmlformats.org/drawingml/2006/main">
            <a:r>
              <a:t>[Sources]</a:t>
            </a:r>
          </a:p>
          <a:p xmlns:a="http://schemas.openxmlformats.org/drawingml/2006/main">
            <a:r>
              <a:t>- Local in-app browser capture: 03-workflow-canvas.png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flow remains visible while the node form opens. The first screen shows the node name, identity, profile, copy section, and creation-only prompt.</a:t>
            </a:r>
          </a:p>
          <a:p xmlns:a="http://schemas.openxmlformats.org/drawingml/2006/main">
            <a:r>
              <a:t/>
            </a:r>
          </a:p>
          <a:p xmlns:a="http://schemas.openxmlformats.org/drawingml/2006/main">
            <a:r>
              <a:t>[Sources]</a:t>
            </a:r>
          </a:p>
          <a:p xmlns:a="http://schemas.openxmlformats.org/drawingml/2006/main">
            <a:r>
              <a:t>- Local in-app browser capture: 04-node-profile.png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no shared Node Profile catalog. This section supports the agreed copy-and-edit flow without creating reusable node objects.</a:t>
            </a:r>
          </a:p>
          <a:p xmlns:a="http://schemas.openxmlformats.org/drawingml/2006/main">
            <a:r>
              <a:t/>
            </a:r>
          </a:p>
          <a:p xmlns:a="http://schemas.openxmlformats.org/drawingml/2006/main">
            <a:r>
              <a:t>[Sources]</a:t>
            </a:r>
          </a:p>
          <a:p xmlns:a="http://schemas.openxmlformats.org/drawingml/2006/main">
            <a:r>
              <a:t>- Local in-app browser capture: 05-copy-node-profile.png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node may narrow its Capability Profile. The node also sets the model and reasoning used when the Workflow sends a message. The sandbox stays inherited.</a:t>
            </a:r>
          </a:p>
          <a:p xmlns:a="http://schemas.openxmlformats.org/drawingml/2006/main">
            <a:r>
              <a:t/>
            </a:r>
          </a:p>
          <a:p xmlns:a="http://schemas.openxmlformats.org/drawingml/2006/main">
            <a:r>
              <a:t>[Sources]</a:t>
            </a:r>
          </a:p>
          <a:p xmlns:a="http://schemas.openxmlformats.org/drawingml/2006/main">
            <a:r>
              <a:t>- Local in-app browser capture: 06-node-limits-defaults.png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Selecting the line opens the connection editor. The top of the form names the nodes and the trigger that starts the Session Event.</a:t>
            </a:r>
          </a:p>
          <a:p xmlns:a="http://schemas.openxmlformats.org/drawingml/2006/main">
            <a:r>
              <a:t/>
            </a:r>
          </a:p>
          <a:p xmlns:a="http://schemas.openxmlformats.org/drawingml/2006/main">
            <a:r>
              <a:t>[Sources]</a:t>
            </a:r>
          </a:p>
          <a:p xmlns:a="http://schemas.openxmlformats.org/drawingml/2006/main">
            <a:r>
              <a:t>- Local in-app browser capture: 07-connection-trigger.png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part controls prompt text and Session lookup. The behavior is present, but the checkbox layout is still awkward at the reviewed width.</a:t>
            </a:r>
          </a:p>
          <a:p xmlns:a="http://schemas.openxmlformats.org/drawingml/2006/main">
            <a:r>
              <a:t/>
            </a:r>
          </a:p>
          <a:p xmlns:a="http://schemas.openxmlformats.org/drawingml/2006/main">
            <a:r>
              <a:t>[Sources]</a:t>
            </a:r>
          </a:p>
          <a:p xmlns:a="http://schemas.openxmlformats.org/drawingml/2006/main">
            <a:r>
              <a:t>- Local in-app browser capture: 08-connection-prompt-target.png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state shows the built-in MCP trigger. The connection stores separate typed references for the server and the tool.</a:t>
            </a:r>
          </a:p>
          <a:p xmlns:a="http://schemas.openxmlformats.org/drawingml/2006/main">
            <a:r>
              <a:t/>
            </a:r>
          </a:p>
          <a:p xmlns:a="http://schemas.openxmlformats.org/drawingml/2006/main">
            <a:r>
              <a:t>[Sources]</a:t>
            </a:r>
          </a:p>
          <a:p xmlns:a="http://schemas.openxmlformats.org/drawingml/2006/main">
            <a:r>
              <a:t>- Local in-app browser capture: 17-mcp-trigger.png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an MCP argument and referenced file content in one ordered list. The order on screen is the order used in the prompt.</a:t>
            </a:r>
          </a:p>
          <a:p xmlns:a="http://schemas.openxmlformats.org/drawingml/2006/main">
            <a:r>
              <a:t/>
            </a:r>
          </a:p>
          <a:p xmlns:a="http://schemas.openxmlformats.org/drawingml/2006/main">
            <a:r>
              <a:t>[Sources]</a:t>
            </a:r>
          </a:p>
          <a:p xmlns:a="http://schemas.openxmlformats.org/drawingml/2006/main">
            <a:r>
              <a:t>- Local in-app browser capture: 19-prompt-sources.png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state shows the deeper Session addressing rule. It can match the event or Session that created the target. The fields work, but the checkbox layout needs another pass.</a:t>
            </a:r>
          </a:p>
          <a:p xmlns:a="http://schemas.openxmlformats.org/drawingml/2006/main">
            <a:r>
              <a:t/>
            </a:r>
          </a:p>
          <a:p xmlns:a="http://schemas.openxmlformats.org/drawingml/2006/main">
            <a:r>
              <a:t>[Sources]</a:t>
            </a:r>
          </a:p>
          <a:p xmlns:a="http://schemas.openxmlformats.org/drawingml/2006/main">
            <a:r>
              <a:t>- Local in-app browser capture: 18-recorded-source-target.png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missing instance flow is restored. The user chooses the Workflow, instance name, and worktree. Creating the instance saves it but does not send a request.</a:t>
            </a:r>
          </a:p>
          <a:p xmlns:a="http://schemas.openxmlformats.org/drawingml/2006/main">
            <a:r>
              <a:t/>
            </a:r>
          </a:p>
          <a:p xmlns:a="http://schemas.openxmlformats.org/drawingml/2006/main">
            <a:r>
              <a:t>[Sources]</a:t>
            </a:r>
          </a:p>
          <a:p xmlns:a="http://schemas.openxmlformats.org/drawingml/2006/main">
            <a:r>
              <a:t>- Local in-app browser capture: 09-create-instance.png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 saved instance shows its pinned recipe and worktree. Requests are sent to a selected node. The Session list records what belongs to the instance.</a:t>
            </a:r>
          </a:p>
          <a:p xmlns:a="http://schemas.openxmlformats.org/drawingml/2006/main">
            <a:r>
              <a:t/>
            </a:r>
          </a:p>
          <a:p xmlns:a="http://schemas.openxmlformats.org/drawingml/2006/main">
            <a:r>
              <a:t>[Sources]</a:t>
            </a:r>
          </a:p>
          <a:p xmlns:a="http://schemas.openxmlformats.org/drawingml/2006/main">
            <a:r>
              <a:t>- Local in-app browser capture: 10-saved-instance.png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Session can be opened without leaving the Workflow instance. This gives the instance a useful working view while preserving normal Agent Session controls.</a:t>
            </a:r>
          </a:p>
          <a:p xmlns:a="http://schemas.openxmlformats.org/drawingml/2006/main">
            <a:r>
              <a:t/>
            </a:r>
          </a:p>
          <a:p xmlns:a="http://schemas.openxmlformats.org/drawingml/2006/main">
            <a:r>
              <a:t>[Sources]</a:t>
            </a:r>
          </a:p>
          <a:p xmlns:a="http://schemas.openxmlformats.org/drawingml/2006/main">
            <a:r>
              <a:t>- Local in-app browser capture: 11-instance-session.png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can choose any model and reasoning level exposed by the attached runtime for the next direct message. The Session Profile remains pinned. The open panel still collides with the conversation layer at this width.</a:t>
            </a:r>
          </a:p>
          <a:p xmlns:a="http://schemas.openxmlformats.org/drawingml/2006/main">
            <a:r>
              <a:t/>
            </a:r>
          </a:p>
          <a:p xmlns:a="http://schemas.openxmlformats.org/drawingml/2006/main">
            <a:r>
              <a:t>[Sources]</a:t>
            </a:r>
          </a:p>
          <a:p xmlns:a="http://schemas.openxmlformats.org/drawingml/2006/main">
            <a:r>
              <a:t>- Local in-app browser capture: 07-session-settings.png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labels make the pinned values easy to trace. The structure is clear, but the conversation and composer layers cover part of the open configuration on this screen.</a:t>
            </a:r>
          </a:p>
          <a:p xmlns:a="http://schemas.openxmlformats.org/drawingml/2006/main">
            <a:r>
              <a:t/>
            </a:r>
          </a:p>
          <a:p xmlns:a="http://schemas.openxmlformats.org/drawingml/2006/main">
            <a:r>
              <a:t>[Sources]</a:t>
            </a:r>
          </a:p>
          <a:p xmlns:a="http://schemas.openxmlformats.org/drawingml/2006/main">
            <a:r>
              <a:t>- Local in-app browser capture: 13-session-runtime-and-deliveries.png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Expanding the delivery shows the stored delivery record. The information is useful, but raw identifiers need truncation, copy actions, or a wider detail view.</a:t>
            </a:r>
          </a:p>
          <a:p xmlns:a="http://schemas.openxmlformats.org/drawingml/2006/main">
            <a:r>
              <a:t/>
            </a:r>
          </a:p>
          <a:p xmlns:a="http://schemas.openxmlformats.org/drawingml/2006/main">
            <a:r>
              <a:t>[Sources]</a:t>
            </a:r>
          </a:p>
          <a:p xmlns:a="http://schemas.openxmlformats.org/drawingml/2006/main">
            <a:r>
              <a:t>- Local in-app browser capture: 14-delivery-details.png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requested identity controls are present in the Agent Session. The dialog changes display name, color, and shape for that Session.</a:t>
            </a:r>
          </a:p>
          <a:p xmlns:a="http://schemas.openxmlformats.org/drawingml/2006/main">
            <a:r>
              <a:t/>
            </a:r>
          </a:p>
          <a:p xmlns:a="http://schemas.openxmlformats.org/drawingml/2006/main">
            <a:r>
              <a:t>[Sources]</a:t>
            </a:r>
          </a:p>
          <a:p xmlns:a="http://schemas.openxmlformats.org/drawingml/2006/main">
            <a:r>
              <a:t>- Local in-app browser capture: 12-agent-identity.png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merge did not remove the old Harness Management screen. It now sits beside Capability Profiles, Workflow node profiles, and Session Profiles. That overlap should be resolved in a later retirement pass.</a:t>
            </a:r>
          </a:p>
          <a:p xmlns:a="http://schemas.openxmlformats.org/drawingml/2006/main">
            <a:r>
              <a:t/>
            </a:r>
          </a:p>
          <a:p xmlns:a="http://schemas.openxmlformats.org/drawingml/2006/main">
            <a:r>
              <a:t>[Sources]</a:t>
            </a:r>
          </a:p>
          <a:p xmlns:a="http://schemas.openxmlformats.org/drawingml/2006/main">
            <a:r>
              <a:t>- Local in-app browser capture: 16-legacy-harness-management.png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1c77f54c204d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8c912190a04bbf" /><Relationship Type="http://schemas.openxmlformats.org/officeDocument/2006/relationships/slideLayout" Target="/ppt/slideLayouts/slideLayout1.xml" Id="R9494ed0860d442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94ed0860d442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5d8cfd9ebe496f" /><Relationship Type="http://schemas.openxmlformats.org/officeDocument/2006/relationships/notesSlide" Target="/ppt/notesSlides/notesSlide1.xml" Id="R7c4aab45e9ae4b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1a0dd4d82f34324" /><Relationship Type="http://schemas.openxmlformats.org/officeDocument/2006/relationships/image" Target="/ppt/media/image.jpeg" Id="Ra73c2d37d5684254" /><Relationship Type="http://schemas.openxmlformats.org/officeDocument/2006/relationships/notesSlide" Target="/ppt/notesSlides/notesSlide2.xml" Id="R5c893ca8368243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98f50df3304781" /><Relationship Type="http://schemas.openxmlformats.org/officeDocument/2006/relationships/image" Target="/ppt/media/image2.jpeg" Id="R56ec1da39d8d4f11" /><Relationship Type="http://schemas.openxmlformats.org/officeDocument/2006/relationships/notesSlide" Target="/ppt/notesSlides/notesSlide3.xml" Id="Rc67d11d3f40a48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27ab685fa04f67" /><Relationship Type="http://schemas.openxmlformats.org/officeDocument/2006/relationships/image" Target="/ppt/media/image3.jpeg" Id="R7028e963d5024896" /><Relationship Type="http://schemas.openxmlformats.org/officeDocument/2006/relationships/notesSlide" Target="/ppt/notesSlides/notesSlide4.xml" Id="R6012dd2463c845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15dc3068c943a3" /><Relationship Type="http://schemas.openxmlformats.org/officeDocument/2006/relationships/image" Target="/ppt/media/image4.jpeg" Id="Rf9f06130a1c949dc" /><Relationship Type="http://schemas.openxmlformats.org/officeDocument/2006/relationships/notesSlide" Target="/ppt/notesSlides/notesSlide5.xml" Id="R1c2b2cfc7e2e4d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435e64475f4927" /><Relationship Type="http://schemas.openxmlformats.org/officeDocument/2006/relationships/image" Target="/ppt/media/image5.jpeg" Id="R76ef0df4a6a5421d" /><Relationship Type="http://schemas.openxmlformats.org/officeDocument/2006/relationships/notesSlide" Target="/ppt/notesSlides/notesSlide6.xml" Id="R0d87afec66da43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fb4ab854ad14725" /><Relationship Type="http://schemas.openxmlformats.org/officeDocument/2006/relationships/image" Target="/ppt/media/image6.jpeg" Id="R60d51df7c1e34695" /><Relationship Type="http://schemas.openxmlformats.org/officeDocument/2006/relationships/notesSlide" Target="/ppt/notesSlides/notesSlide7.xml" Id="R6096afd8634a46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a7ff2d90e34447a" /><Relationship Type="http://schemas.openxmlformats.org/officeDocument/2006/relationships/image" Target="/ppt/media/image7.jpeg" Id="R521db982292940d9" /><Relationship Type="http://schemas.openxmlformats.org/officeDocument/2006/relationships/notesSlide" Target="/ppt/notesSlides/notesSlide8.xml" Id="Rc2214c90c9c34d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d6b1ab80a0340df" /><Relationship Type="http://schemas.openxmlformats.org/officeDocument/2006/relationships/image" Target="/ppt/media/image8.jpeg" Id="R14168a26af5445b9" /><Relationship Type="http://schemas.openxmlformats.org/officeDocument/2006/relationships/notesSlide" Target="/ppt/notesSlides/notesSlide9.xml" Id="R887feb0f84ce43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c89b40b463048b5" /><Relationship Type="http://schemas.openxmlformats.org/officeDocument/2006/relationships/image" Target="/ppt/media/image9.jpeg" Id="Rbfb01ea9d2dc4039" /><Relationship Type="http://schemas.openxmlformats.org/officeDocument/2006/relationships/notesSlide" Target="/ppt/notesSlides/notesSlide10.xml" Id="R6aab1bf2f087499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89496a251ba4e5a" /><Relationship Type="http://schemas.openxmlformats.org/officeDocument/2006/relationships/image" Target="/ppt/media/image10.jpeg" Id="R94ce47b874ff4c40" /><Relationship Type="http://schemas.openxmlformats.org/officeDocument/2006/relationships/notesSlide" Target="/ppt/notesSlides/notesSlide11.xml" Id="Ra9a1d7524d1c47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6cbdd17aab6484d" /><Relationship Type="http://schemas.openxmlformats.org/officeDocument/2006/relationships/image" Target="/ppt/media/image11.jpeg" Id="R62f99186242c4fcd" /><Relationship Type="http://schemas.openxmlformats.org/officeDocument/2006/relationships/notesSlide" Target="/ppt/notesSlides/notesSlide12.xml" Id="R8a58005f24754a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acd16725176421d" /><Relationship Type="http://schemas.openxmlformats.org/officeDocument/2006/relationships/image" Target="/ppt/media/image12.jpeg" Id="R63fd83e7a3b94296" /><Relationship Type="http://schemas.openxmlformats.org/officeDocument/2006/relationships/notesSlide" Target="/ppt/notesSlides/notesSlide13.xml" Id="R46ff8debb3fa4a0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9992c328eb74d2e" /><Relationship Type="http://schemas.openxmlformats.org/officeDocument/2006/relationships/image" Target="/ppt/media/image13.jpeg" Id="Raa4c237674154ff8" /><Relationship Type="http://schemas.openxmlformats.org/officeDocument/2006/relationships/notesSlide" Target="/ppt/notesSlides/notesSlide14.xml" Id="Rfb32d5fc2a924aa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02bc7137beb498b" /><Relationship Type="http://schemas.openxmlformats.org/officeDocument/2006/relationships/image" Target="/ppt/media/image14.jpeg" Id="R881de121289a47ed" /><Relationship Type="http://schemas.openxmlformats.org/officeDocument/2006/relationships/notesSlide" Target="/ppt/notesSlides/notesSlide15.xml" Id="Rdb03ddc5584244d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5349ea73ac740ff" /><Relationship Type="http://schemas.openxmlformats.org/officeDocument/2006/relationships/image" Target="/ppt/media/image15.jpeg" Id="Rc11ac953ff064022" /><Relationship Type="http://schemas.openxmlformats.org/officeDocument/2006/relationships/notesSlide" Target="/ppt/notesSlides/notesSlide16.xml" Id="R9fc7470c0b7a47a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40f6ca8659143e0" /><Relationship Type="http://schemas.openxmlformats.org/officeDocument/2006/relationships/image" Target="/ppt/media/image16.jpeg" Id="Rd26f7ba8982b4bc6" /><Relationship Type="http://schemas.openxmlformats.org/officeDocument/2006/relationships/notesSlide" Target="/ppt/notesSlides/notesSlide17.xml" Id="R3fc276f502ec4d4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1733dc6f02d4606" /><Relationship Type="http://schemas.openxmlformats.org/officeDocument/2006/relationships/image" Target="/ppt/media/image17.jpeg" Id="R9e470b3a596c4b06" /><Relationship Type="http://schemas.openxmlformats.org/officeDocument/2006/relationships/notesSlide" Target="/ppt/notesSlides/notesSlide18.xml" Id="Rc3d1110d7896409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54dbc9c3e694336" /><Relationship Type="http://schemas.openxmlformats.org/officeDocument/2006/relationships/image" Target="/ppt/media/image18.jpeg" Id="R706d8cc027e34a7a" /><Relationship Type="http://schemas.openxmlformats.org/officeDocument/2006/relationships/notesSlide" Target="/ppt/notesSlides/notesSlide19.xml" Id="R95836ff5433a4b9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6a546ddf7c34696" /><Relationship Type="http://schemas.openxmlformats.org/officeDocument/2006/relationships/image" Target="/ppt/media/image19.jpeg" Id="R7a8f6f0c78504438" /><Relationship Type="http://schemas.openxmlformats.org/officeDocument/2006/relationships/notesSlide" Target="/ppt/notesSlides/notesSlide20.xml" Id="R4887ad5a0235400b" /></Relationships>
</file>

<file path=ppt/slides/slide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cover-kicker">
            <a:extLst xmlns:a="http://schemas.openxmlformats.org/drawingml/2006/main">
              <a:ext uri="{FF2B5EF4-FFF2-40B4-BE49-F238E27FC236}">
                <a16:creationId xmlns:a16="http://schemas.microsoft.com/office/drawing/2014/main" id="{C617BC9C-E01D-4A2D-AAD5-9AD19A51A211}"/>
              </a:ext>
            </a:extLst>
          </p:cNvPr>
          <p:cNvSpPr>
            <a:spLocks xmlns:a="http://schemas.openxmlformats.org/drawingml/2006/main" noGrp="1"/>
          </p:cNvSpPr>
          <p:nvPr/>
        </p:nvSpPr>
        <p:spPr>
          <a:xfrm xmlns:a="http://schemas.openxmlformats.org/drawingml/2006/main">
            <a:off x="514350" y="4572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2D5D48"/>
                </a:solidFill>
                <a:latin typeface="Arial"/>
                <a:ea typeface="Arial"/>
                <a:cs typeface="Arial"/>
              </a:defRPr>
            </a:pPr>
            <a:r>
              <a:rPr sz="900" b="1">
                <a:solidFill>
                  <a:srgbClr val="2D5D48"/>
                </a:solidFill>
                <a:latin typeface="Arial"/>
                <a:ea typeface="Arial"/>
                <a:cs typeface="Arial"/>
              </a:rPr>
              <a:t>CODEX ORCHESTRATOR</a:t>
            </a:r>
          </a:p>
        </p:txBody>
      </p:sp>
      <p:sp>
        <p:nvSpPr>
          <p:cNvPr id="2" name="cover-title">
            <a:extLst xmlns:a="http://schemas.openxmlformats.org/drawingml/2006/main">
              <a:ext uri="{FF2B5EF4-FFF2-40B4-BE49-F238E27FC236}">
                <a16:creationId xmlns:a16="http://schemas.microsoft.com/office/drawing/2014/main" id="{4B399D21-33CA-49C0-A660-654783E346C1}"/>
              </a:ext>
            </a:extLst>
          </p:cNvPr>
          <p:cNvSpPr>
            <a:spLocks xmlns:a="http://schemas.openxmlformats.org/drawingml/2006/main" noGrp="1"/>
          </p:cNvSpPr>
          <p:nvPr/>
        </p:nvSpPr>
        <p:spPr>
          <a:xfrm xmlns:a="http://schemas.openxmlformats.org/drawingml/2006/main">
            <a:off x="514350" y="1809750"/>
            <a:ext cx="7810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3900" b="1">
                <a:solidFill>
                  <a:srgbClr val="122019"/>
                </a:solidFill>
                <a:latin typeface="Arial"/>
                <a:ea typeface="Arial"/>
                <a:cs typeface="Arial"/>
              </a:defRPr>
            </a:pPr>
            <a:r>
              <a:rPr sz="3900" b="1">
                <a:solidFill>
                  <a:srgbClr val="122019"/>
                </a:solidFill>
                <a:latin typeface="Arial"/>
                <a:ea typeface="Arial"/>
                <a:cs typeface="Arial"/>
              </a:rPr>
              <a:t>Merged Harness UI demo</a:t>
            </a:r>
          </a:p>
        </p:txBody>
      </p:sp>
      <p:sp>
        <p:nvSpPr>
          <p:cNvPr id="3" name="cover-subtitle">
            <a:extLst xmlns:a="http://schemas.openxmlformats.org/drawingml/2006/main">
              <a:ext uri="{FF2B5EF4-FFF2-40B4-BE49-F238E27FC236}">
                <a16:creationId xmlns:a16="http://schemas.microsoft.com/office/drawing/2014/main" id="{7E595527-37E9-40C3-BFB8-5E11F73423CC}"/>
              </a:ext>
            </a:extLst>
          </p:cNvPr>
          <p:cNvSpPr>
            <a:spLocks xmlns:a="http://schemas.openxmlformats.org/drawingml/2006/main" noGrp="1"/>
          </p:cNvSpPr>
          <p:nvPr/>
        </p:nvSpPr>
        <p:spPr>
          <a:xfrm xmlns:a="http://schemas.openxmlformats.org/drawingml/2006/main">
            <a:off x="552450" y="27813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875">
                <a:solidFill>
                  <a:srgbClr val="657069"/>
                </a:solidFill>
                <a:latin typeface="Arial"/>
                <a:ea typeface="Arial"/>
                <a:cs typeface="Arial"/>
              </a:defRPr>
            </a:pPr>
            <a:r>
              <a:rPr sz="1875">
                <a:solidFill>
                  <a:srgbClr val="657069"/>
                </a:solidFill>
                <a:latin typeface="Arial"/>
                <a:ea typeface="Arial"/>
                <a:cs typeface="Arial"/>
              </a:rPr>
              <a:t>A screen-by-screen review of the current branch</a:t>
            </a:r>
          </a:p>
        </p:txBody>
      </p:sp>
      <p:sp>
        <p:nvSpPr>
          <p:cNvPr id="4" name="cover-summary">
            <a:extLst xmlns:a="http://schemas.openxmlformats.org/drawingml/2006/main">
              <a:ext uri="{FF2B5EF4-FFF2-40B4-BE49-F238E27FC236}">
                <a16:creationId xmlns:a16="http://schemas.microsoft.com/office/drawing/2014/main" id="{16246756-4C97-4EDB-A39B-22E1127A7A28}"/>
              </a:ext>
            </a:extLst>
          </p:cNvPr>
          <p:cNvSpPr>
            <a:spLocks xmlns:a="http://schemas.openxmlformats.org/drawingml/2006/main" noGrp="1"/>
          </p:cNvSpPr>
          <p:nvPr/>
        </p:nvSpPr>
        <p:spPr>
          <a:xfrm xmlns:a="http://schemas.openxmlformats.org/drawingml/2006/main">
            <a:off x="514350" y="3886200"/>
            <a:ext cx="7029450" cy="1257300"/>
          </a:xfrm>
          <a:prstGeom xmlns:a="http://schemas.openxmlformats.org/drawingml/2006/main" prst="roundRect">
            <a:avLst>
              <a:gd name="adj" fmla="val 9091"/>
            </a:avLst>
          </a:prstGeom>
          <a:solidFill xmlns:a="http://schemas.openxmlformats.org/drawingml/2006/main">
            <a:srgbClr val="EAF1EA"/>
          </a:solidFill>
          <a:ln xmlns:a="http://schemas.openxmlformats.org/drawingml/2006/main" w="9525">
            <a:solidFill>
              <a:srgbClr val="EAF1EA"/>
            </a:solidFill>
          </a:ln>
        </p:spPr>
      </p:sp>
      <p:sp>
        <p:nvSpPr>
          <p:cNvPr id="5" name="cover-summary-text">
            <a:extLst xmlns:a="http://schemas.openxmlformats.org/drawingml/2006/main">
              <a:ext uri="{FF2B5EF4-FFF2-40B4-BE49-F238E27FC236}">
                <a16:creationId xmlns:a16="http://schemas.microsoft.com/office/drawing/2014/main" id="{610E9DEC-B8F2-466C-B2E2-FAEF507E750C}"/>
              </a:ext>
            </a:extLst>
          </p:cNvPr>
          <p:cNvSpPr>
            <a:spLocks xmlns:a="http://schemas.openxmlformats.org/drawingml/2006/main" noGrp="1"/>
          </p:cNvSpPr>
          <p:nvPr/>
        </p:nvSpPr>
        <p:spPr>
          <a:xfrm xmlns:a="http://schemas.openxmlformats.org/drawingml/2006/main">
            <a:off x="781050" y="4171950"/>
            <a:ext cx="6496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650" b="1">
                <a:solidFill>
                  <a:srgbClr val="122019"/>
                </a:solidFill>
                <a:latin typeface="Arial"/>
                <a:ea typeface="Arial"/>
                <a:cs typeface="Arial"/>
              </a:defRPr>
            </a:pPr>
            <a:r>
              <a:rPr sz="1650" b="1">
                <a:solidFill>
                  <a:srgbClr val="122019"/>
                </a:solidFill>
                <a:latin typeface="Arial"/>
                <a:ea typeface="Arial"/>
                <a:cs typeface="Arial"/>
              </a:rPr>
              <a:t>The Workflow canvas and instance flow are restored.</a:t>
            </a:r>
          </a:p>
          <a:p xmlns:a="http://schemas.openxmlformats.org/drawingml/2006/main">
            <a:pPr>
              <a:defRPr sz="1650" b="1">
                <a:solidFill>
                  <a:srgbClr val="122019"/>
                </a:solidFill>
                <a:latin typeface="Arial"/>
                <a:ea typeface="Arial"/>
                <a:cs typeface="Arial"/>
              </a:defRPr>
            </a:pPr>
            <a:r>
              <a:rPr sz="1650" b="1">
                <a:solidFill>
                  <a:srgbClr val="122019"/>
                </a:solidFill>
                <a:latin typeface="Arial"/>
                <a:ea typeface="Arial"/>
                <a:cs typeface="Arial"/>
              </a:rPr>
              <a:t>This deck also marks the layout issues still visible in the merged UI.</a:t>
            </a:r>
          </a:p>
        </p:txBody>
      </p:sp>
      <p:sp>
        <p:nvSpPr>
          <p:cNvPr id="6" name="cover-meta">
            <a:extLst xmlns:a="http://schemas.openxmlformats.org/drawingml/2006/main">
              <a:ext uri="{FF2B5EF4-FFF2-40B4-BE49-F238E27FC236}">
                <a16:creationId xmlns:a16="http://schemas.microsoft.com/office/drawing/2014/main" id="{F76D0344-BF31-40FD-8FCC-9E17BF4ECA5C}"/>
              </a:ext>
            </a:extLst>
          </p:cNvPr>
          <p:cNvSpPr>
            <a:spLocks xmlns:a="http://schemas.openxmlformats.org/drawingml/2006/main" noGrp="1"/>
          </p:cNvSpPr>
          <p:nvPr/>
        </p:nvSpPr>
        <p:spPr>
          <a:xfrm xmlns:a="http://schemas.openxmlformats.org/drawingml/2006/main">
            <a:off x="533400" y="61531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a:solidFill>
                  <a:srgbClr val="657069"/>
                </a:solidFill>
                <a:latin typeface="Arial"/>
                <a:ea typeface="Arial"/>
                <a:cs typeface="Arial"/>
              </a:defRPr>
            </a:pPr>
            <a:r>
              <a:rPr sz="1050">
                <a:solidFill>
                  <a:srgbClr val="657069"/>
                </a:solidFill>
                <a:latin typeface="Arial"/>
                <a:ea typeface="Arial"/>
                <a:cs typeface="Arial"/>
              </a:rPr>
              <a:t>20 slides  ·  branch 2e378bc  ·  local fake clients  ·  no provider call</a:t>
            </a:r>
          </a:p>
        </p:txBody>
      </p:sp>
    </p:spTree>
    <p:extLst>
      <p:ext uri="{BB962C8B-B14F-4D97-AF65-F5344CB8AC3E}">
        <p14:creationId xmlns:p14="http://schemas.microsoft.com/office/powerpoint/2010/main" val="1858230333"/>
      </p:ext>
    </p:extLst>
  </p:cSld>
</p:sld>
</file>

<file path=ppt/slides/slide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2">
            <a:extLst xmlns:a="http://schemas.openxmlformats.org/drawingml/2006/main">
              <a:ext uri="{FF2B5EF4-FFF2-40B4-BE49-F238E27FC236}">
                <a16:creationId xmlns:a16="http://schemas.microsoft.com/office/drawing/2014/main" id="{260B01AA-BFD2-4EE7-942E-A3F9D5AD88FE}"/>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CAPABILITY PROFILES</a:t>
            </a:r>
          </a:p>
        </p:txBody>
      </p:sp>
      <p:sp>
        <p:nvSpPr>
          <p:cNvPr id="2" name="title-2">
            <a:extLst xmlns:a="http://schemas.openxmlformats.org/drawingml/2006/main">
              <a:ext uri="{FF2B5EF4-FFF2-40B4-BE49-F238E27FC236}">
                <a16:creationId xmlns:a16="http://schemas.microsoft.com/office/drawing/2014/main" id="{3857B810-6CDB-43CE-BF03-50EF2309F36E}"/>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Capability Profile list and details</a:t>
            </a:r>
          </a:p>
        </p:txBody>
      </p:sp>
      <p:sp>
        <p:nvSpPr>
          <p:cNvPr id="3" name="number-2">
            <a:extLst xmlns:a="http://schemas.openxmlformats.org/drawingml/2006/main">
              <a:ext uri="{FF2B5EF4-FFF2-40B4-BE49-F238E27FC236}">
                <a16:creationId xmlns:a16="http://schemas.microsoft.com/office/drawing/2014/main" id="{E51EE2FC-0B30-4B8C-BF23-8EAF1DC38714}"/>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02</a:t>
            </a:r>
          </a:p>
        </p:txBody>
      </p:sp>
      <p:sp>
        <p:nvSpPr>
          <p:cNvPr id="4" name="callout-number-0-132">
            <a:extLst xmlns:a="http://schemas.openxmlformats.org/drawingml/2006/main">
              <a:ext uri="{FF2B5EF4-FFF2-40B4-BE49-F238E27FC236}">
                <a16:creationId xmlns:a16="http://schemas.microsoft.com/office/drawing/2014/main" id="{9296A026-D63D-475D-B45C-E23F10C3BD51}"/>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BE67230F-87C4-47FA-ADB2-EB9DE2C8D341}"/>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Saved profiles</a:t>
            </a:r>
          </a:p>
        </p:txBody>
      </p:sp>
      <p:sp>
        <p:nvSpPr>
          <p:cNvPr id="6" name="callout-body-0-132">
            <a:extLst xmlns:a="http://schemas.openxmlformats.org/drawingml/2006/main">
              <a:ext uri="{FF2B5EF4-FFF2-40B4-BE49-F238E27FC236}">
                <a16:creationId xmlns:a16="http://schemas.microsoft.com/office/drawing/2014/main" id="{DE477339-0053-4C8D-AA62-7A868B30540B}"/>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left side lists each profile and its revision.</a:t>
            </a:r>
          </a:p>
        </p:txBody>
      </p:sp>
      <p:sp>
        <p:nvSpPr>
          <p:cNvPr id="7" name="callout-number-1-248">
            <a:extLst xmlns:a="http://schemas.openxmlformats.org/drawingml/2006/main">
              <a:ext uri="{FF2B5EF4-FFF2-40B4-BE49-F238E27FC236}">
                <a16:creationId xmlns:a16="http://schemas.microsoft.com/office/drawing/2014/main" id="{F700DCC9-FA66-4788-9BC8-65148481F8B9}"/>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54DFA117-C30C-48B6-90F2-567AB8D055A2}"/>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Stable ID</a:t>
            </a:r>
          </a:p>
        </p:txBody>
      </p:sp>
      <p:sp>
        <p:nvSpPr>
          <p:cNvPr id="9" name="callout-body-1-248">
            <a:extLst xmlns:a="http://schemas.openxmlformats.org/drawingml/2006/main">
              <a:ext uri="{FF2B5EF4-FFF2-40B4-BE49-F238E27FC236}">
                <a16:creationId xmlns:a16="http://schemas.microsoft.com/office/drawing/2014/main" id="{1ADC898B-C7AF-43B2-9D80-7F728ED5AAFA}"/>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profile name can change. The profile ID stays fixed.</a:t>
            </a:r>
          </a:p>
        </p:txBody>
      </p:sp>
      <p:sp>
        <p:nvSpPr>
          <p:cNvPr id="10" name="callout-number-2-364">
            <a:extLst xmlns:a="http://schemas.openxmlformats.org/drawingml/2006/main">
              <a:ext uri="{FF2B5EF4-FFF2-40B4-BE49-F238E27FC236}">
                <a16:creationId xmlns:a16="http://schemas.microsoft.com/office/drawing/2014/main" id="{D0452C06-A7C8-4EA6-B97A-F09614708FE4}"/>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418DA8E4-8D9B-42CA-A49E-9B04916F85E2}"/>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Read-only runtime</a:t>
            </a:r>
          </a:p>
        </p:txBody>
      </p:sp>
      <p:sp>
        <p:nvSpPr>
          <p:cNvPr id="12" name="callout-body-2-364">
            <a:extLst xmlns:a="http://schemas.openxmlformats.org/drawingml/2006/main">
              <a:ext uri="{FF2B5EF4-FFF2-40B4-BE49-F238E27FC236}">
                <a16:creationId xmlns:a16="http://schemas.microsoft.com/office/drawing/2014/main" id="{C7DDF871-056D-4610-8510-2EF22C9835DA}"/>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selected native runtime is shown as inherited.</a:t>
            </a:r>
          </a:p>
        </p:txBody>
      </p:sp>
      <p:sp>
        <p:nvSpPr>
          <p:cNvPr id="13" name="frame-01-capability-profile.png">
            <a:extLst xmlns:a="http://schemas.openxmlformats.org/drawingml/2006/main">
              <a:ext uri="{FF2B5EF4-FFF2-40B4-BE49-F238E27FC236}">
                <a16:creationId xmlns:a16="http://schemas.microsoft.com/office/drawing/2014/main" id="{1EBA00D6-2321-4516-9AB5-C0993FD246D2}"/>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a73c2d37d5684254"/>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01-capability-profile.png">
            <a:extLst xmlns:a="http://schemas.openxmlformats.org/drawingml/2006/main">
              <a:ext uri="{FF2B5EF4-FFF2-40B4-BE49-F238E27FC236}">
                <a16:creationId xmlns:a16="http://schemas.microsoft.com/office/drawing/2014/main" id="{39535149-0755-4D0C-B000-C62013A1C4F4}"/>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01-capability-profile.png">
            <a:extLst xmlns:a="http://schemas.openxmlformats.org/drawingml/2006/main">
              <a:ext uri="{FF2B5EF4-FFF2-40B4-BE49-F238E27FC236}">
                <a16:creationId xmlns:a16="http://schemas.microsoft.com/office/drawing/2014/main" id="{1DEAF40F-E3EC-416B-86D4-80926DCD047A}"/>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2075273762"/>
      </p:ext>
    </p:extLst>
  </p:cSld>
</p:sld>
</file>

<file path=ppt/slides/slide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3">
            <a:extLst xmlns:a="http://schemas.openxmlformats.org/drawingml/2006/main">
              <a:ext uri="{FF2B5EF4-FFF2-40B4-BE49-F238E27FC236}">
                <a16:creationId xmlns:a16="http://schemas.microsoft.com/office/drawing/2014/main" id="{6E9CFA1F-E64E-4F00-9B38-BB8B9539558F}"/>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CAPABILITY PROFILES</a:t>
            </a:r>
          </a:p>
        </p:txBody>
      </p:sp>
      <p:sp>
        <p:nvSpPr>
          <p:cNvPr id="2" name="title-3">
            <a:extLst xmlns:a="http://schemas.openxmlformats.org/drawingml/2006/main">
              <a:ext uri="{FF2B5EF4-FFF2-40B4-BE49-F238E27FC236}">
                <a16:creationId xmlns:a16="http://schemas.microsoft.com/office/drawing/2014/main" id="{5A295BD6-6E76-4079-8431-235976C26003}"/>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Allowed capabilities</a:t>
            </a:r>
          </a:p>
        </p:txBody>
      </p:sp>
      <p:sp>
        <p:nvSpPr>
          <p:cNvPr id="3" name="number-3">
            <a:extLst xmlns:a="http://schemas.openxmlformats.org/drawingml/2006/main">
              <a:ext uri="{FF2B5EF4-FFF2-40B4-BE49-F238E27FC236}">
                <a16:creationId xmlns:a16="http://schemas.microsoft.com/office/drawing/2014/main" id="{92EE3805-F630-47B1-9AA4-87A88034EC2A}"/>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03</a:t>
            </a:r>
          </a:p>
        </p:txBody>
      </p:sp>
      <p:sp>
        <p:nvSpPr>
          <p:cNvPr id="4" name="callout-number-0-132">
            <a:extLst xmlns:a="http://schemas.openxmlformats.org/drawingml/2006/main">
              <a:ext uri="{FF2B5EF4-FFF2-40B4-BE49-F238E27FC236}">
                <a16:creationId xmlns:a16="http://schemas.microsoft.com/office/drawing/2014/main" id="{549BDFC4-08BE-40B7-A4ED-A10F459FD5B1}"/>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F897789A-311C-4471-98F5-4FF35995516F}"/>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Models and reasoning</a:t>
            </a:r>
          </a:p>
        </p:txBody>
      </p:sp>
      <p:sp>
        <p:nvSpPr>
          <p:cNvPr id="6" name="callout-body-0-132">
            <a:extLst xmlns:a="http://schemas.openxmlformats.org/drawingml/2006/main">
              <a:ext uri="{FF2B5EF4-FFF2-40B4-BE49-F238E27FC236}">
                <a16:creationId xmlns:a16="http://schemas.microsoft.com/office/drawing/2014/main" id="{71A2F62E-01CC-4F38-8702-2FA38947FA19}"/>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Tick the choices that nodes may use.</a:t>
            </a:r>
          </a:p>
        </p:txBody>
      </p:sp>
      <p:sp>
        <p:nvSpPr>
          <p:cNvPr id="7" name="callout-number-1-248">
            <a:extLst xmlns:a="http://schemas.openxmlformats.org/drawingml/2006/main">
              <a:ext uri="{FF2B5EF4-FFF2-40B4-BE49-F238E27FC236}">
                <a16:creationId xmlns:a16="http://schemas.microsoft.com/office/drawing/2014/main" id="{FC56AC0A-69FA-4E73-A4D9-53D056485AF0}"/>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904385E5-2505-4C6F-B98E-1088AF043290}"/>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Inherited items</a:t>
            </a:r>
          </a:p>
        </p:txBody>
      </p:sp>
      <p:sp>
        <p:nvSpPr>
          <p:cNvPr id="9" name="callout-body-1-248">
            <a:extLst xmlns:a="http://schemas.openxmlformats.org/drawingml/2006/main">
              <a:ext uri="{FF2B5EF4-FFF2-40B4-BE49-F238E27FC236}">
                <a16:creationId xmlns:a16="http://schemas.microsoft.com/office/drawing/2014/main" id="{71684CE5-0FCD-456E-9613-9F7621DB9E7E}"/>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MCP tools and skills stay locked in this build.</a:t>
            </a:r>
          </a:p>
        </p:txBody>
      </p:sp>
      <p:sp>
        <p:nvSpPr>
          <p:cNvPr id="10" name="callout-number-2-364">
            <a:extLst xmlns:a="http://schemas.openxmlformats.org/drawingml/2006/main">
              <a:ext uri="{FF2B5EF4-FFF2-40B4-BE49-F238E27FC236}">
                <a16:creationId xmlns:a16="http://schemas.microsoft.com/office/drawing/2014/main" id="{0D14F21F-2818-4C62-B3E8-78368774B57D}"/>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BAE3732D-1C55-4028-AF56-FA66DDFF0C74}"/>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Save or delete</a:t>
            </a:r>
          </a:p>
        </p:txBody>
      </p:sp>
      <p:sp>
        <p:nvSpPr>
          <p:cNvPr id="12" name="callout-body-2-364">
            <a:extLst xmlns:a="http://schemas.openxmlformats.org/drawingml/2006/main">
              <a:ext uri="{FF2B5EF4-FFF2-40B4-BE49-F238E27FC236}">
                <a16:creationId xmlns:a16="http://schemas.microsoft.com/office/drawing/2014/main" id="{83357BB9-5939-4DCB-A6AA-5BF42723D29C}"/>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Both actions sit at the end of the profile form.</a:t>
            </a:r>
          </a:p>
        </p:txBody>
      </p:sp>
      <p:sp>
        <p:nvSpPr>
          <p:cNvPr id="13" name="frame-02-allowed-capabilities.png">
            <a:extLst xmlns:a="http://schemas.openxmlformats.org/drawingml/2006/main">
              <a:ext uri="{FF2B5EF4-FFF2-40B4-BE49-F238E27FC236}">
                <a16:creationId xmlns:a16="http://schemas.microsoft.com/office/drawing/2014/main" id="{75FA1F92-1A15-4094-A2A6-29AD3A629633}"/>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6ec1da39d8d4f11"/>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02-allowed-capabilities.png">
            <a:extLst xmlns:a="http://schemas.openxmlformats.org/drawingml/2006/main">
              <a:ext uri="{FF2B5EF4-FFF2-40B4-BE49-F238E27FC236}">
                <a16:creationId xmlns:a16="http://schemas.microsoft.com/office/drawing/2014/main" id="{608FB6C9-2948-4DF3-A177-0D59581B4A2F}"/>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02-allowed-capabilities.png">
            <a:extLst xmlns:a="http://schemas.openxmlformats.org/drawingml/2006/main">
              <a:ext uri="{FF2B5EF4-FFF2-40B4-BE49-F238E27FC236}">
                <a16:creationId xmlns:a16="http://schemas.microsoft.com/office/drawing/2014/main" id="{472A8C77-6F48-489B-B832-9B0219CE9E6E}"/>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438117406"/>
      </p:ext>
    </p:extLst>
  </p:cSld>
</p:sld>
</file>

<file path=ppt/slides/slide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4">
            <a:extLst xmlns:a="http://schemas.openxmlformats.org/drawingml/2006/main">
              <a:ext uri="{FF2B5EF4-FFF2-40B4-BE49-F238E27FC236}">
                <a16:creationId xmlns:a16="http://schemas.microsoft.com/office/drawing/2014/main" id="{21CC3CB2-BFDE-4E76-9137-316385177161}"/>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a:t>
            </a:r>
          </a:p>
        </p:txBody>
      </p:sp>
      <p:sp>
        <p:nvSpPr>
          <p:cNvPr id="2" name="title-4">
            <a:extLst xmlns:a="http://schemas.openxmlformats.org/drawingml/2006/main">
              <a:ext uri="{FF2B5EF4-FFF2-40B4-BE49-F238E27FC236}">
                <a16:creationId xmlns:a16="http://schemas.microsoft.com/office/drawing/2014/main" id="{1DB2E537-82C5-4B9D-874B-2262E4A4DA1D}"/>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Workflow canvas</a:t>
            </a:r>
          </a:p>
        </p:txBody>
      </p:sp>
      <p:sp>
        <p:nvSpPr>
          <p:cNvPr id="3" name="number-4">
            <a:extLst xmlns:a="http://schemas.openxmlformats.org/drawingml/2006/main">
              <a:ext uri="{FF2B5EF4-FFF2-40B4-BE49-F238E27FC236}">
                <a16:creationId xmlns:a16="http://schemas.microsoft.com/office/drawing/2014/main" id="{A1B7B26C-8EA8-4C1E-B562-BE8A160AD441}"/>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04</a:t>
            </a:r>
          </a:p>
        </p:txBody>
      </p:sp>
      <p:sp>
        <p:nvSpPr>
          <p:cNvPr id="4" name="callout-number-0-132">
            <a:extLst xmlns:a="http://schemas.openxmlformats.org/drawingml/2006/main">
              <a:ext uri="{FF2B5EF4-FFF2-40B4-BE49-F238E27FC236}">
                <a16:creationId xmlns:a16="http://schemas.microsoft.com/office/drawing/2014/main" id="{AB7CF805-B172-480D-B653-5AD0A92BEB0B}"/>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B133528C-3442-4899-A94E-8D4FF7AE54B4}"/>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The canvas is back</a:t>
            </a:r>
          </a:p>
        </p:txBody>
      </p:sp>
      <p:sp>
        <p:nvSpPr>
          <p:cNvPr id="6" name="callout-body-0-132">
            <a:extLst xmlns:a="http://schemas.openxmlformats.org/drawingml/2006/main">
              <a:ext uri="{FF2B5EF4-FFF2-40B4-BE49-F238E27FC236}">
                <a16:creationId xmlns:a16="http://schemas.microsoft.com/office/drawing/2014/main" id="{FBD8C8B9-6349-42F5-80A6-331A1045C326}"/>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Nodes and connections are shown as a flow again.</a:t>
            </a:r>
          </a:p>
        </p:txBody>
      </p:sp>
      <p:sp>
        <p:nvSpPr>
          <p:cNvPr id="7" name="callout-number-1-248">
            <a:extLst xmlns:a="http://schemas.openxmlformats.org/drawingml/2006/main">
              <a:ext uri="{FF2B5EF4-FFF2-40B4-BE49-F238E27FC236}">
                <a16:creationId xmlns:a16="http://schemas.microsoft.com/office/drawing/2014/main" id="{DEF23733-7F63-4EFF-AB45-6D95E099F3A8}"/>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683B1505-C69C-4B49-87B8-B8070E5FB584}"/>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Edit tools</a:t>
            </a:r>
          </a:p>
        </p:txBody>
      </p:sp>
      <p:sp>
        <p:nvSpPr>
          <p:cNvPr id="9" name="callout-body-1-248">
            <a:extLst xmlns:a="http://schemas.openxmlformats.org/drawingml/2006/main">
              <a:ext uri="{FF2B5EF4-FFF2-40B4-BE49-F238E27FC236}">
                <a16:creationId xmlns:a16="http://schemas.microsoft.com/office/drawing/2014/main" id="{67093A6D-EC6F-402D-8A9D-97E3BC67347F}"/>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Add, connect, copy, delete, drag, undo, and redo live above the canvas.</a:t>
            </a:r>
          </a:p>
        </p:txBody>
      </p:sp>
      <p:sp>
        <p:nvSpPr>
          <p:cNvPr id="10" name="callout-number-2-364">
            <a:extLst xmlns:a="http://schemas.openxmlformats.org/drawingml/2006/main">
              <a:ext uri="{FF2B5EF4-FFF2-40B4-BE49-F238E27FC236}">
                <a16:creationId xmlns:a16="http://schemas.microsoft.com/office/drawing/2014/main" id="{F89A03B4-71D3-4577-AF1A-F1E8F4B07A3C}"/>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BDD0358F-6527-470D-B5FF-1F3CBBBE417C}"/>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Instances stay visible</a:t>
            </a:r>
          </a:p>
        </p:txBody>
      </p:sp>
      <p:sp>
        <p:nvSpPr>
          <p:cNvPr id="12" name="callout-body-2-364">
            <a:extLst xmlns:a="http://schemas.openxmlformats.org/drawingml/2006/main">
              <a:ext uri="{FF2B5EF4-FFF2-40B4-BE49-F238E27FC236}">
                <a16:creationId xmlns:a16="http://schemas.microsoft.com/office/drawing/2014/main" id="{8E7BEC9D-85EB-4598-B6CE-5F2233179CD0}"/>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Saved Workflow instances sit below the recipe list.</a:t>
            </a:r>
          </a:p>
        </p:txBody>
      </p:sp>
      <p:sp>
        <p:nvSpPr>
          <p:cNvPr id="13" name="frame-03-workflow-canvas.png">
            <a:extLst xmlns:a="http://schemas.openxmlformats.org/drawingml/2006/main">
              <a:ext uri="{FF2B5EF4-FFF2-40B4-BE49-F238E27FC236}">
                <a16:creationId xmlns:a16="http://schemas.microsoft.com/office/drawing/2014/main" id="{301D2D1B-15BE-47E4-848E-46E2DBCBB73A}"/>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028e963d5024896"/>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03-workflow-canvas.png">
            <a:extLst xmlns:a="http://schemas.openxmlformats.org/drawingml/2006/main">
              <a:ext uri="{FF2B5EF4-FFF2-40B4-BE49-F238E27FC236}">
                <a16:creationId xmlns:a16="http://schemas.microsoft.com/office/drawing/2014/main" id="{397640B7-F404-47F1-8022-25A6E50F502D}"/>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03-workflow-canvas.png">
            <a:extLst xmlns:a="http://schemas.openxmlformats.org/drawingml/2006/main">
              <a:ext uri="{FF2B5EF4-FFF2-40B4-BE49-F238E27FC236}">
                <a16:creationId xmlns:a16="http://schemas.microsoft.com/office/drawing/2014/main" id="{497BDAE3-4BA1-4DCE-862E-691FC56A42A7}"/>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719166870"/>
      </p:ext>
    </p:extLst>
  </p:cSld>
</p:sld>
</file>

<file path=ppt/slides/slide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5">
            <a:extLst xmlns:a="http://schemas.openxmlformats.org/drawingml/2006/main">
              <a:ext uri="{FF2B5EF4-FFF2-40B4-BE49-F238E27FC236}">
                <a16:creationId xmlns:a16="http://schemas.microsoft.com/office/drawing/2014/main" id="{45CE2125-0316-40BA-8697-580FB37E88AF}"/>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NODE</a:t>
            </a:r>
          </a:p>
        </p:txBody>
      </p:sp>
      <p:sp>
        <p:nvSpPr>
          <p:cNvPr id="2" name="title-5">
            <a:extLst xmlns:a="http://schemas.openxmlformats.org/drawingml/2006/main">
              <a:ext uri="{FF2B5EF4-FFF2-40B4-BE49-F238E27FC236}">
                <a16:creationId xmlns:a16="http://schemas.microsoft.com/office/drawing/2014/main" id="{8DE598FA-36B4-478D-9EBA-11B4850B7A65}"/>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Node profile editor</a:t>
            </a:r>
          </a:p>
        </p:txBody>
      </p:sp>
      <p:sp>
        <p:nvSpPr>
          <p:cNvPr id="3" name="number-5">
            <a:extLst xmlns:a="http://schemas.openxmlformats.org/drawingml/2006/main">
              <a:ext uri="{FF2B5EF4-FFF2-40B4-BE49-F238E27FC236}">
                <a16:creationId xmlns:a16="http://schemas.microsoft.com/office/drawing/2014/main" id="{DE2D6E72-9ECB-4063-973E-88EDBD8B80AC}"/>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05</a:t>
            </a:r>
          </a:p>
        </p:txBody>
      </p:sp>
      <p:sp>
        <p:nvSpPr>
          <p:cNvPr id="4" name="callout-number-0-132">
            <a:extLst xmlns:a="http://schemas.openxmlformats.org/drawingml/2006/main">
              <a:ext uri="{FF2B5EF4-FFF2-40B4-BE49-F238E27FC236}">
                <a16:creationId xmlns:a16="http://schemas.microsoft.com/office/drawing/2014/main" id="{F44956F9-13B1-4B37-8F8F-ADE0ABA0EDF7}"/>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017C08AA-B242-4F54-857E-13E88A309789}"/>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Editor beside the flow</a:t>
            </a:r>
          </a:p>
        </p:txBody>
      </p:sp>
      <p:sp>
        <p:nvSpPr>
          <p:cNvPr id="6" name="callout-body-0-132">
            <a:extLst xmlns:a="http://schemas.openxmlformats.org/drawingml/2006/main">
              <a:ext uri="{FF2B5EF4-FFF2-40B4-BE49-F238E27FC236}">
                <a16:creationId xmlns:a16="http://schemas.microsoft.com/office/drawing/2014/main" id="{63A3C5C0-AD65-45DB-BB9E-718BFCCC5DCC}"/>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Selecting a node opens its form on the right.</a:t>
            </a:r>
          </a:p>
        </p:txBody>
      </p:sp>
      <p:sp>
        <p:nvSpPr>
          <p:cNvPr id="7" name="callout-number-1-248">
            <a:extLst xmlns:a="http://schemas.openxmlformats.org/drawingml/2006/main">
              <a:ext uri="{FF2B5EF4-FFF2-40B4-BE49-F238E27FC236}">
                <a16:creationId xmlns:a16="http://schemas.microsoft.com/office/drawing/2014/main" id="{3719AE6A-1D9F-4171-A8AE-76F6D0F4DE24}"/>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4347E151-24A2-4D79-9AEE-46649C91C163}"/>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Separate choices</a:t>
            </a:r>
          </a:p>
        </p:txBody>
      </p:sp>
      <p:sp>
        <p:nvSpPr>
          <p:cNvPr id="9" name="callout-body-1-248">
            <a:extLst xmlns:a="http://schemas.openxmlformats.org/drawingml/2006/main">
              <a:ext uri="{FF2B5EF4-FFF2-40B4-BE49-F238E27FC236}">
                <a16:creationId xmlns:a16="http://schemas.microsoft.com/office/drawing/2014/main" id="{83F221F7-4B98-409B-A218-2C721130A856}"/>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Agent identity and Capability Profile have their own fields.</a:t>
            </a:r>
          </a:p>
        </p:txBody>
      </p:sp>
      <p:sp>
        <p:nvSpPr>
          <p:cNvPr id="10" name="callout-number-2-364">
            <a:extLst xmlns:a="http://schemas.openxmlformats.org/drawingml/2006/main">
              <a:ext uri="{FF2B5EF4-FFF2-40B4-BE49-F238E27FC236}">
                <a16:creationId xmlns:a16="http://schemas.microsoft.com/office/drawing/2014/main" id="{0BAEF5A4-C655-4404-957B-7036EF7FCA37}"/>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99693FE2-2B6B-494A-92B5-EEF8C2A32586}"/>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Collapsible sections</a:t>
            </a:r>
          </a:p>
        </p:txBody>
      </p:sp>
      <p:sp>
        <p:nvSpPr>
          <p:cNvPr id="12" name="callout-body-2-364">
            <a:extLst xmlns:a="http://schemas.openxmlformats.org/drawingml/2006/main">
              <a:ext uri="{FF2B5EF4-FFF2-40B4-BE49-F238E27FC236}">
                <a16:creationId xmlns:a16="http://schemas.microsoft.com/office/drawing/2014/main" id="{30BEA775-D152-4F63-AED2-35BCE75CEB2E}"/>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Node details, copy, prompt, limits, defaults, and runtime can fold.</a:t>
            </a:r>
          </a:p>
        </p:txBody>
      </p:sp>
      <p:sp>
        <p:nvSpPr>
          <p:cNvPr id="13" name="frame-04-node-profile.png">
            <a:extLst xmlns:a="http://schemas.openxmlformats.org/drawingml/2006/main">
              <a:ext uri="{FF2B5EF4-FFF2-40B4-BE49-F238E27FC236}">
                <a16:creationId xmlns:a16="http://schemas.microsoft.com/office/drawing/2014/main" id="{1BE6E647-0C73-4E5D-9A3E-10A113F8BFB3}"/>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f9f06130a1c949dc"/>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04-node-profile.png">
            <a:extLst xmlns:a="http://schemas.openxmlformats.org/drawingml/2006/main">
              <a:ext uri="{FF2B5EF4-FFF2-40B4-BE49-F238E27FC236}">
                <a16:creationId xmlns:a16="http://schemas.microsoft.com/office/drawing/2014/main" id="{6C37EBB2-91F4-4A69-A83D-10F444D783D3}"/>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04-node-profile.png">
            <a:extLst xmlns:a="http://schemas.openxmlformats.org/drawingml/2006/main">
              <a:ext uri="{FF2B5EF4-FFF2-40B4-BE49-F238E27FC236}">
                <a16:creationId xmlns:a16="http://schemas.microsoft.com/office/drawing/2014/main" id="{B1597B84-52C5-4C24-8075-CE075453A682}"/>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739947833"/>
      </p:ext>
    </p:extLst>
  </p:cSld>
</p:sld>
</file>

<file path=ppt/slides/slide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6">
            <a:extLst xmlns:a="http://schemas.openxmlformats.org/drawingml/2006/main">
              <a:ext uri="{FF2B5EF4-FFF2-40B4-BE49-F238E27FC236}">
                <a16:creationId xmlns:a16="http://schemas.microsoft.com/office/drawing/2014/main" id="{3443D98B-DB32-4C85-BD0B-D25BD50A2D43}"/>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NODE</a:t>
            </a:r>
          </a:p>
        </p:txBody>
      </p:sp>
      <p:sp>
        <p:nvSpPr>
          <p:cNvPr id="2" name="title-6">
            <a:extLst xmlns:a="http://schemas.openxmlformats.org/drawingml/2006/main">
              <a:ext uri="{FF2B5EF4-FFF2-40B4-BE49-F238E27FC236}">
                <a16:creationId xmlns:a16="http://schemas.microsoft.com/office/drawing/2014/main" id="{1B791D6B-984F-4621-82B2-2B1CBC770BF7}"/>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Copy node setup</a:t>
            </a:r>
          </a:p>
        </p:txBody>
      </p:sp>
      <p:sp>
        <p:nvSpPr>
          <p:cNvPr id="3" name="number-6">
            <a:extLst xmlns:a="http://schemas.openxmlformats.org/drawingml/2006/main">
              <a:ext uri="{FF2B5EF4-FFF2-40B4-BE49-F238E27FC236}">
                <a16:creationId xmlns:a16="http://schemas.microsoft.com/office/drawing/2014/main" id="{0A40384C-57F4-419B-9BC2-05F568202402}"/>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06</a:t>
            </a:r>
          </a:p>
        </p:txBody>
      </p:sp>
      <p:sp>
        <p:nvSpPr>
          <p:cNvPr id="4" name="callout-number-0-132">
            <a:extLst xmlns:a="http://schemas.openxmlformats.org/drawingml/2006/main">
              <a:ext uri="{FF2B5EF4-FFF2-40B4-BE49-F238E27FC236}">
                <a16:creationId xmlns:a16="http://schemas.microsoft.com/office/drawing/2014/main" id="{CE50C696-C77A-4DF9-A545-7D3157E73EAD}"/>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CFB757C7-A67A-46AD-A990-AB44C42F1A88}"/>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Choose a source</a:t>
            </a:r>
          </a:p>
        </p:txBody>
      </p:sp>
      <p:sp>
        <p:nvSpPr>
          <p:cNvPr id="6" name="callout-body-0-132">
            <a:extLst xmlns:a="http://schemas.openxmlformats.org/drawingml/2006/main">
              <a:ext uri="{FF2B5EF4-FFF2-40B4-BE49-F238E27FC236}">
                <a16:creationId xmlns:a16="http://schemas.microsoft.com/office/drawing/2014/main" id="{B09DBFE8-4FF0-4803-98A2-DFA593906310}"/>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Pick another node in the same Workflow.</a:t>
            </a:r>
          </a:p>
        </p:txBody>
      </p:sp>
      <p:sp>
        <p:nvSpPr>
          <p:cNvPr id="7" name="callout-number-1-248">
            <a:extLst xmlns:a="http://schemas.openxmlformats.org/drawingml/2006/main">
              <a:ext uri="{FF2B5EF4-FFF2-40B4-BE49-F238E27FC236}">
                <a16:creationId xmlns:a16="http://schemas.microsoft.com/office/drawing/2014/main" id="{0573755B-C7DA-480C-AE08-25949AB64B6D}"/>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95B19B58-94F9-4E1B-A225-82A55FD9C25F}"/>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Copy the setup</a:t>
            </a:r>
          </a:p>
        </p:txBody>
      </p:sp>
      <p:sp>
        <p:nvSpPr>
          <p:cNvPr id="9" name="callout-body-1-248">
            <a:extLst xmlns:a="http://schemas.openxmlformats.org/drawingml/2006/main">
              <a:ext uri="{FF2B5EF4-FFF2-40B4-BE49-F238E27FC236}">
                <a16:creationId xmlns:a16="http://schemas.microsoft.com/office/drawing/2014/main" id="{B6BC926D-51F1-4F18-980F-496F584FA184}"/>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button copies that node into this node.</a:t>
            </a:r>
          </a:p>
        </p:txBody>
      </p:sp>
      <p:sp>
        <p:nvSpPr>
          <p:cNvPr id="10" name="callout-number-2-364">
            <a:extLst xmlns:a="http://schemas.openxmlformats.org/drawingml/2006/main">
              <a:ext uri="{FF2B5EF4-FFF2-40B4-BE49-F238E27FC236}">
                <a16:creationId xmlns:a16="http://schemas.microsoft.com/office/drawing/2014/main" id="{217E06E3-83EC-4597-8511-18C87D53427E}"/>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EDB559C2-7662-4FFA-BB55-C92B8CBEF1B1}"/>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Edit it here</a:t>
            </a:r>
          </a:p>
        </p:txBody>
      </p:sp>
      <p:sp>
        <p:nvSpPr>
          <p:cNvPr id="12" name="callout-body-2-364">
            <a:extLst xmlns:a="http://schemas.openxmlformats.org/drawingml/2006/main">
              <a:ext uri="{FF2B5EF4-FFF2-40B4-BE49-F238E27FC236}">
                <a16:creationId xmlns:a16="http://schemas.microsoft.com/office/drawing/2014/main" id="{535DC462-F49A-4D28-8C85-E75EA0E6F034}"/>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copied values become separate local node state.</a:t>
            </a:r>
          </a:p>
        </p:txBody>
      </p:sp>
      <p:sp>
        <p:nvSpPr>
          <p:cNvPr id="13" name="frame-05-copy-node-profile.png">
            <a:extLst xmlns:a="http://schemas.openxmlformats.org/drawingml/2006/main">
              <a:ext uri="{FF2B5EF4-FFF2-40B4-BE49-F238E27FC236}">
                <a16:creationId xmlns:a16="http://schemas.microsoft.com/office/drawing/2014/main" id="{33A064DD-89A6-4001-9914-85A426416BBC}"/>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6ef0df4a6a5421d"/>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05-copy-node-profile.png">
            <a:extLst xmlns:a="http://schemas.openxmlformats.org/drawingml/2006/main">
              <a:ext uri="{FF2B5EF4-FFF2-40B4-BE49-F238E27FC236}">
                <a16:creationId xmlns:a16="http://schemas.microsoft.com/office/drawing/2014/main" id="{6323794D-60D4-414B-BF39-1BD110B69693}"/>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05-copy-node-profile.png">
            <a:extLst xmlns:a="http://schemas.openxmlformats.org/drawingml/2006/main">
              <a:ext uri="{FF2B5EF4-FFF2-40B4-BE49-F238E27FC236}">
                <a16:creationId xmlns:a16="http://schemas.microsoft.com/office/drawing/2014/main" id="{4D20CAE1-7586-44A4-B620-463F661F0F54}"/>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504003377"/>
      </p:ext>
    </p:extLst>
  </p:cSld>
</p:sld>
</file>

<file path=ppt/slides/slide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7">
            <a:extLst xmlns:a="http://schemas.openxmlformats.org/drawingml/2006/main">
              <a:ext uri="{FF2B5EF4-FFF2-40B4-BE49-F238E27FC236}">
                <a16:creationId xmlns:a16="http://schemas.microsoft.com/office/drawing/2014/main" id="{8E0AB7D4-F922-49CD-9223-77277124E50D}"/>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NODE</a:t>
            </a:r>
          </a:p>
        </p:txBody>
      </p:sp>
      <p:sp>
        <p:nvSpPr>
          <p:cNvPr id="2" name="title-7">
            <a:extLst xmlns:a="http://schemas.openxmlformats.org/drawingml/2006/main">
              <a:ext uri="{FF2B5EF4-FFF2-40B4-BE49-F238E27FC236}">
                <a16:creationId xmlns:a16="http://schemas.microsoft.com/office/drawing/2014/main" id="{427A861F-6729-4F32-8451-E37C962CFC73}"/>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Node limits and defaults</a:t>
            </a:r>
          </a:p>
        </p:txBody>
      </p:sp>
      <p:sp>
        <p:nvSpPr>
          <p:cNvPr id="3" name="number-7">
            <a:extLst xmlns:a="http://schemas.openxmlformats.org/drawingml/2006/main">
              <a:ext uri="{FF2B5EF4-FFF2-40B4-BE49-F238E27FC236}">
                <a16:creationId xmlns:a16="http://schemas.microsoft.com/office/drawing/2014/main" id="{9920162C-7193-44A5-9B71-A7753FDBB188}"/>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07</a:t>
            </a:r>
          </a:p>
        </p:txBody>
      </p:sp>
      <p:sp>
        <p:nvSpPr>
          <p:cNvPr id="4" name="callout-number-0-132">
            <a:extLst xmlns:a="http://schemas.openxmlformats.org/drawingml/2006/main">
              <a:ext uri="{FF2B5EF4-FFF2-40B4-BE49-F238E27FC236}">
                <a16:creationId xmlns:a16="http://schemas.microsoft.com/office/drawing/2014/main" id="{8AB05B0B-CF2E-40C9-9776-1DDF24064758}"/>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4EAD52EC-67B9-4AA7-9F4D-9082D28C136C}"/>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Inherited access</a:t>
            </a:r>
          </a:p>
        </p:txBody>
      </p:sp>
      <p:sp>
        <p:nvSpPr>
          <p:cNvPr id="6" name="callout-body-0-132">
            <a:extLst xmlns:a="http://schemas.openxmlformats.org/drawingml/2006/main">
              <a:ext uri="{FF2B5EF4-FFF2-40B4-BE49-F238E27FC236}">
                <a16:creationId xmlns:a16="http://schemas.microsoft.com/office/drawing/2014/main" id="{0B7775CE-D8F9-4F2F-880E-48C9E37B68C7}"/>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MCP, skills, and sandbox show their runtime source.</a:t>
            </a:r>
          </a:p>
        </p:txBody>
      </p:sp>
      <p:sp>
        <p:nvSpPr>
          <p:cNvPr id="7" name="callout-number-1-248">
            <a:extLst xmlns:a="http://schemas.openxmlformats.org/drawingml/2006/main">
              <a:ext uri="{FF2B5EF4-FFF2-40B4-BE49-F238E27FC236}">
                <a16:creationId xmlns:a16="http://schemas.microsoft.com/office/drawing/2014/main" id="{04B483F3-8A5B-4D78-9B28-FA2C379FEE04}"/>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943EC67F-622A-4FAA-A856-20E71671AA3A}"/>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Workflow defaults</a:t>
            </a:r>
          </a:p>
        </p:txBody>
      </p:sp>
      <p:sp>
        <p:nvSpPr>
          <p:cNvPr id="9" name="callout-body-1-248">
            <a:extLst xmlns:a="http://schemas.openxmlformats.org/drawingml/2006/main">
              <a:ext uri="{FF2B5EF4-FFF2-40B4-BE49-F238E27FC236}">
                <a16:creationId xmlns:a16="http://schemas.microsoft.com/office/drawing/2014/main" id="{774A66F0-E692-429A-9531-0B4E988BB7C7}"/>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Model and reasoning are set for Workflow messages.</a:t>
            </a:r>
          </a:p>
        </p:txBody>
      </p:sp>
      <p:sp>
        <p:nvSpPr>
          <p:cNvPr id="10" name="callout-number-2-364">
            <a:extLst xmlns:a="http://schemas.openxmlformats.org/drawingml/2006/main">
              <a:ext uri="{FF2B5EF4-FFF2-40B4-BE49-F238E27FC236}">
                <a16:creationId xmlns:a16="http://schemas.microsoft.com/office/drawing/2014/main" id="{C474D69F-975E-497F-96BF-46DA41814788}"/>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E0FAFA3C-6A6E-4AA9-87F1-36977E331C3E}"/>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Locked sandbox</a:t>
            </a:r>
          </a:p>
        </p:txBody>
      </p:sp>
      <p:sp>
        <p:nvSpPr>
          <p:cNvPr id="12" name="callout-body-2-364">
            <a:extLst xmlns:a="http://schemas.openxmlformats.org/drawingml/2006/main">
              <a:ext uri="{FF2B5EF4-FFF2-40B4-BE49-F238E27FC236}">
                <a16:creationId xmlns:a16="http://schemas.microsoft.com/office/drawing/2014/main" id="{E146ACC7-5827-4A58-8223-5EF983906F83}"/>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sandbox is visible but cannot change here.</a:t>
            </a:r>
          </a:p>
        </p:txBody>
      </p:sp>
      <p:sp>
        <p:nvSpPr>
          <p:cNvPr id="13" name="frame-06-node-limits-defaults.png">
            <a:extLst xmlns:a="http://schemas.openxmlformats.org/drawingml/2006/main">
              <a:ext uri="{FF2B5EF4-FFF2-40B4-BE49-F238E27FC236}">
                <a16:creationId xmlns:a16="http://schemas.microsoft.com/office/drawing/2014/main" id="{824AC8F1-DA29-4718-9015-D2948FAEE102}"/>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0d51df7c1e34695"/>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06-node-limits-defaults.png">
            <a:extLst xmlns:a="http://schemas.openxmlformats.org/drawingml/2006/main">
              <a:ext uri="{FF2B5EF4-FFF2-40B4-BE49-F238E27FC236}">
                <a16:creationId xmlns:a16="http://schemas.microsoft.com/office/drawing/2014/main" id="{0A88596D-0FEE-43B2-837E-7BFDAE25AE89}"/>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06-node-limits-defaults.png">
            <a:extLst xmlns:a="http://schemas.openxmlformats.org/drawingml/2006/main">
              <a:ext uri="{FF2B5EF4-FFF2-40B4-BE49-F238E27FC236}">
                <a16:creationId xmlns:a16="http://schemas.microsoft.com/office/drawing/2014/main" id="{66BBDCEB-9377-4971-94F2-ACBE6317BE3F}"/>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820491196"/>
      </p:ext>
    </p:extLst>
  </p:cSld>
</p:sld>
</file>

<file path=ppt/slides/slide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8">
            <a:extLst xmlns:a="http://schemas.openxmlformats.org/drawingml/2006/main">
              <a:ext uri="{FF2B5EF4-FFF2-40B4-BE49-F238E27FC236}">
                <a16:creationId xmlns:a16="http://schemas.microsoft.com/office/drawing/2014/main" id="{14C6F6E3-372D-4D80-9840-E06FC0068BD8}"/>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CONNECTION</a:t>
            </a:r>
          </a:p>
        </p:txBody>
      </p:sp>
      <p:sp>
        <p:nvSpPr>
          <p:cNvPr id="2" name="title-8">
            <a:extLst xmlns:a="http://schemas.openxmlformats.org/drawingml/2006/main">
              <a:ext uri="{FF2B5EF4-FFF2-40B4-BE49-F238E27FC236}">
                <a16:creationId xmlns:a16="http://schemas.microsoft.com/office/drawing/2014/main" id="{54FF56C5-5B62-4653-A495-E59350037FF7}"/>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Connection trigger</a:t>
            </a:r>
          </a:p>
        </p:txBody>
      </p:sp>
      <p:sp>
        <p:nvSpPr>
          <p:cNvPr id="3" name="number-8">
            <a:extLst xmlns:a="http://schemas.openxmlformats.org/drawingml/2006/main">
              <a:ext uri="{FF2B5EF4-FFF2-40B4-BE49-F238E27FC236}">
                <a16:creationId xmlns:a16="http://schemas.microsoft.com/office/drawing/2014/main" id="{D78D392D-DC7D-43FC-B66C-421E766EAE42}"/>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08</a:t>
            </a:r>
          </a:p>
        </p:txBody>
      </p:sp>
      <p:sp>
        <p:nvSpPr>
          <p:cNvPr id="4" name="callout-number-0-132">
            <a:extLst xmlns:a="http://schemas.openxmlformats.org/drawingml/2006/main">
              <a:ext uri="{FF2B5EF4-FFF2-40B4-BE49-F238E27FC236}">
                <a16:creationId xmlns:a16="http://schemas.microsoft.com/office/drawing/2014/main" id="{A9E76DCC-6686-470C-90CB-071052114072}"/>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B1A820A9-0F03-48EE-AE2D-508176E42924}"/>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The edge sets direction</a:t>
            </a:r>
          </a:p>
        </p:txBody>
      </p:sp>
      <p:sp>
        <p:nvSpPr>
          <p:cNvPr id="6" name="callout-body-0-132">
            <a:extLst xmlns:a="http://schemas.openxmlformats.org/drawingml/2006/main">
              <a:ext uri="{FF2B5EF4-FFF2-40B4-BE49-F238E27FC236}">
                <a16:creationId xmlns:a16="http://schemas.microsoft.com/office/drawing/2014/main" id="{EC27BE4F-1A64-4538-8FF0-5DE41A2B19F8}"/>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Author is the source. Reviewer is the destination.</a:t>
            </a:r>
          </a:p>
        </p:txBody>
      </p:sp>
      <p:sp>
        <p:nvSpPr>
          <p:cNvPr id="7" name="callout-number-1-248">
            <a:extLst xmlns:a="http://schemas.openxmlformats.org/drawingml/2006/main">
              <a:ext uri="{FF2B5EF4-FFF2-40B4-BE49-F238E27FC236}">
                <a16:creationId xmlns:a16="http://schemas.microsoft.com/office/drawing/2014/main" id="{7E0F7E77-6051-4305-A938-8E8F0D8E669E}"/>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0B1C7267-CB74-40AD-8F5C-6ABEE8D58B99}"/>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The trigger is explicit</a:t>
            </a:r>
          </a:p>
        </p:txBody>
      </p:sp>
      <p:sp>
        <p:nvSpPr>
          <p:cNvPr id="9" name="callout-body-1-248">
            <a:extLst xmlns:a="http://schemas.openxmlformats.org/drawingml/2006/main">
              <a:ext uri="{FF2B5EF4-FFF2-40B4-BE49-F238E27FC236}">
                <a16:creationId xmlns:a16="http://schemas.microsoft.com/office/drawing/2014/main" id="{EA45C409-22B6-4603-BFAB-CBFBE57D6C37}"/>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This connection starts after an invocation completes.</a:t>
            </a:r>
          </a:p>
        </p:txBody>
      </p:sp>
      <p:sp>
        <p:nvSpPr>
          <p:cNvPr id="10" name="callout-number-2-364">
            <a:extLst xmlns:a="http://schemas.openxmlformats.org/drawingml/2006/main">
              <a:ext uri="{FF2B5EF4-FFF2-40B4-BE49-F238E27FC236}">
                <a16:creationId xmlns:a16="http://schemas.microsoft.com/office/drawing/2014/main" id="{77157F0A-7773-4469-8BBC-73EB0A265344}"/>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095A6058-A90F-4112-9E42-69E0D6E28772}"/>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Prompt logic follows</a:t>
            </a:r>
          </a:p>
        </p:txBody>
      </p:sp>
      <p:sp>
        <p:nvSpPr>
          <p:cNvPr id="12" name="callout-body-2-364">
            <a:extLst xmlns:a="http://schemas.openxmlformats.org/drawingml/2006/main">
              <a:ext uri="{FF2B5EF4-FFF2-40B4-BE49-F238E27FC236}">
                <a16:creationId xmlns:a16="http://schemas.microsoft.com/office/drawing/2014/main" id="{68494079-43A6-4503-AE62-79F0B71FD0E7}"/>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ordered prompt parts sit in the next section.</a:t>
            </a:r>
          </a:p>
        </p:txBody>
      </p:sp>
      <p:sp>
        <p:nvSpPr>
          <p:cNvPr id="13" name="frame-07-connection-trigger.png">
            <a:extLst xmlns:a="http://schemas.openxmlformats.org/drawingml/2006/main">
              <a:ext uri="{FF2B5EF4-FFF2-40B4-BE49-F238E27FC236}">
                <a16:creationId xmlns:a16="http://schemas.microsoft.com/office/drawing/2014/main" id="{4B29C9D1-3813-4B02-A09B-0DE065072A43}"/>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21db982292940d9"/>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07-connection-trigger.png">
            <a:extLst xmlns:a="http://schemas.openxmlformats.org/drawingml/2006/main">
              <a:ext uri="{FF2B5EF4-FFF2-40B4-BE49-F238E27FC236}">
                <a16:creationId xmlns:a16="http://schemas.microsoft.com/office/drawing/2014/main" id="{2902D66D-FD15-4828-AE1B-3D6A94151117}"/>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07-connection-trigger.png">
            <a:extLst xmlns:a="http://schemas.openxmlformats.org/drawingml/2006/main">
              <a:ext uri="{FF2B5EF4-FFF2-40B4-BE49-F238E27FC236}">
                <a16:creationId xmlns:a16="http://schemas.microsoft.com/office/drawing/2014/main" id="{B0867417-6A90-49B7-B658-5DA0F7028F5D}"/>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383213256"/>
      </p:ext>
    </p:extLst>
  </p:cSld>
</p:sld>
</file>

<file path=ppt/slides/slide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9" name="section-9">
            <a:extLst xmlns:a="http://schemas.openxmlformats.org/drawingml/2006/main">
              <a:ext uri="{FF2B5EF4-FFF2-40B4-BE49-F238E27FC236}">
                <a16:creationId xmlns:a16="http://schemas.microsoft.com/office/drawing/2014/main" id="{CD9369ED-DD96-471B-897D-6D8F5C8FF6B7}"/>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CONNECTION</a:t>
            </a:r>
          </a:p>
        </p:txBody>
      </p:sp>
      <p:sp>
        <p:nvSpPr>
          <p:cNvPr id="2" name="title-9">
            <a:extLst xmlns:a="http://schemas.openxmlformats.org/drawingml/2006/main">
              <a:ext uri="{FF2B5EF4-FFF2-40B4-BE49-F238E27FC236}">
                <a16:creationId xmlns:a16="http://schemas.microsoft.com/office/drawing/2014/main" id="{398ECFE2-79EA-4AD1-97C2-1A8D40E94F8A}"/>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Prompt and Session target</a:t>
            </a:r>
          </a:p>
        </p:txBody>
      </p:sp>
      <p:sp>
        <p:nvSpPr>
          <p:cNvPr id="3" name="number-9">
            <a:extLst xmlns:a="http://schemas.openxmlformats.org/drawingml/2006/main">
              <a:ext uri="{FF2B5EF4-FFF2-40B4-BE49-F238E27FC236}">
                <a16:creationId xmlns:a16="http://schemas.microsoft.com/office/drawing/2014/main" id="{B33DDBB6-9300-42E0-A96A-BACF5785FE21}"/>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09</a:t>
            </a:r>
          </a:p>
        </p:txBody>
      </p:sp>
      <p:sp>
        <p:nvSpPr>
          <p:cNvPr id="4" name="callout-number-0-132">
            <a:extLst xmlns:a="http://schemas.openxmlformats.org/drawingml/2006/main">
              <a:ext uri="{FF2B5EF4-FFF2-40B4-BE49-F238E27FC236}">
                <a16:creationId xmlns:a16="http://schemas.microsoft.com/office/drawing/2014/main" id="{6B395083-0629-4384-9CFF-7B73C4F8E6AA}"/>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D0E63D30-3A05-4FDF-96E4-B186B2715B41}"/>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Fixed prompt</a:t>
            </a:r>
          </a:p>
        </p:txBody>
      </p:sp>
      <p:sp>
        <p:nvSpPr>
          <p:cNvPr id="6" name="callout-body-0-132">
            <a:extLst xmlns:a="http://schemas.openxmlformats.org/drawingml/2006/main">
              <a:ext uri="{FF2B5EF4-FFF2-40B4-BE49-F238E27FC236}">
                <a16:creationId xmlns:a16="http://schemas.microsoft.com/office/drawing/2014/main" id="{1EF58BFF-CD54-40AC-8206-F19009920D02}"/>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connection can append its own text.</a:t>
            </a:r>
          </a:p>
        </p:txBody>
      </p:sp>
      <p:sp>
        <p:nvSpPr>
          <p:cNvPr id="7" name="callout-number-1-248">
            <a:extLst xmlns:a="http://schemas.openxmlformats.org/drawingml/2006/main">
              <a:ext uri="{FF2B5EF4-FFF2-40B4-BE49-F238E27FC236}">
                <a16:creationId xmlns:a16="http://schemas.microsoft.com/office/drawing/2014/main" id="{DC43AE8F-2916-4AE7-8710-8D854D51505C}"/>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FAB678A4-CF99-496E-BB50-FB11246FC848}"/>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Match rules</a:t>
            </a:r>
          </a:p>
        </p:txBody>
      </p:sp>
      <p:sp>
        <p:nvSpPr>
          <p:cNvPr id="9" name="callout-body-1-248">
            <a:extLst xmlns:a="http://schemas.openxmlformats.org/drawingml/2006/main">
              <a:ext uri="{FF2B5EF4-FFF2-40B4-BE49-F238E27FC236}">
                <a16:creationId xmlns:a16="http://schemas.microsoft.com/office/drawing/2014/main" id="{8AE566C5-B4B7-4E0A-AE76-BBA420DBBE54}"/>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Choose the Session order and running state.</a:t>
            </a:r>
          </a:p>
        </p:txBody>
      </p:sp>
      <p:sp>
        <p:nvSpPr>
          <p:cNvPr id="10" name="callout-number-2-364">
            <a:extLst xmlns:a="http://schemas.openxmlformats.org/drawingml/2006/main">
              <a:ext uri="{FF2B5EF4-FFF2-40B4-BE49-F238E27FC236}">
                <a16:creationId xmlns:a16="http://schemas.microsoft.com/office/drawing/2014/main" id="{9A622E8C-131C-46D6-8502-9EF84E819D15}"/>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21A173BA-3968-4133-A42A-71114C0B05B0}"/>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No match rule</a:t>
            </a:r>
          </a:p>
        </p:txBody>
      </p:sp>
      <p:sp>
        <p:nvSpPr>
          <p:cNvPr id="12" name="callout-body-2-364">
            <a:extLst xmlns:a="http://schemas.openxmlformats.org/drawingml/2006/main">
              <a:ext uri="{FF2B5EF4-FFF2-40B4-BE49-F238E27FC236}">
                <a16:creationId xmlns:a16="http://schemas.microsoft.com/office/drawing/2014/main" id="{BB7546E5-43D3-4362-85E4-0874325B1D69}"/>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event can create a Session when none match.</a:t>
            </a:r>
          </a:p>
        </p:txBody>
      </p:sp>
      <p:sp>
        <p:nvSpPr>
          <p:cNvPr id="13" name="issue-480">
            <a:extLst xmlns:a="http://schemas.openxmlformats.org/drawingml/2006/main">
              <a:ext uri="{FF2B5EF4-FFF2-40B4-BE49-F238E27FC236}">
                <a16:creationId xmlns:a16="http://schemas.microsoft.com/office/drawing/2014/main" id="{23CCBF06-0665-4752-9D26-B3F72EE68229}"/>
              </a:ext>
            </a:extLst>
          </p:cNvPr>
          <p:cNvSpPr>
            <a:spLocks xmlns:a="http://schemas.openxmlformats.org/drawingml/2006/main" noGrp="1"/>
          </p:cNvSpPr>
          <p:nvPr/>
        </p:nvSpPr>
        <p:spPr>
          <a:xfrm xmlns:a="http://schemas.openxmlformats.org/drawingml/2006/main">
            <a:off x="400050" y="5391150"/>
            <a:ext cx="3505200" cy="933450"/>
          </a:xfrm>
          <a:prstGeom xmlns:a="http://schemas.openxmlformats.org/drawingml/2006/main" prst="roundRect">
            <a:avLst>
              <a:gd name="adj" fmla="val 12245"/>
            </a:avLst>
          </a:prstGeom>
          <a:solidFill xmlns:a="http://schemas.openxmlformats.org/drawingml/2006/main">
            <a:srgbClr val="F8E8E5"/>
          </a:solidFill>
          <a:ln xmlns:a="http://schemas.openxmlformats.org/drawingml/2006/main" w="9525">
            <a:solidFill>
              <a:srgbClr val="E4A099"/>
            </a:solidFill>
          </a:ln>
        </p:spPr>
      </p:sp>
      <p:sp>
        <p:nvSpPr>
          <p:cNvPr id="14" name="issue-text-480">
            <a:extLst xmlns:a="http://schemas.openxmlformats.org/drawingml/2006/main">
              <a:ext uri="{FF2B5EF4-FFF2-40B4-BE49-F238E27FC236}">
                <a16:creationId xmlns:a16="http://schemas.microsoft.com/office/drawing/2014/main" id="{C2B48E03-826C-4E1E-BD0F-017A45AA87FD}"/>
              </a:ext>
            </a:extLst>
          </p:cNvPr>
          <p:cNvSpPr>
            <a:spLocks xmlns:a="http://schemas.openxmlformats.org/drawingml/2006/main" noGrp="1"/>
          </p:cNvSpPr>
          <p:nvPr/>
        </p:nvSpPr>
        <p:spPr>
          <a:xfrm xmlns:a="http://schemas.openxmlformats.org/drawingml/2006/main">
            <a:off x="552450" y="5562600"/>
            <a:ext cx="320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9E3328"/>
                </a:solidFill>
                <a:latin typeface="Arial"/>
                <a:ea typeface="Arial"/>
                <a:cs typeface="Arial"/>
              </a:defRPr>
            </a:pPr>
            <a:r>
              <a:rPr sz="1200" b="1">
                <a:solidFill>
                  <a:srgbClr val="9E3328"/>
                </a:solidFill>
                <a:latin typeface="Arial"/>
                <a:ea typeface="Arial"/>
                <a:cs typeface="Arial"/>
              </a:rPr>
              <a:t>Needs polish: the recorded-source checkbox sits too far from its label at this width.</a:t>
            </a:r>
          </a:p>
        </p:txBody>
      </p:sp>
      <p:sp>
        <p:nvSpPr>
          <p:cNvPr id="15" name="frame-08-connection-prompt-target.png">
            <a:extLst xmlns:a="http://schemas.openxmlformats.org/drawingml/2006/main">
              <a:ext uri="{FF2B5EF4-FFF2-40B4-BE49-F238E27FC236}">
                <a16:creationId xmlns:a16="http://schemas.microsoft.com/office/drawing/2014/main" id="{DC4A4C22-F58E-4467-A913-C13BEC210EBE}"/>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4168a26af5445b9"/>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7" name="evidence-08-connection-prompt-target.png">
            <a:extLst xmlns:a="http://schemas.openxmlformats.org/drawingml/2006/main">
              <a:ext uri="{FF2B5EF4-FFF2-40B4-BE49-F238E27FC236}">
                <a16:creationId xmlns:a16="http://schemas.microsoft.com/office/drawing/2014/main" id="{8D0565D5-8989-4D2D-9FE9-B362BE4CE410}"/>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8" name="evidence-text-08-connection-prompt-target.png">
            <a:extLst xmlns:a="http://schemas.openxmlformats.org/drawingml/2006/main">
              <a:ext uri="{FF2B5EF4-FFF2-40B4-BE49-F238E27FC236}">
                <a16:creationId xmlns:a16="http://schemas.microsoft.com/office/drawing/2014/main" id="{6EFE8E09-1BEF-4BA6-BC83-6987B3FB4131}"/>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062054025"/>
      </p:ext>
    </p:extLst>
  </p:cSld>
</p:sld>
</file>

<file path=ppt/slides/slide1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9854C13F-6B2B-4F8F-B00A-E8FB1351F060}"/>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CONNECTION</a:t>
            </a:r>
          </a:p>
        </p:txBody>
      </p:sp>
      <p:sp>
        <p:nvSpPr>
          <p:cNvPr id="2" name="title-10">
            <a:extLst xmlns:a="http://schemas.openxmlformats.org/drawingml/2006/main">
              <a:ext uri="{FF2B5EF4-FFF2-40B4-BE49-F238E27FC236}">
                <a16:creationId xmlns:a16="http://schemas.microsoft.com/office/drawing/2014/main" id="{EC7B3381-2009-4A72-B76B-D2CD7C6018EC}"/>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MCP trigger references</a:t>
            </a:r>
          </a:p>
        </p:txBody>
      </p:sp>
      <p:sp>
        <p:nvSpPr>
          <p:cNvPr id="3" name="number-10">
            <a:extLst xmlns:a="http://schemas.openxmlformats.org/drawingml/2006/main">
              <a:ext uri="{FF2B5EF4-FFF2-40B4-BE49-F238E27FC236}">
                <a16:creationId xmlns:a16="http://schemas.microsoft.com/office/drawing/2014/main" id="{C406EEB9-4449-4A5E-A666-91ACEA4DD4B7}"/>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10</a:t>
            </a:r>
          </a:p>
        </p:txBody>
      </p:sp>
      <p:sp>
        <p:nvSpPr>
          <p:cNvPr id="4" name="callout-number-0-132">
            <a:extLst xmlns:a="http://schemas.openxmlformats.org/drawingml/2006/main">
              <a:ext uri="{FF2B5EF4-FFF2-40B4-BE49-F238E27FC236}">
                <a16:creationId xmlns:a16="http://schemas.microsoft.com/office/drawing/2014/main" id="{9EC629C7-978F-4F7D-8940-69FF8B2F91D1}"/>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05BD1DF8-162E-4132-AA71-069CDC58CBF0}"/>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MCP call trigger</a:t>
            </a:r>
          </a:p>
        </p:txBody>
      </p:sp>
      <p:sp>
        <p:nvSpPr>
          <p:cNvPr id="6" name="callout-body-0-132">
            <a:extLst xmlns:a="http://schemas.openxmlformats.org/drawingml/2006/main">
              <a:ext uri="{FF2B5EF4-FFF2-40B4-BE49-F238E27FC236}">
                <a16:creationId xmlns:a16="http://schemas.microsoft.com/office/drawing/2014/main" id="{5313D023-6632-42AA-B43A-3B7005B09AFF}"/>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trigger type can change from completion to MCP call.</a:t>
            </a:r>
          </a:p>
        </p:txBody>
      </p:sp>
      <p:sp>
        <p:nvSpPr>
          <p:cNvPr id="7" name="callout-number-1-248">
            <a:extLst xmlns:a="http://schemas.openxmlformats.org/drawingml/2006/main">
              <a:ext uri="{FF2B5EF4-FFF2-40B4-BE49-F238E27FC236}">
                <a16:creationId xmlns:a16="http://schemas.microsoft.com/office/drawing/2014/main" id="{DE31A7DF-1DE7-4DFC-BF43-6DBB210D1361}"/>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BA1035CC-8B3C-45F5-9F2E-4EEF8E5F52BE}"/>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Server reference</a:t>
            </a:r>
          </a:p>
        </p:txBody>
      </p:sp>
      <p:sp>
        <p:nvSpPr>
          <p:cNvPr id="9" name="callout-body-1-248">
            <a:extLst xmlns:a="http://schemas.openxmlformats.org/drawingml/2006/main">
              <a:ext uri="{FF2B5EF4-FFF2-40B4-BE49-F238E27FC236}">
                <a16:creationId xmlns:a16="http://schemas.microsoft.com/office/drawing/2014/main" id="{626AAD77-C6F2-4EE8-ADF7-67690A3B9222}"/>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Namespace, kind, and ID identify the MCP server.</a:t>
            </a:r>
          </a:p>
        </p:txBody>
      </p:sp>
      <p:sp>
        <p:nvSpPr>
          <p:cNvPr id="10" name="callout-number-2-364">
            <a:extLst xmlns:a="http://schemas.openxmlformats.org/drawingml/2006/main">
              <a:ext uri="{FF2B5EF4-FFF2-40B4-BE49-F238E27FC236}">
                <a16:creationId xmlns:a16="http://schemas.microsoft.com/office/drawing/2014/main" id="{9753E6E9-B61D-4A8D-9203-65147226A182}"/>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69DC5DC4-E3BB-47D0-ABA8-A6767774D044}"/>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Tool reference</a:t>
            </a:r>
          </a:p>
        </p:txBody>
      </p:sp>
      <p:sp>
        <p:nvSpPr>
          <p:cNvPr id="12" name="callout-body-2-364">
            <a:extLst xmlns:a="http://schemas.openxmlformats.org/drawingml/2006/main">
              <a:ext uri="{FF2B5EF4-FFF2-40B4-BE49-F238E27FC236}">
                <a16:creationId xmlns:a16="http://schemas.microsoft.com/office/drawing/2014/main" id="{51D94AE0-CC44-42A4-BACE-B2138652567B}"/>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A second reference identifies the MCP tool.</a:t>
            </a:r>
          </a:p>
        </p:txBody>
      </p:sp>
      <p:sp>
        <p:nvSpPr>
          <p:cNvPr id="13" name="frame-17-mcp-trigger.png">
            <a:extLst xmlns:a="http://schemas.openxmlformats.org/drawingml/2006/main">
              <a:ext uri="{FF2B5EF4-FFF2-40B4-BE49-F238E27FC236}">
                <a16:creationId xmlns:a16="http://schemas.microsoft.com/office/drawing/2014/main" id="{7F544EDF-845C-46D7-9C3E-421AD3418212}"/>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fb01ea9d2dc4039"/>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17-mcp-trigger.png">
            <a:extLst xmlns:a="http://schemas.openxmlformats.org/drawingml/2006/main">
              <a:ext uri="{FF2B5EF4-FFF2-40B4-BE49-F238E27FC236}">
                <a16:creationId xmlns:a16="http://schemas.microsoft.com/office/drawing/2014/main" id="{571D257E-3A3C-4A65-8C84-0F490C6C1346}"/>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17-mcp-trigger.png">
            <a:extLst xmlns:a="http://schemas.openxmlformats.org/drawingml/2006/main">
              <a:ext uri="{FF2B5EF4-FFF2-40B4-BE49-F238E27FC236}">
                <a16:creationId xmlns:a16="http://schemas.microsoft.com/office/drawing/2014/main" id="{0FB80041-9681-4895-8980-02DAB1E7AAE6}"/>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21536849"/>
      </p:ext>
    </p:extLst>
  </p:cSld>
</p:sld>
</file>

<file path=ppt/slides/slide1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11">
            <a:extLst xmlns:a="http://schemas.openxmlformats.org/drawingml/2006/main">
              <a:ext uri="{FF2B5EF4-FFF2-40B4-BE49-F238E27FC236}">
                <a16:creationId xmlns:a16="http://schemas.microsoft.com/office/drawing/2014/main" id="{D02A36FE-3E5E-4C8D-8B76-4C8882F7FBB2}"/>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CONNECTION</a:t>
            </a:r>
          </a:p>
        </p:txBody>
      </p:sp>
      <p:sp>
        <p:nvSpPr>
          <p:cNvPr id="2" name="title-11">
            <a:extLst xmlns:a="http://schemas.openxmlformats.org/drawingml/2006/main">
              <a:ext uri="{FF2B5EF4-FFF2-40B4-BE49-F238E27FC236}">
                <a16:creationId xmlns:a16="http://schemas.microsoft.com/office/drawing/2014/main" id="{3DC1AC34-E6F7-466B-BBAD-A453778DC8C1}"/>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Ordered prompt sources</a:t>
            </a:r>
          </a:p>
        </p:txBody>
      </p:sp>
      <p:sp>
        <p:nvSpPr>
          <p:cNvPr id="3" name="number-11">
            <a:extLst xmlns:a="http://schemas.openxmlformats.org/drawingml/2006/main">
              <a:ext uri="{FF2B5EF4-FFF2-40B4-BE49-F238E27FC236}">
                <a16:creationId xmlns:a16="http://schemas.microsoft.com/office/drawing/2014/main" id="{AED2CD40-CF3C-406C-8252-8BEE2A45CC0C}"/>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11</a:t>
            </a:r>
          </a:p>
        </p:txBody>
      </p:sp>
      <p:sp>
        <p:nvSpPr>
          <p:cNvPr id="4" name="callout-number-0-132">
            <a:extLst xmlns:a="http://schemas.openxmlformats.org/drawingml/2006/main">
              <a:ext uri="{FF2B5EF4-FFF2-40B4-BE49-F238E27FC236}">
                <a16:creationId xmlns:a16="http://schemas.microsoft.com/office/drawing/2014/main" id="{508BDF42-82B6-4A9F-8C24-92F5CBEC49F6}"/>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224B1790-7C4D-4ECE-BE45-7F068A87E924}"/>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One row per source</a:t>
            </a:r>
          </a:p>
        </p:txBody>
      </p:sp>
      <p:sp>
        <p:nvSpPr>
          <p:cNvPr id="6" name="callout-body-0-132">
            <a:extLst xmlns:a="http://schemas.openxmlformats.org/drawingml/2006/main">
              <a:ext uri="{FF2B5EF4-FFF2-40B4-BE49-F238E27FC236}">
                <a16:creationId xmlns:a16="http://schemas.microsoft.com/office/drawing/2014/main" id="{1FE2E649-1059-4E40-9407-5D4C25F248C3}"/>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Each row has a type and the fields for that type.</a:t>
            </a:r>
          </a:p>
        </p:txBody>
      </p:sp>
      <p:sp>
        <p:nvSpPr>
          <p:cNvPr id="7" name="callout-number-1-248">
            <a:extLst xmlns:a="http://schemas.openxmlformats.org/drawingml/2006/main">
              <a:ext uri="{FF2B5EF4-FFF2-40B4-BE49-F238E27FC236}">
                <a16:creationId xmlns:a16="http://schemas.microsoft.com/office/drawing/2014/main" id="{5B25D6B3-BE46-4086-BD80-1ED18AFB6C53}"/>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F5A3097E-B954-4253-B561-308C1D8EC472}"/>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Order controls</a:t>
            </a:r>
          </a:p>
        </p:txBody>
      </p:sp>
      <p:sp>
        <p:nvSpPr>
          <p:cNvPr id="9" name="callout-body-1-248">
            <a:extLst xmlns:a="http://schemas.openxmlformats.org/drawingml/2006/main">
              <a:ext uri="{FF2B5EF4-FFF2-40B4-BE49-F238E27FC236}">
                <a16:creationId xmlns:a16="http://schemas.microsoft.com/office/drawing/2014/main" id="{55FF596F-3F32-4D42-AC5E-33182B1DD49D}"/>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Move a row up or down, or remove it.</a:t>
            </a:r>
          </a:p>
        </p:txBody>
      </p:sp>
      <p:sp>
        <p:nvSpPr>
          <p:cNvPr id="10" name="callout-number-2-364">
            <a:extLst xmlns:a="http://schemas.openxmlformats.org/drawingml/2006/main">
              <a:ext uri="{FF2B5EF4-FFF2-40B4-BE49-F238E27FC236}">
                <a16:creationId xmlns:a16="http://schemas.microsoft.com/office/drawing/2014/main" id="{17886548-A575-4344-9C20-B3EE8AC9686D}"/>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64366F0A-4A51-4EDB-8357-018FA6387C5E}"/>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More prompt parts</a:t>
            </a:r>
          </a:p>
        </p:txBody>
      </p:sp>
      <p:sp>
        <p:nvSpPr>
          <p:cNvPr id="12" name="callout-body-2-364">
            <a:extLst xmlns:a="http://schemas.openxmlformats.org/drawingml/2006/main">
              <a:ext uri="{FF2B5EF4-FFF2-40B4-BE49-F238E27FC236}">
                <a16:creationId xmlns:a16="http://schemas.microsoft.com/office/drawing/2014/main" id="{4B3531BA-44AB-4D33-8931-265E9551EBCE}"/>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Add another source or fixed connection text.</a:t>
            </a:r>
          </a:p>
        </p:txBody>
      </p:sp>
      <p:sp>
        <p:nvSpPr>
          <p:cNvPr id="13" name="frame-19-prompt-sources.png">
            <a:extLst xmlns:a="http://schemas.openxmlformats.org/drawingml/2006/main">
              <a:ext uri="{FF2B5EF4-FFF2-40B4-BE49-F238E27FC236}">
                <a16:creationId xmlns:a16="http://schemas.microsoft.com/office/drawing/2014/main" id="{F51871BB-FE15-41A5-AA54-A2EA536694BE}"/>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4ce47b874ff4c40"/>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19-prompt-sources.png">
            <a:extLst xmlns:a="http://schemas.openxmlformats.org/drawingml/2006/main">
              <a:ext uri="{FF2B5EF4-FFF2-40B4-BE49-F238E27FC236}">
                <a16:creationId xmlns:a16="http://schemas.microsoft.com/office/drawing/2014/main" id="{2647808E-B11C-4ACD-8FDA-7187A22B437C}"/>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19-prompt-sources.png">
            <a:extLst xmlns:a="http://schemas.openxmlformats.org/drawingml/2006/main">
              <a:ext uri="{FF2B5EF4-FFF2-40B4-BE49-F238E27FC236}">
                <a16:creationId xmlns:a16="http://schemas.microsoft.com/office/drawing/2014/main" id="{60434FD8-A7C1-4101-9F19-9584C9E0C2F3}"/>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2125480320"/>
      </p:ext>
    </p:extLst>
  </p:cSld>
</p:sld>
</file>

<file path=ppt/slides/slide1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9" name="section-12">
            <a:extLst xmlns:a="http://schemas.openxmlformats.org/drawingml/2006/main">
              <a:ext uri="{FF2B5EF4-FFF2-40B4-BE49-F238E27FC236}">
                <a16:creationId xmlns:a16="http://schemas.microsoft.com/office/drawing/2014/main" id="{0CA358D5-D8C7-4C52-B2A2-850B4584602A}"/>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CONNECTION</a:t>
            </a:r>
          </a:p>
        </p:txBody>
      </p:sp>
      <p:sp>
        <p:nvSpPr>
          <p:cNvPr id="2" name="title-12">
            <a:extLst xmlns:a="http://schemas.openxmlformats.org/drawingml/2006/main">
              <a:ext uri="{FF2B5EF4-FFF2-40B4-BE49-F238E27FC236}">
                <a16:creationId xmlns:a16="http://schemas.microsoft.com/office/drawing/2014/main" id="{254413B3-0817-42CF-879D-5158869F8064}"/>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Recorded-source filter</a:t>
            </a:r>
          </a:p>
        </p:txBody>
      </p:sp>
      <p:sp>
        <p:nvSpPr>
          <p:cNvPr id="3" name="number-12">
            <a:extLst xmlns:a="http://schemas.openxmlformats.org/drawingml/2006/main">
              <a:ext uri="{FF2B5EF4-FFF2-40B4-BE49-F238E27FC236}">
                <a16:creationId xmlns:a16="http://schemas.microsoft.com/office/drawing/2014/main" id="{47618ABE-18B1-4F3A-8BCD-E460D4634D49}"/>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12</a:t>
            </a:r>
          </a:p>
        </p:txBody>
      </p:sp>
      <p:sp>
        <p:nvSpPr>
          <p:cNvPr id="4" name="callout-number-0-132">
            <a:extLst xmlns:a="http://schemas.openxmlformats.org/drawingml/2006/main">
              <a:ext uri="{FF2B5EF4-FFF2-40B4-BE49-F238E27FC236}">
                <a16:creationId xmlns:a16="http://schemas.microsoft.com/office/drawing/2014/main" id="{E8B991D5-1787-4160-815E-3146BCC63CED}"/>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485EA95C-398A-4ED3-AF1F-2CDE89089864}"/>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Optional filter</a:t>
            </a:r>
          </a:p>
        </p:txBody>
      </p:sp>
      <p:sp>
        <p:nvSpPr>
          <p:cNvPr id="6" name="callout-body-0-132">
            <a:extLst xmlns:a="http://schemas.openxmlformats.org/drawingml/2006/main">
              <a:ext uri="{FF2B5EF4-FFF2-40B4-BE49-F238E27FC236}">
                <a16:creationId xmlns:a16="http://schemas.microsoft.com/office/drawing/2014/main" id="{D23BD166-984D-4BC6-A5D6-DF0593DB4FE9}"/>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Limit matches to Sessions made by a recorded source.</a:t>
            </a:r>
          </a:p>
        </p:txBody>
      </p:sp>
      <p:sp>
        <p:nvSpPr>
          <p:cNvPr id="7" name="callout-number-1-248">
            <a:extLst xmlns:a="http://schemas.openxmlformats.org/drawingml/2006/main">
              <a:ext uri="{FF2B5EF4-FFF2-40B4-BE49-F238E27FC236}">
                <a16:creationId xmlns:a16="http://schemas.microsoft.com/office/drawing/2014/main" id="{3D817E73-343C-4584-8594-2BC48A2100AD}"/>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30EF40ED-2AA6-47C3-9680-7B0C73B7A796}"/>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Event reference</a:t>
            </a:r>
          </a:p>
        </p:txBody>
      </p:sp>
      <p:sp>
        <p:nvSpPr>
          <p:cNvPr id="9" name="callout-body-1-248">
            <a:extLst xmlns:a="http://schemas.openxmlformats.org/drawingml/2006/main">
              <a:ext uri="{FF2B5EF4-FFF2-40B4-BE49-F238E27FC236}">
                <a16:creationId xmlns:a16="http://schemas.microsoft.com/office/drawing/2014/main" id="{CABD2F50-CCB1-4EC7-9139-0C182C76F4C5}"/>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Namespace, kind, and ID name the creating event.</a:t>
            </a:r>
          </a:p>
        </p:txBody>
      </p:sp>
      <p:sp>
        <p:nvSpPr>
          <p:cNvPr id="10" name="callout-number-2-364">
            <a:extLst xmlns:a="http://schemas.openxmlformats.org/drawingml/2006/main">
              <a:ext uri="{FF2B5EF4-FFF2-40B4-BE49-F238E27FC236}">
                <a16:creationId xmlns:a16="http://schemas.microsoft.com/office/drawing/2014/main" id="{21C4E4D3-323F-4855-901C-D102E83D7FC1}"/>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45176438-EF60-4BEF-9BD7-85FC737B0B9C}"/>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Fallback</a:t>
            </a:r>
          </a:p>
        </p:txBody>
      </p:sp>
      <p:sp>
        <p:nvSpPr>
          <p:cNvPr id="12" name="callout-body-2-364">
            <a:extLst xmlns:a="http://schemas.openxmlformats.org/drawingml/2006/main">
              <a:ext uri="{FF2B5EF4-FFF2-40B4-BE49-F238E27FC236}">
                <a16:creationId xmlns:a16="http://schemas.microsoft.com/office/drawing/2014/main" id="{7D4D24C8-66CF-4C56-A495-7729DD67FC5F}"/>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Create a Session when no Session matches.</a:t>
            </a:r>
          </a:p>
        </p:txBody>
      </p:sp>
      <p:sp>
        <p:nvSpPr>
          <p:cNvPr id="13" name="issue-480">
            <a:extLst xmlns:a="http://schemas.openxmlformats.org/drawingml/2006/main">
              <a:ext uri="{FF2B5EF4-FFF2-40B4-BE49-F238E27FC236}">
                <a16:creationId xmlns:a16="http://schemas.microsoft.com/office/drawing/2014/main" id="{8B67F8A7-916C-4F9B-B07A-6ABA9BD4CD27}"/>
              </a:ext>
            </a:extLst>
          </p:cNvPr>
          <p:cNvSpPr>
            <a:spLocks xmlns:a="http://schemas.openxmlformats.org/drawingml/2006/main" noGrp="1"/>
          </p:cNvSpPr>
          <p:nvPr/>
        </p:nvSpPr>
        <p:spPr>
          <a:xfrm xmlns:a="http://schemas.openxmlformats.org/drawingml/2006/main">
            <a:off x="400050" y="5391150"/>
            <a:ext cx="3505200" cy="933450"/>
          </a:xfrm>
          <a:prstGeom xmlns:a="http://schemas.openxmlformats.org/drawingml/2006/main" prst="roundRect">
            <a:avLst>
              <a:gd name="adj" fmla="val 12245"/>
            </a:avLst>
          </a:prstGeom>
          <a:solidFill xmlns:a="http://schemas.openxmlformats.org/drawingml/2006/main">
            <a:srgbClr val="F8E8E5"/>
          </a:solidFill>
          <a:ln xmlns:a="http://schemas.openxmlformats.org/drawingml/2006/main" w="9525">
            <a:solidFill>
              <a:srgbClr val="E4A099"/>
            </a:solidFill>
          </a:ln>
        </p:spPr>
      </p:sp>
      <p:sp>
        <p:nvSpPr>
          <p:cNvPr id="14" name="issue-text-480">
            <a:extLst xmlns:a="http://schemas.openxmlformats.org/drawingml/2006/main">
              <a:ext uri="{FF2B5EF4-FFF2-40B4-BE49-F238E27FC236}">
                <a16:creationId xmlns:a16="http://schemas.microsoft.com/office/drawing/2014/main" id="{0CCC80AC-B3D2-43C0-ADC3-5619137DF5F5}"/>
              </a:ext>
            </a:extLst>
          </p:cNvPr>
          <p:cNvSpPr>
            <a:spLocks xmlns:a="http://schemas.openxmlformats.org/drawingml/2006/main" noGrp="1"/>
          </p:cNvSpPr>
          <p:nvPr/>
        </p:nvSpPr>
        <p:spPr>
          <a:xfrm xmlns:a="http://schemas.openxmlformats.org/drawingml/2006/main">
            <a:off x="552450" y="5562600"/>
            <a:ext cx="320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9E3328"/>
                </a:solidFill>
                <a:latin typeface="Arial"/>
                <a:ea typeface="Arial"/>
                <a:cs typeface="Arial"/>
              </a:defRPr>
            </a:pPr>
            <a:r>
              <a:rPr sz="1200" b="1">
                <a:solidFill>
                  <a:srgbClr val="9E3328"/>
                </a:solidFill>
                <a:latin typeface="Arial"/>
                <a:ea typeface="Arial"/>
                <a:cs typeface="Arial"/>
              </a:rPr>
              <a:t>Needs polish: checkbox size and label spacing are still uneven.</a:t>
            </a:r>
          </a:p>
        </p:txBody>
      </p:sp>
      <p:sp>
        <p:nvSpPr>
          <p:cNvPr id="15" name="frame-18-recorded-source-target.png">
            <a:extLst xmlns:a="http://schemas.openxmlformats.org/drawingml/2006/main">
              <a:ext uri="{FF2B5EF4-FFF2-40B4-BE49-F238E27FC236}">
                <a16:creationId xmlns:a16="http://schemas.microsoft.com/office/drawing/2014/main" id="{B57CEE5F-E1AA-4080-BFDD-D14B8C79562A}"/>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62f99186242c4fcd"/>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7" name="evidence-18-recorded-source-target.png">
            <a:extLst xmlns:a="http://schemas.openxmlformats.org/drawingml/2006/main">
              <a:ext uri="{FF2B5EF4-FFF2-40B4-BE49-F238E27FC236}">
                <a16:creationId xmlns:a16="http://schemas.microsoft.com/office/drawing/2014/main" id="{2B3B62C4-A1AC-4B61-BA65-D2A63272787C}"/>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8" name="evidence-text-18-recorded-source-target.png">
            <a:extLst xmlns:a="http://schemas.openxmlformats.org/drawingml/2006/main">
              <a:ext uri="{FF2B5EF4-FFF2-40B4-BE49-F238E27FC236}">
                <a16:creationId xmlns:a16="http://schemas.microsoft.com/office/drawing/2014/main" id="{B4492779-ECAB-4D0A-AB8F-010575A8A216}"/>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528507977"/>
      </p:ext>
    </p:extLst>
  </p:cSld>
</p:sld>
</file>

<file path=ppt/slides/slide1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13">
            <a:extLst xmlns:a="http://schemas.openxmlformats.org/drawingml/2006/main">
              <a:ext uri="{FF2B5EF4-FFF2-40B4-BE49-F238E27FC236}">
                <a16:creationId xmlns:a16="http://schemas.microsoft.com/office/drawing/2014/main" id="{30D1DA5C-AD5D-40D2-9EDA-312B308D3CCC}"/>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INSTANCE</a:t>
            </a:r>
          </a:p>
        </p:txBody>
      </p:sp>
      <p:sp>
        <p:nvSpPr>
          <p:cNvPr id="2" name="title-13">
            <a:extLst xmlns:a="http://schemas.openxmlformats.org/drawingml/2006/main">
              <a:ext uri="{FF2B5EF4-FFF2-40B4-BE49-F238E27FC236}">
                <a16:creationId xmlns:a16="http://schemas.microsoft.com/office/drawing/2014/main" id="{F4B61D57-CC15-4D39-81B2-8C67D076F635}"/>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Create Workflow instance</a:t>
            </a:r>
          </a:p>
        </p:txBody>
      </p:sp>
      <p:sp>
        <p:nvSpPr>
          <p:cNvPr id="3" name="number-13">
            <a:extLst xmlns:a="http://schemas.openxmlformats.org/drawingml/2006/main">
              <a:ext uri="{FF2B5EF4-FFF2-40B4-BE49-F238E27FC236}">
                <a16:creationId xmlns:a16="http://schemas.microsoft.com/office/drawing/2014/main" id="{8DB88904-17A7-4239-8E1B-87A98AA629A8}"/>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13</a:t>
            </a:r>
          </a:p>
        </p:txBody>
      </p:sp>
      <p:sp>
        <p:nvSpPr>
          <p:cNvPr id="4" name="callout-number-0-132">
            <a:extLst xmlns:a="http://schemas.openxmlformats.org/drawingml/2006/main">
              <a:ext uri="{FF2B5EF4-FFF2-40B4-BE49-F238E27FC236}">
                <a16:creationId xmlns:a16="http://schemas.microsoft.com/office/drawing/2014/main" id="{F2458C7C-90D4-4508-8A09-CCCC8D47284B}"/>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E4A66D92-C025-48A6-8248-FA7320DB5B18}"/>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Choose a saved Workflow</a:t>
            </a:r>
          </a:p>
        </p:txBody>
      </p:sp>
      <p:sp>
        <p:nvSpPr>
          <p:cNvPr id="6" name="callout-body-0-132">
            <a:extLst xmlns:a="http://schemas.openxmlformats.org/drawingml/2006/main">
              <a:ext uri="{FF2B5EF4-FFF2-40B4-BE49-F238E27FC236}">
                <a16:creationId xmlns:a16="http://schemas.microsoft.com/office/drawing/2014/main" id="{D8ABAE2B-9FD8-413E-B299-B9A8E65BE5D7}"/>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picker uses an active saved revision.</a:t>
            </a:r>
          </a:p>
        </p:txBody>
      </p:sp>
      <p:sp>
        <p:nvSpPr>
          <p:cNvPr id="7" name="callout-number-1-248">
            <a:extLst xmlns:a="http://schemas.openxmlformats.org/drawingml/2006/main">
              <a:ext uri="{FF2B5EF4-FFF2-40B4-BE49-F238E27FC236}">
                <a16:creationId xmlns:a16="http://schemas.microsoft.com/office/drawing/2014/main" id="{012B6670-EB8D-4D01-B036-F1A7F0BC96E1}"/>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15C4647F-E8BA-4BE1-9CC2-22C921AC39F2}"/>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Name the instance</a:t>
            </a:r>
          </a:p>
        </p:txBody>
      </p:sp>
      <p:sp>
        <p:nvSpPr>
          <p:cNvPr id="9" name="callout-body-1-248">
            <a:extLst xmlns:a="http://schemas.openxmlformats.org/drawingml/2006/main">
              <a:ext uri="{FF2B5EF4-FFF2-40B4-BE49-F238E27FC236}">
                <a16:creationId xmlns:a16="http://schemas.microsoft.com/office/drawing/2014/main" id="{2339A8B6-2ADF-40BC-97DB-A05F21A5D09E}"/>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run gets a clear name in the instance list.</a:t>
            </a:r>
          </a:p>
        </p:txBody>
      </p:sp>
      <p:sp>
        <p:nvSpPr>
          <p:cNvPr id="10" name="callout-number-2-364">
            <a:extLst xmlns:a="http://schemas.openxmlformats.org/drawingml/2006/main">
              <a:ext uri="{FF2B5EF4-FFF2-40B4-BE49-F238E27FC236}">
                <a16:creationId xmlns:a16="http://schemas.microsoft.com/office/drawing/2014/main" id="{94E7B163-9D46-47E3-90BB-B88520D0292D}"/>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24068467-B574-4857-AB9E-A15C503F0A53}"/>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Choose a worktree</a:t>
            </a:r>
          </a:p>
        </p:txBody>
      </p:sp>
      <p:sp>
        <p:nvSpPr>
          <p:cNvPr id="12" name="callout-body-2-364">
            <a:extLst xmlns:a="http://schemas.openxmlformats.org/drawingml/2006/main">
              <a:ext uri="{FF2B5EF4-FFF2-40B4-BE49-F238E27FC236}">
                <a16:creationId xmlns:a16="http://schemas.microsoft.com/office/drawing/2014/main" id="{62B1CB86-6A0C-48D8-AD67-1C0DE1BF1CC0}"/>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dialog states that creation does not start an agent.</a:t>
            </a:r>
          </a:p>
        </p:txBody>
      </p:sp>
      <p:sp>
        <p:nvSpPr>
          <p:cNvPr id="13" name="frame-09-create-instance.png">
            <a:extLst xmlns:a="http://schemas.openxmlformats.org/drawingml/2006/main">
              <a:ext uri="{FF2B5EF4-FFF2-40B4-BE49-F238E27FC236}">
                <a16:creationId xmlns:a16="http://schemas.microsoft.com/office/drawing/2014/main" id="{24CCCBE3-C731-43EB-954C-5DFBDBEA273D}"/>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3fd83e7a3b94296"/>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09-create-instance.png">
            <a:extLst xmlns:a="http://schemas.openxmlformats.org/drawingml/2006/main">
              <a:ext uri="{FF2B5EF4-FFF2-40B4-BE49-F238E27FC236}">
                <a16:creationId xmlns:a16="http://schemas.microsoft.com/office/drawing/2014/main" id="{F1875DF7-AC37-4E22-AC8F-9DEB5A9C2675}"/>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09-create-instance.png">
            <a:extLst xmlns:a="http://schemas.openxmlformats.org/drawingml/2006/main">
              <a:ext uri="{FF2B5EF4-FFF2-40B4-BE49-F238E27FC236}">
                <a16:creationId xmlns:a16="http://schemas.microsoft.com/office/drawing/2014/main" id="{7DC160B1-BB11-49A7-856E-D2A5436827BA}"/>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789314580"/>
      </p:ext>
    </p:extLst>
  </p:cSld>
</p:sld>
</file>

<file path=ppt/slides/slide1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14">
            <a:extLst xmlns:a="http://schemas.openxmlformats.org/drawingml/2006/main">
              <a:ext uri="{FF2B5EF4-FFF2-40B4-BE49-F238E27FC236}">
                <a16:creationId xmlns:a16="http://schemas.microsoft.com/office/drawing/2014/main" id="{AF6465DA-3C0B-4479-9CAA-DDDFA70B35B3}"/>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INSTANCE</a:t>
            </a:r>
          </a:p>
        </p:txBody>
      </p:sp>
      <p:sp>
        <p:nvSpPr>
          <p:cNvPr id="2" name="title-14">
            <a:extLst xmlns:a="http://schemas.openxmlformats.org/drawingml/2006/main">
              <a:ext uri="{FF2B5EF4-FFF2-40B4-BE49-F238E27FC236}">
                <a16:creationId xmlns:a16="http://schemas.microsoft.com/office/drawing/2014/main" id="{D2CB32F8-1E7B-4BC4-83BB-92A8EE2F7454}"/>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Saved Workflow instance</a:t>
            </a:r>
          </a:p>
        </p:txBody>
      </p:sp>
      <p:sp>
        <p:nvSpPr>
          <p:cNvPr id="3" name="number-14">
            <a:extLst xmlns:a="http://schemas.openxmlformats.org/drawingml/2006/main">
              <a:ext uri="{FF2B5EF4-FFF2-40B4-BE49-F238E27FC236}">
                <a16:creationId xmlns:a16="http://schemas.microsoft.com/office/drawing/2014/main" id="{784FF3C8-F750-44E0-BBEB-C3A2F22E6B42}"/>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14</a:t>
            </a:r>
          </a:p>
        </p:txBody>
      </p:sp>
      <p:sp>
        <p:nvSpPr>
          <p:cNvPr id="4" name="callout-number-0-132">
            <a:extLst xmlns:a="http://schemas.openxmlformats.org/drawingml/2006/main">
              <a:ext uri="{FF2B5EF4-FFF2-40B4-BE49-F238E27FC236}">
                <a16:creationId xmlns:a16="http://schemas.microsoft.com/office/drawing/2014/main" id="{889A7E74-24E1-49EB-87F9-4BF5D71B9C6E}"/>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CB8D949D-7D3E-4508-96D7-C396E45249EE}"/>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Pinned recipe</a:t>
            </a:r>
          </a:p>
        </p:txBody>
      </p:sp>
      <p:sp>
        <p:nvSpPr>
          <p:cNvPr id="6" name="callout-body-0-132">
            <a:extLst xmlns:a="http://schemas.openxmlformats.org/drawingml/2006/main">
              <a:ext uri="{FF2B5EF4-FFF2-40B4-BE49-F238E27FC236}">
                <a16:creationId xmlns:a16="http://schemas.microsoft.com/office/drawing/2014/main" id="{E791CE66-E03C-45AF-A427-0C3CBFC77837}"/>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header shows the saved Workflow revision and worktree.</a:t>
            </a:r>
          </a:p>
        </p:txBody>
      </p:sp>
      <p:sp>
        <p:nvSpPr>
          <p:cNvPr id="7" name="callout-number-1-248">
            <a:extLst xmlns:a="http://schemas.openxmlformats.org/drawingml/2006/main">
              <a:ext uri="{FF2B5EF4-FFF2-40B4-BE49-F238E27FC236}">
                <a16:creationId xmlns:a16="http://schemas.microsoft.com/office/drawing/2014/main" id="{94FB896A-2CC7-4B0D-BCC6-5764B3D7AD0C}"/>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6492E792-6B00-45A1-8CDD-85089B42A5BD}"/>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Send to a node</a:t>
            </a:r>
          </a:p>
        </p:txBody>
      </p:sp>
      <p:sp>
        <p:nvSpPr>
          <p:cNvPr id="9" name="callout-body-1-248">
            <a:extLst xmlns:a="http://schemas.openxmlformats.org/drawingml/2006/main">
              <a:ext uri="{FF2B5EF4-FFF2-40B4-BE49-F238E27FC236}">
                <a16:creationId xmlns:a16="http://schemas.microsoft.com/office/drawing/2014/main" id="{1CDE5451-202C-4824-AB22-384F3A5D491D}"/>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Choose a node and enter the request for that node.</a:t>
            </a:r>
          </a:p>
        </p:txBody>
      </p:sp>
      <p:sp>
        <p:nvSpPr>
          <p:cNvPr id="10" name="callout-number-2-364">
            <a:extLst xmlns:a="http://schemas.openxmlformats.org/drawingml/2006/main">
              <a:ext uri="{FF2B5EF4-FFF2-40B4-BE49-F238E27FC236}">
                <a16:creationId xmlns:a16="http://schemas.microsoft.com/office/drawing/2014/main" id="{80CD04B8-4E10-48D4-8B0B-522DB919398E}"/>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825C233C-9747-4561-B75D-BAFEBDAE9BBF}"/>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Session list</a:t>
            </a:r>
          </a:p>
        </p:txBody>
      </p:sp>
      <p:sp>
        <p:nvSpPr>
          <p:cNvPr id="12" name="callout-body-2-364">
            <a:extLst xmlns:a="http://schemas.openxmlformats.org/drawingml/2006/main">
              <a:ext uri="{FF2B5EF4-FFF2-40B4-BE49-F238E27FC236}">
                <a16:creationId xmlns:a16="http://schemas.microsoft.com/office/drawing/2014/main" id="{BA94BCCB-511F-4A04-8907-D2A277850D7E}"/>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Sessions created for the instance appear beside the request form.</a:t>
            </a:r>
          </a:p>
        </p:txBody>
      </p:sp>
      <p:sp>
        <p:nvSpPr>
          <p:cNvPr id="13" name="frame-10-saved-instance.png">
            <a:extLst xmlns:a="http://schemas.openxmlformats.org/drawingml/2006/main">
              <a:ext uri="{FF2B5EF4-FFF2-40B4-BE49-F238E27FC236}">
                <a16:creationId xmlns:a16="http://schemas.microsoft.com/office/drawing/2014/main" id="{8FAFC4B8-9402-424E-872F-50178F24EB4A}"/>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aa4c237674154ff8"/>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10-saved-instance.png">
            <a:extLst xmlns:a="http://schemas.openxmlformats.org/drawingml/2006/main">
              <a:ext uri="{FF2B5EF4-FFF2-40B4-BE49-F238E27FC236}">
                <a16:creationId xmlns:a16="http://schemas.microsoft.com/office/drawing/2014/main" id="{077849C3-5485-4B31-8096-BB9BC47EDF0D}"/>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10-saved-instance.png">
            <a:extLst xmlns:a="http://schemas.openxmlformats.org/drawingml/2006/main">
              <a:ext uri="{FF2B5EF4-FFF2-40B4-BE49-F238E27FC236}">
                <a16:creationId xmlns:a16="http://schemas.microsoft.com/office/drawing/2014/main" id="{428A7FE9-48DD-4744-AD20-46F9AE9F8052}"/>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324732789"/>
      </p:ext>
    </p:extLst>
  </p:cSld>
</p:sld>
</file>

<file path=ppt/slides/slide1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15">
            <a:extLst xmlns:a="http://schemas.openxmlformats.org/drawingml/2006/main">
              <a:ext uri="{FF2B5EF4-FFF2-40B4-BE49-F238E27FC236}">
                <a16:creationId xmlns:a16="http://schemas.microsoft.com/office/drawing/2014/main" id="{4564D14E-3C0C-4C90-9073-760E84983764}"/>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WORKFLOW INSTANCE</a:t>
            </a:r>
          </a:p>
        </p:txBody>
      </p:sp>
      <p:sp>
        <p:nvSpPr>
          <p:cNvPr id="2" name="title-15">
            <a:extLst xmlns:a="http://schemas.openxmlformats.org/drawingml/2006/main">
              <a:ext uri="{FF2B5EF4-FFF2-40B4-BE49-F238E27FC236}">
                <a16:creationId xmlns:a16="http://schemas.microsoft.com/office/drawing/2014/main" id="{1F434CAF-A046-49B2-8D78-38D84BE900F1}"/>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Session inside an instance</a:t>
            </a:r>
          </a:p>
        </p:txBody>
      </p:sp>
      <p:sp>
        <p:nvSpPr>
          <p:cNvPr id="3" name="number-15">
            <a:extLst xmlns:a="http://schemas.openxmlformats.org/drawingml/2006/main">
              <a:ext uri="{FF2B5EF4-FFF2-40B4-BE49-F238E27FC236}">
                <a16:creationId xmlns:a16="http://schemas.microsoft.com/office/drawing/2014/main" id="{423CC006-CB5C-4BC0-91C5-0601CFE888F3}"/>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15</a:t>
            </a:r>
          </a:p>
        </p:txBody>
      </p:sp>
      <p:sp>
        <p:nvSpPr>
          <p:cNvPr id="4" name="callout-number-0-132">
            <a:extLst xmlns:a="http://schemas.openxmlformats.org/drawingml/2006/main">
              <a:ext uri="{FF2B5EF4-FFF2-40B4-BE49-F238E27FC236}">
                <a16:creationId xmlns:a16="http://schemas.microsoft.com/office/drawing/2014/main" id="{24D6619D-826A-462E-AFAA-3E649371C418}"/>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C649AAE7-AAE3-4A14-8DDA-86A8D7574825}"/>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Workflow context stays open</a:t>
            </a:r>
          </a:p>
        </p:txBody>
      </p:sp>
      <p:sp>
        <p:nvSpPr>
          <p:cNvPr id="6" name="callout-body-0-132">
            <a:extLst xmlns:a="http://schemas.openxmlformats.org/drawingml/2006/main">
              <a:ext uri="{FF2B5EF4-FFF2-40B4-BE49-F238E27FC236}">
                <a16:creationId xmlns:a16="http://schemas.microsoft.com/office/drawing/2014/main" id="{45B766F0-6189-4F57-B4B9-6E807D348242}"/>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instance and node request remain on the left.</a:t>
            </a:r>
          </a:p>
        </p:txBody>
      </p:sp>
      <p:sp>
        <p:nvSpPr>
          <p:cNvPr id="7" name="callout-number-1-248">
            <a:extLst xmlns:a="http://schemas.openxmlformats.org/drawingml/2006/main">
              <a:ext uri="{FF2B5EF4-FFF2-40B4-BE49-F238E27FC236}">
                <a16:creationId xmlns:a16="http://schemas.microsoft.com/office/drawing/2014/main" id="{2C45CAA2-9BE6-4F6F-BE7D-F8BBC8A45FF4}"/>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7AADEF10-E000-47E3-B525-A1D23B4F92A5}"/>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Session opens on the right</a:t>
            </a:r>
          </a:p>
        </p:txBody>
      </p:sp>
      <p:sp>
        <p:nvSpPr>
          <p:cNvPr id="9" name="callout-body-1-248">
            <a:extLst xmlns:a="http://schemas.openxmlformats.org/drawingml/2006/main">
              <a:ext uri="{FF2B5EF4-FFF2-40B4-BE49-F238E27FC236}">
                <a16:creationId xmlns:a16="http://schemas.microsoft.com/office/drawing/2014/main" id="{8B41B837-F185-47FB-81A1-3FDD6A53205E}"/>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selected Session shows its identity and conversation.</a:t>
            </a:r>
          </a:p>
        </p:txBody>
      </p:sp>
      <p:sp>
        <p:nvSpPr>
          <p:cNvPr id="10" name="callout-number-2-364">
            <a:extLst xmlns:a="http://schemas.openxmlformats.org/drawingml/2006/main">
              <a:ext uri="{FF2B5EF4-FFF2-40B4-BE49-F238E27FC236}">
                <a16:creationId xmlns:a16="http://schemas.microsoft.com/office/drawing/2014/main" id="{3FFD68D2-5A0B-4FCE-AAE2-29098932628C}"/>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D9590D76-19DA-4700-9E85-65F2BB28DFC4}"/>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Back returns to the last view</a:t>
            </a:r>
          </a:p>
        </p:txBody>
      </p:sp>
      <p:sp>
        <p:nvSpPr>
          <p:cNvPr id="12" name="callout-body-2-364">
            <a:extLst xmlns:a="http://schemas.openxmlformats.org/drawingml/2006/main">
              <a:ext uri="{FF2B5EF4-FFF2-40B4-BE49-F238E27FC236}">
                <a16:creationId xmlns:a16="http://schemas.microsoft.com/office/drawing/2014/main" id="{F4AD22C4-92D9-446C-832B-77D5825888AB}"/>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product navigation keeps this as one joined flow.</a:t>
            </a:r>
          </a:p>
        </p:txBody>
      </p:sp>
      <p:sp>
        <p:nvSpPr>
          <p:cNvPr id="13" name="frame-11-instance-session.png">
            <a:extLst xmlns:a="http://schemas.openxmlformats.org/drawingml/2006/main">
              <a:ext uri="{FF2B5EF4-FFF2-40B4-BE49-F238E27FC236}">
                <a16:creationId xmlns:a16="http://schemas.microsoft.com/office/drawing/2014/main" id="{646994F5-D93A-4D4B-98AB-ADFFAA54C19C}"/>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881de121289a47ed"/>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11-instance-session.png">
            <a:extLst xmlns:a="http://schemas.openxmlformats.org/drawingml/2006/main">
              <a:ext uri="{FF2B5EF4-FFF2-40B4-BE49-F238E27FC236}">
                <a16:creationId xmlns:a16="http://schemas.microsoft.com/office/drawing/2014/main" id="{E690CD82-E996-4F78-8C5E-B02D6742C97A}"/>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11-instance-session.png">
            <a:extLst xmlns:a="http://schemas.openxmlformats.org/drawingml/2006/main">
              <a:ext uri="{FF2B5EF4-FFF2-40B4-BE49-F238E27FC236}">
                <a16:creationId xmlns:a16="http://schemas.microsoft.com/office/drawing/2014/main" id="{7D6E51F7-674D-45E4-AF0A-B5D1C3E9225E}"/>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764525720"/>
      </p:ext>
    </p:extLst>
  </p:cSld>
</p:sld>
</file>

<file path=ppt/slides/slide1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9" name="section-16">
            <a:extLst xmlns:a="http://schemas.openxmlformats.org/drawingml/2006/main">
              <a:ext uri="{FF2B5EF4-FFF2-40B4-BE49-F238E27FC236}">
                <a16:creationId xmlns:a16="http://schemas.microsoft.com/office/drawing/2014/main" id="{70048C88-6BD1-402F-A07E-97033C6639CB}"/>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AGENT SESSION</a:t>
            </a:r>
          </a:p>
        </p:txBody>
      </p:sp>
      <p:sp>
        <p:nvSpPr>
          <p:cNvPr id="2" name="title-16">
            <a:extLst xmlns:a="http://schemas.openxmlformats.org/drawingml/2006/main">
              <a:ext uri="{FF2B5EF4-FFF2-40B4-BE49-F238E27FC236}">
                <a16:creationId xmlns:a16="http://schemas.microsoft.com/office/drawing/2014/main" id="{A9C561FC-5394-4253-8421-938B6A098F30}"/>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Direct message controls</a:t>
            </a:r>
          </a:p>
        </p:txBody>
      </p:sp>
      <p:sp>
        <p:nvSpPr>
          <p:cNvPr id="3" name="number-16">
            <a:extLst xmlns:a="http://schemas.openxmlformats.org/drawingml/2006/main">
              <a:ext uri="{FF2B5EF4-FFF2-40B4-BE49-F238E27FC236}">
                <a16:creationId xmlns:a16="http://schemas.microsoft.com/office/drawing/2014/main" id="{B5B36239-147D-467C-893B-7E405C8FAD75}"/>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16</a:t>
            </a:r>
          </a:p>
        </p:txBody>
      </p:sp>
      <p:sp>
        <p:nvSpPr>
          <p:cNvPr id="4" name="callout-number-0-132">
            <a:extLst xmlns:a="http://schemas.openxmlformats.org/drawingml/2006/main">
              <a:ext uri="{FF2B5EF4-FFF2-40B4-BE49-F238E27FC236}">
                <a16:creationId xmlns:a16="http://schemas.microsoft.com/office/drawing/2014/main" id="{AB7799AC-D9AB-4350-832A-C2F34E46D2C3}"/>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446A23C8-4840-4667-9C18-960048E74F5A}"/>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Next message only</a:t>
            </a:r>
          </a:p>
        </p:txBody>
      </p:sp>
      <p:sp>
        <p:nvSpPr>
          <p:cNvPr id="6" name="callout-body-0-132">
            <a:extLst xmlns:a="http://schemas.openxmlformats.org/drawingml/2006/main">
              <a:ext uri="{FF2B5EF4-FFF2-40B4-BE49-F238E27FC236}">
                <a16:creationId xmlns:a16="http://schemas.microsoft.com/office/drawing/2014/main" id="{CD361852-3FB4-4EAE-B39B-45A95FBD5339}"/>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Model and reasoning choices apply to one direct user message.</a:t>
            </a:r>
          </a:p>
        </p:txBody>
      </p:sp>
      <p:sp>
        <p:nvSpPr>
          <p:cNvPr id="7" name="callout-number-1-248">
            <a:extLst xmlns:a="http://schemas.openxmlformats.org/drawingml/2006/main">
              <a:ext uri="{FF2B5EF4-FFF2-40B4-BE49-F238E27FC236}">
                <a16:creationId xmlns:a16="http://schemas.microsoft.com/office/drawing/2014/main" id="{36B87BA5-A85C-4EEB-95F3-3C6D48736FA3}"/>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CDD198CC-1E66-470F-8235-DE8EFF7D94C0}"/>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Pinned Session profile</a:t>
            </a:r>
          </a:p>
        </p:txBody>
      </p:sp>
      <p:sp>
        <p:nvSpPr>
          <p:cNvPr id="9" name="callout-body-1-248">
            <a:extLst xmlns:a="http://schemas.openxmlformats.org/drawingml/2006/main">
              <a:ext uri="{FF2B5EF4-FFF2-40B4-BE49-F238E27FC236}">
                <a16:creationId xmlns:a16="http://schemas.microsoft.com/office/drawing/2014/main" id="{DE943458-A806-4754-A91A-A8635070CF28}"/>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resolved runtime, profile revision, and digest are read only.</a:t>
            </a:r>
          </a:p>
        </p:txBody>
      </p:sp>
      <p:sp>
        <p:nvSpPr>
          <p:cNvPr id="10" name="callout-number-2-364">
            <a:extLst xmlns:a="http://schemas.openxmlformats.org/drawingml/2006/main">
              <a:ext uri="{FF2B5EF4-FFF2-40B4-BE49-F238E27FC236}">
                <a16:creationId xmlns:a16="http://schemas.microsoft.com/office/drawing/2014/main" id="{A04C9CA3-961F-47C6-A466-ECB286894B29}"/>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963EEA9E-E2F2-4A9E-B440-E9803DB1CD0E}"/>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Workflow messages stay pinned</a:t>
            </a:r>
          </a:p>
        </p:txBody>
      </p:sp>
      <p:sp>
        <p:nvSpPr>
          <p:cNvPr id="12" name="callout-body-2-364">
            <a:extLst xmlns:a="http://schemas.openxmlformats.org/drawingml/2006/main">
              <a:ext uri="{FF2B5EF4-FFF2-40B4-BE49-F238E27FC236}">
                <a16:creationId xmlns:a16="http://schemas.microsoft.com/office/drawing/2014/main" id="{B86D44DE-7B77-4B79-83F0-14DAAE983D89}"/>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They continue to use the node defaults.</a:t>
            </a:r>
          </a:p>
        </p:txBody>
      </p:sp>
      <p:sp>
        <p:nvSpPr>
          <p:cNvPr id="13" name="issue-480">
            <a:extLst xmlns:a="http://schemas.openxmlformats.org/drawingml/2006/main">
              <a:ext uri="{FF2B5EF4-FFF2-40B4-BE49-F238E27FC236}">
                <a16:creationId xmlns:a16="http://schemas.microsoft.com/office/drawing/2014/main" id="{54ADCC7D-8ED8-4D36-B981-785B9C838156}"/>
              </a:ext>
            </a:extLst>
          </p:cNvPr>
          <p:cNvSpPr>
            <a:spLocks xmlns:a="http://schemas.openxmlformats.org/drawingml/2006/main" noGrp="1"/>
          </p:cNvSpPr>
          <p:nvPr/>
        </p:nvSpPr>
        <p:spPr>
          <a:xfrm xmlns:a="http://schemas.openxmlformats.org/drawingml/2006/main">
            <a:off x="400050" y="5391150"/>
            <a:ext cx="3505200" cy="933450"/>
          </a:xfrm>
          <a:prstGeom xmlns:a="http://schemas.openxmlformats.org/drawingml/2006/main" prst="roundRect">
            <a:avLst>
              <a:gd name="adj" fmla="val 12245"/>
            </a:avLst>
          </a:prstGeom>
          <a:solidFill xmlns:a="http://schemas.openxmlformats.org/drawingml/2006/main">
            <a:srgbClr val="F8E8E5"/>
          </a:solidFill>
          <a:ln xmlns:a="http://schemas.openxmlformats.org/drawingml/2006/main" w="9525">
            <a:solidFill>
              <a:srgbClr val="E4A099"/>
            </a:solidFill>
          </a:ln>
        </p:spPr>
      </p:sp>
      <p:sp>
        <p:nvSpPr>
          <p:cNvPr id="14" name="issue-text-480">
            <a:extLst xmlns:a="http://schemas.openxmlformats.org/drawingml/2006/main">
              <a:ext uri="{FF2B5EF4-FFF2-40B4-BE49-F238E27FC236}">
                <a16:creationId xmlns:a16="http://schemas.microsoft.com/office/drawing/2014/main" id="{8E553C54-5BE1-449B-B7AA-568E394C69C7}"/>
              </a:ext>
            </a:extLst>
          </p:cNvPr>
          <p:cNvSpPr>
            <a:spLocks xmlns:a="http://schemas.openxmlformats.org/drawingml/2006/main" noGrp="1"/>
          </p:cNvSpPr>
          <p:nvPr/>
        </p:nvSpPr>
        <p:spPr>
          <a:xfrm xmlns:a="http://schemas.openxmlformats.org/drawingml/2006/main">
            <a:off x="552450" y="5562600"/>
            <a:ext cx="320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9E3328"/>
                </a:solidFill>
                <a:latin typeface="Arial"/>
                <a:ea typeface="Arial"/>
                <a:cs typeface="Arial"/>
              </a:defRPr>
            </a:pPr>
            <a:r>
              <a:rPr sz="1200" b="1">
                <a:solidFill>
                  <a:srgbClr val="9E3328"/>
                </a:solidFill>
                <a:latin typeface="Arial"/>
                <a:ea typeface="Arial"/>
                <a:cs typeface="Arial"/>
              </a:rPr>
              <a:t>Needs polish: the conversation card overlaps the open settings at this width.</a:t>
            </a:r>
          </a:p>
        </p:txBody>
      </p:sp>
      <p:sp>
        <p:nvSpPr>
          <p:cNvPr id="15" name="frame-07-session-settings.png">
            <a:extLst xmlns:a="http://schemas.openxmlformats.org/drawingml/2006/main">
              <a:ext uri="{FF2B5EF4-FFF2-40B4-BE49-F238E27FC236}">
                <a16:creationId xmlns:a16="http://schemas.microsoft.com/office/drawing/2014/main" id="{70A8679F-35FF-4CEE-ADD1-E5CBBBD0AC63}"/>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c11ac953ff064022"/>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7" name="evidence-07-session-settings.png">
            <a:extLst xmlns:a="http://schemas.openxmlformats.org/drawingml/2006/main">
              <a:ext uri="{FF2B5EF4-FFF2-40B4-BE49-F238E27FC236}">
                <a16:creationId xmlns:a16="http://schemas.microsoft.com/office/drawing/2014/main" id="{3D8A88E9-151F-4196-9D52-4D63451EA506}"/>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8" name="evidence-text-07-session-settings.png">
            <a:extLst xmlns:a="http://schemas.openxmlformats.org/drawingml/2006/main">
              <a:ext uri="{FF2B5EF4-FFF2-40B4-BE49-F238E27FC236}">
                <a16:creationId xmlns:a16="http://schemas.microsoft.com/office/drawing/2014/main" id="{6FD0AAB3-D8CF-4D0F-A20F-D1457EA0A119}"/>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214911365"/>
      </p:ext>
    </p:extLst>
  </p:cSld>
</p:sld>
</file>

<file path=ppt/slides/slide1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9" name="section-17">
            <a:extLst xmlns:a="http://schemas.openxmlformats.org/drawingml/2006/main">
              <a:ext uri="{FF2B5EF4-FFF2-40B4-BE49-F238E27FC236}">
                <a16:creationId xmlns:a16="http://schemas.microsoft.com/office/drawing/2014/main" id="{938C665D-CCB3-4B9D-9526-8F9CCBE142F0}"/>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AGENT SESSION</a:t>
            </a:r>
          </a:p>
        </p:txBody>
      </p:sp>
      <p:sp>
        <p:nvSpPr>
          <p:cNvPr id="2" name="title-17">
            <a:extLst xmlns:a="http://schemas.openxmlformats.org/drawingml/2006/main">
              <a:ext uri="{FF2B5EF4-FFF2-40B4-BE49-F238E27FC236}">
                <a16:creationId xmlns:a16="http://schemas.microsoft.com/office/drawing/2014/main" id="{0730878D-EE48-480C-828E-3EC6BC946098}"/>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Session profile details</a:t>
            </a:r>
          </a:p>
        </p:txBody>
      </p:sp>
      <p:sp>
        <p:nvSpPr>
          <p:cNvPr id="3" name="number-17">
            <a:extLst xmlns:a="http://schemas.openxmlformats.org/drawingml/2006/main">
              <a:ext uri="{FF2B5EF4-FFF2-40B4-BE49-F238E27FC236}">
                <a16:creationId xmlns:a16="http://schemas.microsoft.com/office/drawing/2014/main" id="{69010EE7-803E-46DB-B5B5-683DFE6FE038}"/>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17</a:t>
            </a:r>
          </a:p>
        </p:txBody>
      </p:sp>
      <p:sp>
        <p:nvSpPr>
          <p:cNvPr id="4" name="callout-number-0-132">
            <a:extLst xmlns:a="http://schemas.openxmlformats.org/drawingml/2006/main">
              <a:ext uri="{FF2B5EF4-FFF2-40B4-BE49-F238E27FC236}">
                <a16:creationId xmlns:a16="http://schemas.microsoft.com/office/drawing/2014/main" id="{2FDC93CA-17FC-4E40-86D9-739240D60780}"/>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92E8D5E4-8FB4-49E5-9DCF-FC808EA5A073}"/>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Pinned defaults</a:t>
            </a:r>
          </a:p>
        </p:txBody>
      </p:sp>
      <p:sp>
        <p:nvSpPr>
          <p:cNvPr id="6" name="callout-body-0-132">
            <a:extLst xmlns:a="http://schemas.openxmlformats.org/drawingml/2006/main">
              <a:ext uri="{FF2B5EF4-FFF2-40B4-BE49-F238E27FC236}">
                <a16:creationId xmlns:a16="http://schemas.microsoft.com/office/drawing/2014/main" id="{559811B1-13E8-42E0-9864-9AD4F51EE97A}"/>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Model, reasoning, and sandbox show their node source.</a:t>
            </a:r>
          </a:p>
        </p:txBody>
      </p:sp>
      <p:sp>
        <p:nvSpPr>
          <p:cNvPr id="7" name="callout-number-1-248">
            <a:extLst xmlns:a="http://schemas.openxmlformats.org/drawingml/2006/main">
              <a:ext uri="{FF2B5EF4-FFF2-40B4-BE49-F238E27FC236}">
                <a16:creationId xmlns:a16="http://schemas.microsoft.com/office/drawing/2014/main" id="{DC8E0589-810A-4FD6-981C-F53797FD02D6}"/>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528BAF06-CB67-4095-B388-F05F683D476B}"/>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Node capabilities</a:t>
            </a:r>
          </a:p>
        </p:txBody>
      </p:sp>
      <p:sp>
        <p:nvSpPr>
          <p:cNvPr id="9" name="callout-body-1-248">
            <a:extLst xmlns:a="http://schemas.openxmlformats.org/drawingml/2006/main">
              <a:ext uri="{FF2B5EF4-FFF2-40B4-BE49-F238E27FC236}">
                <a16:creationId xmlns:a16="http://schemas.microsoft.com/office/drawing/2014/main" id="{7EF6A87E-CA73-4E06-AD30-CACED5D07B48}"/>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Session shows what Workflow messages may use.</a:t>
            </a:r>
          </a:p>
        </p:txBody>
      </p:sp>
      <p:sp>
        <p:nvSpPr>
          <p:cNvPr id="10" name="callout-number-2-364">
            <a:extLst xmlns:a="http://schemas.openxmlformats.org/drawingml/2006/main">
              <a:ext uri="{FF2B5EF4-FFF2-40B4-BE49-F238E27FC236}">
                <a16:creationId xmlns:a16="http://schemas.microsoft.com/office/drawing/2014/main" id="{D2CDDC72-02E8-447F-A573-96E809458EB8}"/>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346B7F34-C08A-44E4-9FF1-EED2417FCB8F}"/>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Runtime and deliveries</a:t>
            </a:r>
          </a:p>
        </p:txBody>
      </p:sp>
      <p:sp>
        <p:nvSpPr>
          <p:cNvPr id="12" name="callout-body-2-364">
            <a:extLst xmlns:a="http://schemas.openxmlformats.org/drawingml/2006/main">
              <a:ext uri="{FF2B5EF4-FFF2-40B4-BE49-F238E27FC236}">
                <a16:creationId xmlns:a16="http://schemas.microsoft.com/office/drawing/2014/main" id="{2B401608-1F39-491A-8E5D-616CCCEFA761}"/>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Both have separate collapsible sections below.</a:t>
            </a:r>
          </a:p>
        </p:txBody>
      </p:sp>
      <p:sp>
        <p:nvSpPr>
          <p:cNvPr id="13" name="issue-480">
            <a:extLst xmlns:a="http://schemas.openxmlformats.org/drawingml/2006/main">
              <a:ext uri="{FF2B5EF4-FFF2-40B4-BE49-F238E27FC236}">
                <a16:creationId xmlns:a16="http://schemas.microsoft.com/office/drawing/2014/main" id="{E6CBF658-CB94-4073-AB77-168495CCC930}"/>
              </a:ext>
            </a:extLst>
          </p:cNvPr>
          <p:cNvSpPr>
            <a:spLocks xmlns:a="http://schemas.openxmlformats.org/drawingml/2006/main" noGrp="1"/>
          </p:cNvSpPr>
          <p:nvPr/>
        </p:nvSpPr>
        <p:spPr>
          <a:xfrm xmlns:a="http://schemas.openxmlformats.org/drawingml/2006/main">
            <a:off x="400050" y="5391150"/>
            <a:ext cx="3505200" cy="933450"/>
          </a:xfrm>
          <a:prstGeom xmlns:a="http://schemas.openxmlformats.org/drawingml/2006/main" prst="roundRect">
            <a:avLst>
              <a:gd name="adj" fmla="val 12245"/>
            </a:avLst>
          </a:prstGeom>
          <a:solidFill xmlns:a="http://schemas.openxmlformats.org/drawingml/2006/main">
            <a:srgbClr val="F8E8E5"/>
          </a:solidFill>
          <a:ln xmlns:a="http://schemas.openxmlformats.org/drawingml/2006/main" w="9525">
            <a:solidFill>
              <a:srgbClr val="E4A099"/>
            </a:solidFill>
          </a:ln>
        </p:spPr>
      </p:sp>
      <p:sp>
        <p:nvSpPr>
          <p:cNvPr id="14" name="issue-text-480">
            <a:extLst xmlns:a="http://schemas.openxmlformats.org/drawingml/2006/main">
              <a:ext uri="{FF2B5EF4-FFF2-40B4-BE49-F238E27FC236}">
                <a16:creationId xmlns:a16="http://schemas.microsoft.com/office/drawing/2014/main" id="{775B1ABA-FD49-4CCC-A48C-7E69C011B467}"/>
              </a:ext>
            </a:extLst>
          </p:cNvPr>
          <p:cNvSpPr>
            <a:spLocks xmlns:a="http://schemas.openxmlformats.org/drawingml/2006/main" noGrp="1"/>
          </p:cNvSpPr>
          <p:nvPr/>
        </p:nvSpPr>
        <p:spPr>
          <a:xfrm xmlns:a="http://schemas.openxmlformats.org/drawingml/2006/main">
            <a:off x="552450" y="5562600"/>
            <a:ext cx="320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9E3328"/>
                </a:solidFill>
                <a:latin typeface="Arial"/>
                <a:ea typeface="Arial"/>
                <a:cs typeface="Arial"/>
              </a:defRPr>
            </a:pPr>
            <a:r>
              <a:rPr sz="1200" b="1">
                <a:solidFill>
                  <a:srgbClr val="9E3328"/>
                </a:solidFill>
                <a:latin typeface="Arial"/>
                <a:ea typeface="Arial"/>
                <a:cs typeface="Arial"/>
              </a:rPr>
              <a:t>Needs polish: fixed conversation content covers the lower profile sections.</a:t>
            </a:r>
          </a:p>
        </p:txBody>
      </p:sp>
      <p:sp>
        <p:nvSpPr>
          <p:cNvPr id="15" name="frame-13-session-runtime-and-deliveries.png">
            <a:extLst xmlns:a="http://schemas.openxmlformats.org/drawingml/2006/main">
              <a:ext uri="{FF2B5EF4-FFF2-40B4-BE49-F238E27FC236}">
                <a16:creationId xmlns:a16="http://schemas.microsoft.com/office/drawing/2014/main" id="{3F5EF674-1F6B-43FA-9F06-F3361CAA64EE}"/>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d26f7ba8982b4bc6"/>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7" name="evidence-13-session-runtime-and-deliveries.png">
            <a:extLst xmlns:a="http://schemas.openxmlformats.org/drawingml/2006/main">
              <a:ext uri="{FF2B5EF4-FFF2-40B4-BE49-F238E27FC236}">
                <a16:creationId xmlns:a16="http://schemas.microsoft.com/office/drawing/2014/main" id="{FDD3100F-280B-4EBA-B247-DB82E543E85E}"/>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8" name="evidence-text-13-session-runtime-and-deliveries.png">
            <a:extLst xmlns:a="http://schemas.openxmlformats.org/drawingml/2006/main">
              <a:ext uri="{FF2B5EF4-FFF2-40B4-BE49-F238E27FC236}">
                <a16:creationId xmlns:a16="http://schemas.microsoft.com/office/drawing/2014/main" id="{BDCB03CA-340E-40BD-8DC1-3731023DE632}"/>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431494780"/>
      </p:ext>
    </p:extLst>
  </p:cSld>
</p:sld>
</file>

<file path=ppt/slides/slide1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9" name="section-18">
            <a:extLst xmlns:a="http://schemas.openxmlformats.org/drawingml/2006/main">
              <a:ext uri="{FF2B5EF4-FFF2-40B4-BE49-F238E27FC236}">
                <a16:creationId xmlns:a16="http://schemas.microsoft.com/office/drawing/2014/main" id="{0FBE94A3-2523-4FF2-B6A0-EE02162DA9A1}"/>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SESSION EVENT</a:t>
            </a:r>
          </a:p>
        </p:txBody>
      </p:sp>
      <p:sp>
        <p:nvSpPr>
          <p:cNvPr id="2" name="title-18">
            <a:extLst xmlns:a="http://schemas.openxmlformats.org/drawingml/2006/main">
              <a:ext uri="{FF2B5EF4-FFF2-40B4-BE49-F238E27FC236}">
                <a16:creationId xmlns:a16="http://schemas.microsoft.com/office/drawing/2014/main" id="{F7452984-3B15-40A4-BCDB-F4EF8A6D26F4}"/>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Delivery details</a:t>
            </a:r>
          </a:p>
        </p:txBody>
      </p:sp>
      <p:sp>
        <p:nvSpPr>
          <p:cNvPr id="3" name="number-18">
            <a:extLst xmlns:a="http://schemas.openxmlformats.org/drawingml/2006/main">
              <a:ext uri="{FF2B5EF4-FFF2-40B4-BE49-F238E27FC236}">
                <a16:creationId xmlns:a16="http://schemas.microsoft.com/office/drawing/2014/main" id="{C12B7491-A93D-4898-8ABE-5A858F33F0BB}"/>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18</a:t>
            </a:r>
          </a:p>
        </p:txBody>
      </p:sp>
      <p:sp>
        <p:nvSpPr>
          <p:cNvPr id="4" name="callout-number-0-132">
            <a:extLst xmlns:a="http://schemas.openxmlformats.org/drawingml/2006/main">
              <a:ext uri="{FF2B5EF4-FFF2-40B4-BE49-F238E27FC236}">
                <a16:creationId xmlns:a16="http://schemas.microsoft.com/office/drawing/2014/main" id="{77E9A0BE-2E86-4522-9EAA-2786989018D9}"/>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1EBF44A5-0A17-4C2D-87FE-46C33A6EFDF0}"/>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Delivery status</a:t>
            </a:r>
          </a:p>
        </p:txBody>
      </p:sp>
      <p:sp>
        <p:nvSpPr>
          <p:cNvPr id="6" name="callout-body-0-132">
            <a:extLst xmlns:a="http://schemas.openxmlformats.org/drawingml/2006/main">
              <a:ext uri="{FF2B5EF4-FFF2-40B4-BE49-F238E27FC236}">
                <a16:creationId xmlns:a16="http://schemas.microsoft.com/office/drawing/2014/main" id="{4F794D28-8F29-4E75-82D8-F4DBBC4629F6}"/>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card shows that the request was dispatched.</a:t>
            </a:r>
          </a:p>
        </p:txBody>
      </p:sp>
      <p:sp>
        <p:nvSpPr>
          <p:cNvPr id="7" name="callout-number-1-248">
            <a:extLst xmlns:a="http://schemas.openxmlformats.org/drawingml/2006/main">
              <a:ext uri="{FF2B5EF4-FFF2-40B4-BE49-F238E27FC236}">
                <a16:creationId xmlns:a16="http://schemas.microsoft.com/office/drawing/2014/main" id="{E4AA9753-F546-44D7-B6EA-5389868182FA}"/>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5DAB28DC-1C5F-42AF-9E62-C266FA042C4A}"/>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Recorded fields</a:t>
            </a:r>
          </a:p>
        </p:txBody>
      </p:sp>
      <p:sp>
        <p:nvSpPr>
          <p:cNvPr id="9" name="callout-body-1-248">
            <a:extLst xmlns:a="http://schemas.openxmlformats.org/drawingml/2006/main">
              <a:ext uri="{FF2B5EF4-FFF2-40B4-BE49-F238E27FC236}">
                <a16:creationId xmlns:a16="http://schemas.microsoft.com/office/drawing/2014/main" id="{52306ED7-0BD3-4BC9-B27F-99A71CE2CB57}"/>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Target, creation, sequence, and invocation are kept together.</a:t>
            </a:r>
          </a:p>
        </p:txBody>
      </p:sp>
      <p:sp>
        <p:nvSpPr>
          <p:cNvPr id="10" name="callout-number-2-364">
            <a:extLst xmlns:a="http://schemas.openxmlformats.org/drawingml/2006/main">
              <a:ext uri="{FF2B5EF4-FFF2-40B4-BE49-F238E27FC236}">
                <a16:creationId xmlns:a16="http://schemas.microsoft.com/office/drawing/2014/main" id="{CE20549D-5562-41BA-AC1D-0B4890135BB0}"/>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269F9B12-CD41-41DB-831C-8F7B31BC3F07}"/>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Grouped with the instance</a:t>
            </a:r>
          </a:p>
        </p:txBody>
      </p:sp>
      <p:sp>
        <p:nvSpPr>
          <p:cNvPr id="12" name="callout-body-2-364">
            <a:extLst xmlns:a="http://schemas.openxmlformats.org/drawingml/2006/main">
              <a:ext uri="{FF2B5EF4-FFF2-40B4-BE49-F238E27FC236}">
                <a16:creationId xmlns:a16="http://schemas.microsoft.com/office/drawing/2014/main" id="{C39E3CD7-3C60-4137-9512-6A77CE4466E9}"/>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delivery sits beside the Session it addressed.</a:t>
            </a:r>
          </a:p>
        </p:txBody>
      </p:sp>
      <p:sp>
        <p:nvSpPr>
          <p:cNvPr id="13" name="issue-480">
            <a:extLst xmlns:a="http://schemas.openxmlformats.org/drawingml/2006/main">
              <a:ext uri="{FF2B5EF4-FFF2-40B4-BE49-F238E27FC236}">
                <a16:creationId xmlns:a16="http://schemas.microsoft.com/office/drawing/2014/main" id="{D8B6F5A5-9952-4A1F-8F50-B5790C694440}"/>
              </a:ext>
            </a:extLst>
          </p:cNvPr>
          <p:cNvSpPr>
            <a:spLocks xmlns:a="http://schemas.openxmlformats.org/drawingml/2006/main" noGrp="1"/>
          </p:cNvSpPr>
          <p:nvPr/>
        </p:nvSpPr>
        <p:spPr>
          <a:xfrm xmlns:a="http://schemas.openxmlformats.org/drawingml/2006/main">
            <a:off x="400050" y="5391150"/>
            <a:ext cx="3505200" cy="933450"/>
          </a:xfrm>
          <a:prstGeom xmlns:a="http://schemas.openxmlformats.org/drawingml/2006/main" prst="roundRect">
            <a:avLst>
              <a:gd name="adj" fmla="val 12245"/>
            </a:avLst>
          </a:prstGeom>
          <a:solidFill xmlns:a="http://schemas.openxmlformats.org/drawingml/2006/main">
            <a:srgbClr val="F8E8E5"/>
          </a:solidFill>
          <a:ln xmlns:a="http://schemas.openxmlformats.org/drawingml/2006/main" w="9525">
            <a:solidFill>
              <a:srgbClr val="E4A099"/>
            </a:solidFill>
          </a:ln>
        </p:spPr>
      </p:sp>
      <p:sp>
        <p:nvSpPr>
          <p:cNvPr id="14" name="issue-text-480">
            <a:extLst xmlns:a="http://schemas.openxmlformats.org/drawingml/2006/main">
              <a:ext uri="{FF2B5EF4-FFF2-40B4-BE49-F238E27FC236}">
                <a16:creationId xmlns:a16="http://schemas.microsoft.com/office/drawing/2014/main" id="{A849510E-0B7F-4BFA-93D0-512247C7D64F}"/>
              </a:ext>
            </a:extLst>
          </p:cNvPr>
          <p:cNvSpPr>
            <a:spLocks xmlns:a="http://schemas.openxmlformats.org/drawingml/2006/main" noGrp="1"/>
          </p:cNvSpPr>
          <p:nvPr/>
        </p:nvSpPr>
        <p:spPr>
          <a:xfrm xmlns:a="http://schemas.openxmlformats.org/drawingml/2006/main">
            <a:off x="552450" y="5562600"/>
            <a:ext cx="320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9E3328"/>
                </a:solidFill>
                <a:latin typeface="Arial"/>
                <a:ea typeface="Arial"/>
                <a:cs typeface="Arial"/>
              </a:defRPr>
            </a:pPr>
            <a:r>
              <a:rPr sz="1200" b="1">
                <a:solidFill>
                  <a:srgbClr val="9E3328"/>
                </a:solidFill>
                <a:latin typeface="Arial"/>
                <a:ea typeface="Arial"/>
                <a:cs typeface="Arial"/>
              </a:rPr>
              <a:t>Needs polish: long IDs break into hard-to-read lines in the narrow column.</a:t>
            </a:r>
          </a:p>
        </p:txBody>
      </p:sp>
      <p:sp>
        <p:nvSpPr>
          <p:cNvPr id="15" name="frame-14-delivery-details.png">
            <a:extLst xmlns:a="http://schemas.openxmlformats.org/drawingml/2006/main">
              <a:ext uri="{FF2B5EF4-FFF2-40B4-BE49-F238E27FC236}">
                <a16:creationId xmlns:a16="http://schemas.microsoft.com/office/drawing/2014/main" id="{FD4DB5EE-52DF-46F4-B577-6933FC52DCFF}"/>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e470b3a596c4b06"/>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7" name="evidence-14-delivery-details.png">
            <a:extLst xmlns:a="http://schemas.openxmlformats.org/drawingml/2006/main">
              <a:ext uri="{FF2B5EF4-FFF2-40B4-BE49-F238E27FC236}">
                <a16:creationId xmlns:a16="http://schemas.microsoft.com/office/drawing/2014/main" id="{609E4D62-D6EF-4EF0-B22D-7C408868C2C8}"/>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8" name="evidence-text-14-delivery-details.png">
            <a:extLst xmlns:a="http://schemas.openxmlformats.org/drawingml/2006/main">
              <a:ext uri="{FF2B5EF4-FFF2-40B4-BE49-F238E27FC236}">
                <a16:creationId xmlns:a16="http://schemas.microsoft.com/office/drawing/2014/main" id="{3CADC2A9-C95B-4AB4-8716-5BE5E6AD3E25}"/>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259009572"/>
      </p:ext>
    </p:extLst>
  </p:cSld>
</p:sld>
</file>

<file path=ppt/slides/slide1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section-19">
            <a:extLst xmlns:a="http://schemas.openxmlformats.org/drawingml/2006/main">
              <a:ext uri="{FF2B5EF4-FFF2-40B4-BE49-F238E27FC236}">
                <a16:creationId xmlns:a16="http://schemas.microsoft.com/office/drawing/2014/main" id="{68D0B9F9-C2FB-42FA-A3F6-794395DCD5B8}"/>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AGENT SESSION</a:t>
            </a:r>
          </a:p>
        </p:txBody>
      </p:sp>
      <p:sp>
        <p:nvSpPr>
          <p:cNvPr id="2" name="title-19">
            <a:extLst xmlns:a="http://schemas.openxmlformats.org/drawingml/2006/main">
              <a:ext uri="{FF2B5EF4-FFF2-40B4-BE49-F238E27FC236}">
                <a16:creationId xmlns:a16="http://schemas.microsoft.com/office/drawing/2014/main" id="{0AA6AC83-F0CC-49A1-A732-22689F7509BA}"/>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Agent identity</a:t>
            </a:r>
          </a:p>
        </p:txBody>
      </p:sp>
      <p:sp>
        <p:nvSpPr>
          <p:cNvPr id="3" name="number-19">
            <a:extLst xmlns:a="http://schemas.openxmlformats.org/drawingml/2006/main">
              <a:ext uri="{FF2B5EF4-FFF2-40B4-BE49-F238E27FC236}">
                <a16:creationId xmlns:a16="http://schemas.microsoft.com/office/drawing/2014/main" id="{00BCF094-A7AE-45E1-AC72-AF7D47965CE1}"/>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19</a:t>
            </a:r>
          </a:p>
        </p:txBody>
      </p:sp>
      <p:sp>
        <p:nvSpPr>
          <p:cNvPr id="4" name="callout-number-0-132">
            <a:extLst xmlns:a="http://schemas.openxmlformats.org/drawingml/2006/main">
              <a:ext uri="{FF2B5EF4-FFF2-40B4-BE49-F238E27FC236}">
                <a16:creationId xmlns:a16="http://schemas.microsoft.com/office/drawing/2014/main" id="{C690725C-5DBE-49DD-9F50-4A95CEB85C3F}"/>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F473F78D-03C3-42FA-AA64-DC0CD0D7BD56}"/>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Initials preview</a:t>
            </a:r>
          </a:p>
        </p:txBody>
      </p:sp>
      <p:sp>
        <p:nvSpPr>
          <p:cNvPr id="6" name="callout-body-0-132">
            <a:extLst xmlns:a="http://schemas.openxmlformats.org/drawingml/2006/main">
              <a:ext uri="{FF2B5EF4-FFF2-40B4-BE49-F238E27FC236}">
                <a16:creationId xmlns:a16="http://schemas.microsoft.com/office/drawing/2014/main" id="{E9251F04-32BB-4E7B-AD73-8ADC59D71CD2}"/>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preview uses the Agent name inside the chosen shape.</a:t>
            </a:r>
          </a:p>
        </p:txBody>
      </p:sp>
      <p:sp>
        <p:nvSpPr>
          <p:cNvPr id="7" name="callout-number-1-248">
            <a:extLst xmlns:a="http://schemas.openxmlformats.org/drawingml/2006/main">
              <a:ext uri="{FF2B5EF4-FFF2-40B4-BE49-F238E27FC236}">
                <a16:creationId xmlns:a16="http://schemas.microsoft.com/office/drawing/2014/main" id="{339DBFA7-8951-480C-A921-A042E37D6BA6}"/>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45C94F68-2769-4806-AB76-78FD162D5298}"/>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Color picker</a:t>
            </a:r>
          </a:p>
        </p:txBody>
      </p:sp>
      <p:sp>
        <p:nvSpPr>
          <p:cNvPr id="9" name="callout-body-1-248">
            <a:extLst xmlns:a="http://schemas.openxmlformats.org/drawingml/2006/main">
              <a:ext uri="{FF2B5EF4-FFF2-40B4-BE49-F238E27FC236}">
                <a16:creationId xmlns:a16="http://schemas.microsoft.com/office/drawing/2014/main" id="{76711DB2-7D15-4C06-979E-3AF4FF880D51}"/>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selected color and hex value appear together.</a:t>
            </a:r>
          </a:p>
        </p:txBody>
      </p:sp>
      <p:sp>
        <p:nvSpPr>
          <p:cNvPr id="10" name="callout-number-2-364">
            <a:extLst xmlns:a="http://schemas.openxmlformats.org/drawingml/2006/main">
              <a:ext uri="{FF2B5EF4-FFF2-40B4-BE49-F238E27FC236}">
                <a16:creationId xmlns:a16="http://schemas.microsoft.com/office/drawing/2014/main" id="{F160962A-5FEF-453D-980C-C76B5FC35198}"/>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D641406F-084A-4FA3-B728-479CD5A93D47}"/>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Three shapes</a:t>
            </a:r>
          </a:p>
        </p:txBody>
      </p:sp>
      <p:sp>
        <p:nvSpPr>
          <p:cNvPr id="12" name="callout-body-2-364">
            <a:extLst xmlns:a="http://schemas.openxmlformats.org/drawingml/2006/main">
              <a:ext uri="{FF2B5EF4-FFF2-40B4-BE49-F238E27FC236}">
                <a16:creationId xmlns:a16="http://schemas.microsoft.com/office/drawing/2014/main" id="{C425ABC8-43AC-41CA-8DC9-548F4CEA6D59}"/>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Circle, square, and hexagon are available.</a:t>
            </a:r>
          </a:p>
        </p:txBody>
      </p:sp>
      <p:sp>
        <p:nvSpPr>
          <p:cNvPr id="13" name="frame-12-agent-identity.png">
            <a:extLst xmlns:a="http://schemas.openxmlformats.org/drawingml/2006/main">
              <a:ext uri="{FF2B5EF4-FFF2-40B4-BE49-F238E27FC236}">
                <a16:creationId xmlns:a16="http://schemas.microsoft.com/office/drawing/2014/main" id="{EE650F57-EE65-4013-95AE-D9B16DDF7783}"/>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06d8cc027e34a7a"/>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5" name="evidence-12-agent-identity.png">
            <a:extLst xmlns:a="http://schemas.openxmlformats.org/drawingml/2006/main">
              <a:ext uri="{FF2B5EF4-FFF2-40B4-BE49-F238E27FC236}">
                <a16:creationId xmlns:a16="http://schemas.microsoft.com/office/drawing/2014/main" id="{590AD5AA-34C0-4B91-A363-2EC8A687B46A}"/>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6" name="evidence-text-12-agent-identity.png">
            <a:extLst xmlns:a="http://schemas.openxmlformats.org/drawingml/2006/main">
              <a:ext uri="{FF2B5EF4-FFF2-40B4-BE49-F238E27FC236}">
                <a16:creationId xmlns:a16="http://schemas.microsoft.com/office/drawing/2014/main" id="{82BC9242-B3B6-4E28-BB6C-500AFB7378FA}"/>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1159974838"/>
      </p:ext>
    </p:extLst>
  </p:cSld>
</p:sld>
</file>

<file path=ppt/slides/slide2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9" name="section-20">
            <a:extLst xmlns:a="http://schemas.openxmlformats.org/drawingml/2006/main">
              <a:ext uri="{FF2B5EF4-FFF2-40B4-BE49-F238E27FC236}">
                <a16:creationId xmlns:a16="http://schemas.microsoft.com/office/drawing/2014/main" id="{CF102401-D274-45C1-A13E-D78C2B39A07F}"/>
              </a:ext>
            </a:extLst>
          </p:cNvPr>
          <p:cNvSpPr>
            <a:spLocks xmlns:a="http://schemas.openxmlformats.org/drawingml/2006/main" noGrp="1"/>
          </p:cNvSpPr>
          <p:nvPr/>
        </p:nvSpPr>
        <p:spPr>
          <a:xfrm xmlns:a="http://schemas.openxmlformats.org/drawingml/2006/main">
            <a:off x="400050" y="2476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25" b="1">
                <a:solidFill>
                  <a:srgbClr val="2D5D48"/>
                </a:solidFill>
                <a:latin typeface="Arial"/>
                <a:ea typeface="Arial"/>
                <a:cs typeface="Arial"/>
              </a:defRPr>
            </a:pPr>
            <a:r>
              <a:rPr sz="825" b="1">
                <a:solidFill>
                  <a:srgbClr val="2D5D48"/>
                </a:solidFill>
                <a:latin typeface="Arial"/>
                <a:ea typeface="Arial"/>
                <a:cs typeface="Arial"/>
              </a:rPr>
              <a:t>LEGACY SURFACE</a:t>
            </a:r>
          </a:p>
        </p:txBody>
      </p:sp>
      <p:sp>
        <p:nvSpPr>
          <p:cNvPr id="2" name="title-20">
            <a:extLst xmlns:a="http://schemas.openxmlformats.org/drawingml/2006/main">
              <a:ext uri="{FF2B5EF4-FFF2-40B4-BE49-F238E27FC236}">
                <a16:creationId xmlns:a16="http://schemas.microsoft.com/office/drawing/2014/main" id="{8766FBA9-DEEE-42DE-81F6-3C86D25CB805}"/>
              </a:ext>
            </a:extLst>
          </p:cNvPr>
          <p:cNvSpPr>
            <a:spLocks xmlns:a="http://schemas.openxmlformats.org/drawingml/2006/main" noGrp="1"/>
          </p:cNvSpPr>
          <p:nvPr/>
        </p:nvSpPr>
        <p:spPr>
          <a:xfrm xmlns:a="http://schemas.openxmlformats.org/drawingml/2006/main">
            <a:off x="400050" y="457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b="1">
                <a:solidFill>
                  <a:srgbClr val="122019"/>
                </a:solidFill>
                <a:latin typeface="Arial"/>
                <a:ea typeface="Arial"/>
                <a:cs typeface="Arial"/>
              </a:defRPr>
            </a:pPr>
            <a:r>
              <a:rPr sz="2400" b="1">
                <a:solidFill>
                  <a:srgbClr val="122019"/>
                </a:solidFill>
                <a:latin typeface="Arial"/>
                <a:ea typeface="Arial"/>
                <a:cs typeface="Arial"/>
              </a:rPr>
              <a:t>Remaining Harness Management screen</a:t>
            </a:r>
          </a:p>
        </p:txBody>
      </p:sp>
      <p:sp>
        <p:nvSpPr>
          <p:cNvPr id="3" name="number-20">
            <a:extLst xmlns:a="http://schemas.openxmlformats.org/drawingml/2006/main">
              <a:ext uri="{FF2B5EF4-FFF2-40B4-BE49-F238E27FC236}">
                <a16:creationId xmlns:a16="http://schemas.microsoft.com/office/drawing/2014/main" id="{F36A9C23-2693-4D8B-9D45-5AC271331D90}"/>
              </a:ext>
            </a:extLst>
          </p:cNvPr>
          <p:cNvSpPr>
            <a:spLocks xmlns:a="http://schemas.openxmlformats.org/drawingml/2006/main" noGrp="1"/>
          </p:cNvSpPr>
          <p:nvPr/>
        </p:nvSpPr>
        <p:spPr>
          <a:xfrm xmlns:a="http://schemas.openxmlformats.org/drawingml/2006/main">
            <a:off x="11410950" y="29527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57069"/>
                </a:solidFill>
                <a:latin typeface="Arial"/>
                <a:ea typeface="Arial"/>
                <a:cs typeface="Arial"/>
              </a:defRPr>
            </a:pPr>
            <a:r>
              <a:rPr sz="825">
                <a:solidFill>
                  <a:srgbClr val="657069"/>
                </a:solidFill>
                <a:latin typeface="Arial"/>
                <a:ea typeface="Arial"/>
                <a:cs typeface="Arial"/>
              </a:rPr>
              <a:t>20</a:t>
            </a:r>
          </a:p>
        </p:txBody>
      </p:sp>
      <p:sp>
        <p:nvSpPr>
          <p:cNvPr id="4" name="callout-number-0-132">
            <a:extLst xmlns:a="http://schemas.openxmlformats.org/drawingml/2006/main">
              <a:ext uri="{FF2B5EF4-FFF2-40B4-BE49-F238E27FC236}">
                <a16:creationId xmlns:a16="http://schemas.microsoft.com/office/drawing/2014/main" id="{365704FB-EAFB-4B9A-BBBD-F7607B6E0704}"/>
              </a:ext>
            </a:extLst>
          </p:cNvPr>
          <p:cNvSpPr>
            <a:spLocks xmlns:a="http://schemas.openxmlformats.org/drawingml/2006/main" noGrp="1"/>
          </p:cNvSpPr>
          <p:nvPr/>
        </p:nvSpPr>
        <p:spPr>
          <a:xfrm xmlns:a="http://schemas.openxmlformats.org/drawingml/2006/main">
            <a:off x="400050" y="12668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1</a:t>
            </a:r>
          </a:p>
        </p:txBody>
      </p:sp>
      <p:sp>
        <p:nvSpPr>
          <p:cNvPr id="5" name="callout-title-0-132">
            <a:extLst xmlns:a="http://schemas.openxmlformats.org/drawingml/2006/main">
              <a:ext uri="{FF2B5EF4-FFF2-40B4-BE49-F238E27FC236}">
                <a16:creationId xmlns:a16="http://schemas.microsoft.com/office/drawing/2014/main" id="{2DA90C66-F070-49DF-8FC3-FE0B94F92AA2}"/>
              </a:ext>
            </a:extLst>
          </p:cNvPr>
          <p:cNvSpPr>
            <a:spLocks xmlns:a="http://schemas.openxmlformats.org/drawingml/2006/main" noGrp="1"/>
          </p:cNvSpPr>
          <p:nvPr/>
        </p:nvSpPr>
        <p:spPr>
          <a:xfrm xmlns:a="http://schemas.openxmlformats.org/drawingml/2006/main">
            <a:off x="723900" y="12573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Still in the product</a:t>
            </a:r>
          </a:p>
        </p:txBody>
      </p:sp>
      <p:sp>
        <p:nvSpPr>
          <p:cNvPr id="6" name="callout-body-0-132">
            <a:extLst xmlns:a="http://schemas.openxmlformats.org/drawingml/2006/main">
              <a:ext uri="{FF2B5EF4-FFF2-40B4-BE49-F238E27FC236}">
                <a16:creationId xmlns:a16="http://schemas.microsoft.com/office/drawing/2014/main" id="{2663056E-9CA4-4D87-BF1F-3F329ADA4DEB}"/>
              </a:ext>
            </a:extLst>
          </p:cNvPr>
          <p:cNvSpPr>
            <a:spLocks xmlns:a="http://schemas.openxmlformats.org/drawingml/2006/main" noGrp="1"/>
          </p:cNvSpPr>
          <p:nvPr/>
        </p:nvSpPr>
        <p:spPr>
          <a:xfrm xmlns:a="http://schemas.openxmlformats.org/drawingml/2006/main">
            <a:off x="723900" y="15525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Harness Management remains in the top navigation.</a:t>
            </a:r>
          </a:p>
        </p:txBody>
      </p:sp>
      <p:sp>
        <p:nvSpPr>
          <p:cNvPr id="7" name="callout-number-1-248">
            <a:extLst xmlns:a="http://schemas.openxmlformats.org/drawingml/2006/main">
              <a:ext uri="{FF2B5EF4-FFF2-40B4-BE49-F238E27FC236}">
                <a16:creationId xmlns:a16="http://schemas.microsoft.com/office/drawing/2014/main" id="{C43AC31A-D78F-4BDD-8451-E14393176FCD}"/>
              </a:ext>
            </a:extLst>
          </p:cNvPr>
          <p:cNvSpPr>
            <a:spLocks xmlns:a="http://schemas.openxmlformats.org/drawingml/2006/main" noGrp="1"/>
          </p:cNvSpPr>
          <p:nvPr/>
        </p:nvSpPr>
        <p:spPr>
          <a:xfrm xmlns:a="http://schemas.openxmlformats.org/drawingml/2006/main">
            <a:off x="400050" y="23717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2</a:t>
            </a:r>
          </a:p>
        </p:txBody>
      </p:sp>
      <p:sp>
        <p:nvSpPr>
          <p:cNvPr id="8" name="callout-title-1-248">
            <a:extLst xmlns:a="http://schemas.openxmlformats.org/drawingml/2006/main">
              <a:ext uri="{FF2B5EF4-FFF2-40B4-BE49-F238E27FC236}">
                <a16:creationId xmlns:a16="http://schemas.microsoft.com/office/drawing/2014/main" id="{0A346A37-E52E-417B-BD87-9C8B5A53CC73}"/>
              </a:ext>
            </a:extLst>
          </p:cNvPr>
          <p:cNvSpPr>
            <a:spLocks xmlns:a="http://schemas.openxmlformats.org/drawingml/2006/main" noGrp="1"/>
          </p:cNvSpPr>
          <p:nvPr/>
        </p:nvSpPr>
        <p:spPr>
          <a:xfrm xmlns:a="http://schemas.openxmlformats.org/drawingml/2006/main">
            <a:off x="723900" y="23622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Old mixed object</a:t>
            </a:r>
          </a:p>
        </p:txBody>
      </p:sp>
      <p:sp>
        <p:nvSpPr>
          <p:cNvPr id="9" name="callout-body-1-248">
            <a:extLst xmlns:a="http://schemas.openxmlformats.org/drawingml/2006/main">
              <a:ext uri="{FF2B5EF4-FFF2-40B4-BE49-F238E27FC236}">
                <a16:creationId xmlns:a16="http://schemas.microsoft.com/office/drawing/2014/main" id="{FD7AD9AA-9DA3-42FB-A54F-ACE77F7DB201}"/>
              </a:ext>
            </a:extLst>
          </p:cNvPr>
          <p:cNvSpPr>
            <a:spLocks xmlns:a="http://schemas.openxmlformats.org/drawingml/2006/main" noGrp="1"/>
          </p:cNvSpPr>
          <p:nvPr/>
        </p:nvSpPr>
        <p:spPr>
          <a:xfrm xmlns:a="http://schemas.openxmlformats.org/drawingml/2006/main">
            <a:off x="723900" y="2657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It still groups prompt, skills, tools, model, and sandbox.</a:t>
            </a:r>
          </a:p>
        </p:txBody>
      </p:sp>
      <p:sp>
        <p:nvSpPr>
          <p:cNvPr id="10" name="callout-number-2-364">
            <a:extLst xmlns:a="http://schemas.openxmlformats.org/drawingml/2006/main">
              <a:ext uri="{FF2B5EF4-FFF2-40B4-BE49-F238E27FC236}">
                <a16:creationId xmlns:a16="http://schemas.microsoft.com/office/drawing/2014/main" id="{788186C6-06E0-444C-B2F5-E7196B8ABA86}"/>
              </a:ext>
            </a:extLst>
          </p:cNvPr>
          <p:cNvSpPr>
            <a:spLocks xmlns:a="http://schemas.openxmlformats.org/drawingml/2006/main" noGrp="1"/>
          </p:cNvSpPr>
          <p:nvPr/>
        </p:nvSpPr>
        <p:spPr>
          <a:xfrm xmlns:a="http://schemas.openxmlformats.org/drawingml/2006/main">
            <a:off x="400050" y="347662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b="1">
                <a:solidFill>
                  <a:srgbClr val="2D5D48"/>
                </a:solidFill>
                <a:latin typeface="Arial"/>
                <a:ea typeface="Arial"/>
                <a:cs typeface="Arial"/>
              </a:defRPr>
            </a:pPr>
            <a:r>
              <a:rPr sz="1350" b="1">
                <a:solidFill>
                  <a:srgbClr val="2D5D48"/>
                </a:solidFill>
                <a:latin typeface="Arial"/>
                <a:ea typeface="Arial"/>
                <a:cs typeface="Arial"/>
              </a:rPr>
              <a:t>3</a:t>
            </a:r>
          </a:p>
        </p:txBody>
      </p:sp>
      <p:sp>
        <p:nvSpPr>
          <p:cNvPr id="11" name="callout-title-2-364">
            <a:extLst xmlns:a="http://schemas.openxmlformats.org/drawingml/2006/main">
              <a:ext uri="{FF2B5EF4-FFF2-40B4-BE49-F238E27FC236}">
                <a16:creationId xmlns:a16="http://schemas.microsoft.com/office/drawing/2014/main" id="{01AA9264-C3CD-4A69-80F0-E6226483FACE}"/>
              </a:ext>
            </a:extLst>
          </p:cNvPr>
          <p:cNvSpPr>
            <a:spLocks xmlns:a="http://schemas.openxmlformats.org/drawingml/2006/main" noGrp="1"/>
          </p:cNvSpPr>
          <p:nvPr/>
        </p:nvSpPr>
        <p:spPr>
          <a:xfrm xmlns:a="http://schemas.openxmlformats.org/drawingml/2006/main">
            <a:off x="723900" y="34671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b="1">
                <a:solidFill>
                  <a:srgbClr val="122019"/>
                </a:solidFill>
                <a:latin typeface="Arial"/>
                <a:ea typeface="Arial"/>
                <a:cs typeface="Arial"/>
              </a:defRPr>
            </a:pPr>
            <a:r>
              <a:rPr sz="1425" b="1">
                <a:solidFill>
                  <a:srgbClr val="122019"/>
                </a:solidFill>
                <a:latin typeface="Arial"/>
                <a:ea typeface="Arial"/>
                <a:cs typeface="Arial"/>
              </a:rPr>
              <a:t>Not yet retired</a:t>
            </a:r>
          </a:p>
        </p:txBody>
      </p:sp>
      <p:sp>
        <p:nvSpPr>
          <p:cNvPr id="12" name="callout-body-2-364">
            <a:extLst xmlns:a="http://schemas.openxmlformats.org/drawingml/2006/main">
              <a:ext uri="{FF2B5EF4-FFF2-40B4-BE49-F238E27FC236}">
                <a16:creationId xmlns:a16="http://schemas.microsoft.com/office/drawing/2014/main" id="{1A649EF9-57BA-4CE6-B843-6D1F4FBD159C}"/>
              </a:ext>
            </a:extLst>
          </p:cNvPr>
          <p:cNvSpPr>
            <a:spLocks xmlns:a="http://schemas.openxmlformats.org/drawingml/2006/main" noGrp="1"/>
          </p:cNvSpPr>
          <p:nvPr/>
        </p:nvSpPr>
        <p:spPr>
          <a:xfrm xmlns:a="http://schemas.openxmlformats.org/drawingml/2006/main">
            <a:off x="723900" y="37623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657069"/>
                </a:solidFill>
                <a:latin typeface="Arial"/>
                <a:ea typeface="Arial"/>
                <a:cs typeface="Arial"/>
              </a:defRPr>
            </a:pPr>
            <a:r>
              <a:rPr sz="1200">
                <a:solidFill>
                  <a:srgbClr val="657069"/>
                </a:solidFill>
                <a:latin typeface="Arial"/>
                <a:ea typeface="Arial"/>
                <a:cs typeface="Arial"/>
              </a:rPr>
              <a:t>The new screens now work beside this older screen.</a:t>
            </a:r>
          </a:p>
        </p:txBody>
      </p:sp>
      <p:sp>
        <p:nvSpPr>
          <p:cNvPr id="13" name="issue-480">
            <a:extLst xmlns:a="http://schemas.openxmlformats.org/drawingml/2006/main">
              <a:ext uri="{FF2B5EF4-FFF2-40B4-BE49-F238E27FC236}">
                <a16:creationId xmlns:a16="http://schemas.microsoft.com/office/drawing/2014/main" id="{9CEAEAA6-0E04-4BD1-AB3B-5CD47390E3BB}"/>
              </a:ext>
            </a:extLst>
          </p:cNvPr>
          <p:cNvSpPr>
            <a:spLocks xmlns:a="http://schemas.openxmlformats.org/drawingml/2006/main" noGrp="1"/>
          </p:cNvSpPr>
          <p:nvPr/>
        </p:nvSpPr>
        <p:spPr>
          <a:xfrm xmlns:a="http://schemas.openxmlformats.org/drawingml/2006/main">
            <a:off x="400050" y="5391150"/>
            <a:ext cx="3505200" cy="933450"/>
          </a:xfrm>
          <a:prstGeom xmlns:a="http://schemas.openxmlformats.org/drawingml/2006/main" prst="roundRect">
            <a:avLst>
              <a:gd name="adj" fmla="val 12245"/>
            </a:avLst>
          </a:prstGeom>
          <a:solidFill xmlns:a="http://schemas.openxmlformats.org/drawingml/2006/main">
            <a:srgbClr val="F8E8E5"/>
          </a:solidFill>
          <a:ln xmlns:a="http://schemas.openxmlformats.org/drawingml/2006/main" w="9525">
            <a:solidFill>
              <a:srgbClr val="E4A099"/>
            </a:solidFill>
          </a:ln>
        </p:spPr>
      </p:sp>
      <p:sp>
        <p:nvSpPr>
          <p:cNvPr id="14" name="issue-text-480">
            <a:extLst xmlns:a="http://schemas.openxmlformats.org/drawingml/2006/main">
              <a:ext uri="{FF2B5EF4-FFF2-40B4-BE49-F238E27FC236}">
                <a16:creationId xmlns:a16="http://schemas.microsoft.com/office/drawing/2014/main" id="{AAAE2847-6DAC-4A87-A8BD-9498195575F0}"/>
              </a:ext>
            </a:extLst>
          </p:cNvPr>
          <p:cNvSpPr>
            <a:spLocks xmlns:a="http://schemas.openxmlformats.org/drawingml/2006/main" noGrp="1"/>
          </p:cNvSpPr>
          <p:nvPr/>
        </p:nvSpPr>
        <p:spPr>
          <a:xfrm xmlns:a="http://schemas.openxmlformats.org/drawingml/2006/main">
            <a:off x="552450" y="5562600"/>
            <a:ext cx="320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9E3328"/>
                </a:solidFill>
                <a:latin typeface="Arial"/>
                <a:ea typeface="Arial"/>
                <a:cs typeface="Arial"/>
              </a:defRPr>
            </a:pPr>
            <a:r>
              <a:rPr sz="1200" b="1">
                <a:solidFill>
                  <a:srgbClr val="9E3328"/>
                </a:solidFill>
                <a:latin typeface="Arial"/>
                <a:ea typeface="Arial"/>
                <a:cs typeface="Arial"/>
              </a:rPr>
              <a:t>Open decision: keep this only as a migration view, or remove it when the new UI is accepted.</a:t>
            </a:r>
          </a:p>
        </p:txBody>
      </p:sp>
      <p:sp>
        <p:nvSpPr>
          <p:cNvPr id="15" name="frame-16-legacy-harness-management.png">
            <a:extLst xmlns:a="http://schemas.openxmlformats.org/drawingml/2006/main">
              <a:ext uri="{FF2B5EF4-FFF2-40B4-BE49-F238E27FC236}">
                <a16:creationId xmlns:a16="http://schemas.microsoft.com/office/drawing/2014/main" id="{2D70DE9D-0707-402F-B369-B0F093F4F698}"/>
              </a:ext>
            </a:extLst>
          </p:cNvPr>
          <p:cNvSpPr>
            <a:spLocks xmlns:a="http://schemas.openxmlformats.org/drawingml/2006/main" noGrp="1"/>
          </p:cNvSpPr>
          <p:nvPr/>
        </p:nvSpPr>
        <p:spPr>
          <a:xfrm xmlns:a="http://schemas.openxmlformats.org/drawingml/2006/main">
            <a:off x="4267200" y="1066800"/>
            <a:ext cx="7524750" cy="5676900"/>
          </a:xfrm>
          <a:prstGeom xmlns:a="http://schemas.openxmlformats.org/drawingml/2006/main" prst="roundRect">
            <a:avLst>
              <a:gd name="adj" fmla="val 2013"/>
            </a:avLst>
          </a:prstGeom>
          <a:solidFill xmlns:a="http://schemas.openxmlformats.org/drawingml/2006/main">
            <a:srgbClr val="FFFFFF"/>
          </a:solidFill>
          <a:ln xmlns:a="http://schemas.openxmlformats.org/drawingml/2006/main" w="9525">
            <a:solidFill>
              <a:srgbClr val="AEB8B1"/>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7a8f6f0c78504438"/>
          <a:stretch xmlns:a="http://schemas.openxmlformats.org/drawingml/2006/main"/>
        </p:blipFill>
        <p:spPr>
          <a:xfrm xmlns:a="http://schemas.openxmlformats.org/drawingml/2006/main">
            <a:off x="4347424" y="1123950"/>
            <a:ext cx="7364303" cy="5562600"/>
          </a:xfrm>
          <a:prstGeom xmlns:a="http://schemas.openxmlformats.org/drawingml/2006/main" prst="roundRect">
            <a:avLst>
              <a:gd name="adj" fmla="val 2055"/>
            </a:avLst>
          </a:prstGeom>
        </p:spPr>
      </p:pic>
      <p:sp>
        <p:nvSpPr>
          <p:cNvPr id="17" name="evidence-16-legacy-harness-management.png">
            <a:extLst xmlns:a="http://schemas.openxmlformats.org/drawingml/2006/main">
              <a:ext uri="{FF2B5EF4-FFF2-40B4-BE49-F238E27FC236}">
                <a16:creationId xmlns:a16="http://schemas.microsoft.com/office/drawing/2014/main" id="{925FC1CB-C19A-4A76-81BB-3E8AB773B11C}"/>
              </a:ext>
            </a:extLst>
          </p:cNvPr>
          <p:cNvSpPr>
            <a:spLocks xmlns:a="http://schemas.openxmlformats.org/drawingml/2006/main" noGrp="1"/>
          </p:cNvSpPr>
          <p:nvPr/>
        </p:nvSpPr>
        <p:spPr>
          <a:xfrm xmlns:a="http://schemas.openxmlformats.org/drawingml/2006/main">
            <a:off x="4419600" y="1219200"/>
            <a:ext cx="1562100" cy="247650"/>
          </a:xfrm>
          <a:prstGeom xmlns:a="http://schemas.openxmlformats.org/drawingml/2006/main" prst="roundRect">
            <a:avLst>
              <a:gd name="adj" fmla="val 46154"/>
            </a:avLst>
          </a:prstGeom>
          <a:solidFill xmlns:a="http://schemas.openxmlformats.org/drawingml/2006/main">
            <a:srgbClr val="EAF1EA"/>
          </a:solidFill>
          <a:ln xmlns:a="http://schemas.openxmlformats.org/drawingml/2006/main" w="9525">
            <a:solidFill>
              <a:srgbClr val="EAF1EA"/>
            </a:solidFill>
          </a:ln>
        </p:spPr>
      </p:sp>
      <p:sp>
        <p:nvSpPr>
          <p:cNvPr id="18" name="evidence-text-16-legacy-harness-management.png">
            <a:extLst xmlns:a="http://schemas.openxmlformats.org/drawingml/2006/main">
              <a:ext uri="{FF2B5EF4-FFF2-40B4-BE49-F238E27FC236}">
                <a16:creationId xmlns:a16="http://schemas.microsoft.com/office/drawing/2014/main" id="{6B25E1B5-96D9-4880-ABDF-D74247448424}"/>
              </a:ext>
            </a:extLst>
          </p:cNvPr>
          <p:cNvSpPr>
            <a:spLocks xmlns:a="http://schemas.openxmlformats.org/drawingml/2006/main" noGrp="1"/>
          </p:cNvSpPr>
          <p:nvPr/>
        </p:nvSpPr>
        <p:spPr>
          <a:xfrm xmlns:a="http://schemas.openxmlformats.org/drawingml/2006/main">
            <a:off x="4533900" y="1285875"/>
            <a:ext cx="1333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1">
                <a:solidFill>
                  <a:srgbClr val="2D5D48"/>
                </a:solidFill>
                <a:latin typeface="Arial"/>
                <a:ea typeface="Arial"/>
                <a:cs typeface="Arial"/>
              </a:defRPr>
            </a:pPr>
            <a:r>
              <a:rPr sz="750" b="1">
                <a:solidFill>
                  <a:srgbClr val="2D5D48"/>
                </a:solidFill>
                <a:latin typeface="Arial"/>
                <a:ea typeface="Arial"/>
                <a:cs typeface="Arial"/>
              </a:rPr>
              <a:t>LIVE LOCAL FIXTURE</a:t>
            </a:r>
          </a:p>
        </p:txBody>
      </p:sp>
    </p:spTree>
    <p:extLst>
      <p:ext uri="{BB962C8B-B14F-4D97-AF65-F5344CB8AC3E}">
        <p14:creationId xmlns:p14="http://schemas.microsoft.com/office/powerpoint/2010/main" val="3440986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2026-09-07T15:56:20.8050000Z</dcterms:created>
  <dcterms:modified xsi:type="dcterms:W3CDTF">2026-09-07T15:56:20.8050000Z</dcterms:modified>
</coreProperties>
</file>