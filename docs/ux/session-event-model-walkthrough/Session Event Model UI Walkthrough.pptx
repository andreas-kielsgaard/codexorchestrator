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a0b41ca47e4736" /><Relationship Type="http://schemas.openxmlformats.org/officeDocument/2006/relationships/extended-properties" Target="/docProps/app.xml" Id="R1a01ad312c7049e3" /><Relationship Type="http://schemas.openxmlformats.org/officeDocument/2006/relationships/officeDocument" Target="/ppt/presentation.xml" Id="R4bf4a995a97948ca" /></Relationships>
</file>

<file path=ppt/presentation.xml><?xml version="1.0" encoding="utf-8"?>
<p:presentation xmlns:p="http://schemas.openxmlformats.org/presentationml/2006/main">
  <p:sldMasterIdLst>
    <p:sldMasterId xmlns:r="http://schemas.openxmlformats.org/officeDocument/2006/relationships" id="2147483648" r:id="R4e52fb2ced8a4399"/>
  </p:sldMasterIdLst>
  <p:notesMasterIdLst>
    <p:notesMasterId xmlns:r="http://schemas.openxmlformats.org/officeDocument/2006/relationships" r:id="Rde10dc835eff4beb"/>
  </p:notesMasterIdLst>
  <p:sldIdLst>
    <p:sldId xmlns:r="http://schemas.openxmlformats.org/officeDocument/2006/relationships" id="256" r:id="Rcf7d4912ae8b444e"/>
    <p:sldId xmlns:r="http://schemas.openxmlformats.org/officeDocument/2006/relationships" id="257" r:id="R23b5925797ad4113"/>
    <p:sldId xmlns:r="http://schemas.openxmlformats.org/officeDocument/2006/relationships" id="258" r:id="R38f5d1ad4042479e"/>
    <p:sldId xmlns:r="http://schemas.openxmlformats.org/officeDocument/2006/relationships" id="259" r:id="R55c723fe9fb34399"/>
    <p:sldId xmlns:r="http://schemas.openxmlformats.org/officeDocument/2006/relationships" id="260" r:id="R0b5c593ba7574195"/>
    <p:sldId xmlns:r="http://schemas.openxmlformats.org/officeDocument/2006/relationships" id="261" r:id="Rd03b7d9c3d784869"/>
    <p:sldId xmlns:r="http://schemas.openxmlformats.org/officeDocument/2006/relationships" id="262" r:id="Rac0eb4e9f1d64b37"/>
    <p:sldId xmlns:r="http://schemas.openxmlformats.org/officeDocument/2006/relationships" id="263" r:id="Rb6f12d20ff3243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43b17bd0384ccc" /><Relationship Type="http://schemas.openxmlformats.org/officeDocument/2006/relationships/slideMaster" Target="/ppt/slideMasters/slideMaster1.xml" Id="R4e52fb2ced8a4399" /><Relationship Type="http://schemas.openxmlformats.org/officeDocument/2006/relationships/notesMaster" Target="/ppt/notesMasters/notesMaster1.xml" Id="Rde10dc835eff4beb" /><Relationship Type="http://schemas.openxmlformats.org/officeDocument/2006/relationships/presProps" Target="/ppt/presProps.xml" Id="R7f2db961cb114741" /><Relationship Type="http://schemas.openxmlformats.org/officeDocument/2006/relationships/tableStyles" Target="/ppt/tableStyles.xml" Id="R3dae2e5f997c4614" /><Relationship Type="http://schemas.openxmlformats.org/officeDocument/2006/relationships/slide" Target="/ppt/slides/slide1.xml" Id="Rcf7d4912ae8b444e" /><Relationship Type="http://schemas.openxmlformats.org/officeDocument/2006/relationships/slide" Target="/ppt/slides/slide2.xml" Id="R23b5925797ad4113" /><Relationship Type="http://schemas.openxmlformats.org/officeDocument/2006/relationships/slide" Target="/ppt/slides/slide3.xml" Id="R38f5d1ad4042479e" /><Relationship Type="http://schemas.openxmlformats.org/officeDocument/2006/relationships/slide" Target="/ppt/slides/slide4.xml" Id="R55c723fe9fb34399" /><Relationship Type="http://schemas.openxmlformats.org/officeDocument/2006/relationships/slide" Target="/ppt/slides/slide5.xml" Id="R0b5c593ba7574195" /><Relationship Type="http://schemas.openxmlformats.org/officeDocument/2006/relationships/slide" Target="/ppt/slides/slide6.xml" Id="Rd03b7d9c3d784869" /><Relationship Type="http://schemas.openxmlformats.org/officeDocument/2006/relationships/slide" Target="/ppt/slides/slide7.xml" Id="Rac0eb4e9f1d64b37" /><Relationship Type="http://schemas.openxmlformats.org/officeDocument/2006/relationships/slide" Target="/ppt/slides/slide8.xml" Id="Rb6f12d20ff3243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352a3b99ef44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abaada618247df" /><Relationship Type="http://schemas.openxmlformats.org/officeDocument/2006/relationships/notesMaster" Target="/ppt/notesMasters/notesMaster1.xml" Id="Re24c961dcf6843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0738b66acd4742" /><Relationship Type="http://schemas.openxmlformats.org/officeDocument/2006/relationships/notesMaster" Target="/ppt/notesMasters/notesMaster1.xml" Id="Rc5ec1d42d48546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8449ff2f854f53" /><Relationship Type="http://schemas.openxmlformats.org/officeDocument/2006/relationships/notesMaster" Target="/ppt/notesMasters/notesMaster1.xml" Id="Raa122d6a4d644e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bd073bf7734ae8" /><Relationship Type="http://schemas.openxmlformats.org/officeDocument/2006/relationships/notesMaster" Target="/ppt/notesMasters/notesMaster1.xml" Id="R90ef2c8ea1f342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efd5df04c342bf" /><Relationship Type="http://schemas.openxmlformats.org/officeDocument/2006/relationships/notesMaster" Target="/ppt/notesMasters/notesMaster1.xml" Id="R019bcfa50dd344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a9f34193874f7a" /><Relationship Type="http://schemas.openxmlformats.org/officeDocument/2006/relationships/notesMaster" Target="/ppt/notesMasters/notesMaster1.xml" Id="R801a0ed7558044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a98caada684228" /><Relationship Type="http://schemas.openxmlformats.org/officeDocument/2006/relationships/notesMaster" Target="/ppt/notesMasters/notesMaster1.xml" Id="Re973382a04f546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b7d7cc5ca44f68" /><Relationship Type="http://schemas.openxmlformats.org/officeDocument/2006/relationships/notesMaster" Target="/ppt/notesMasters/notesMaster1.xml" Id="Rbffb48c20d014d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walkthrough as a model and UI boundary review, not a claim of production completion. The Capability Profile and Workflow authoring states are live in the isolated desktop demo. The Agent Session is a seeded inspection fixture so the presentation can show pinned truth and provenance without triggering a provider.</a:t>
            </a:r>
          </a:p>
          <a:p xmlns:a="http://schemas.openxmlformats.org/drawingml/2006/main">
            <a:r>
              <a:t/>
            </a:r>
          </a:p>
          <a:p xmlns:a="http://schemas.openxmlformats.org/drawingml/2006/main">
            <a:r>
              <a:t>[Sources]</a:t>
            </a:r>
          </a:p>
          <a:p xmlns:a="http://schemas.openxmlformats.org/drawingml/2006/main">
            <a:r>
              <a:t>- Local capture: 08-session-profile-and-message-controls.jpg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selected runtime is observed, not configured here. A Capability Profile narrows what is available. Each Workflow node embeds its own Node Profile. Nodes and connections compile into Session Event definitions. Creation resolves and pins a Session Profile. The key architectural property is that each layer has a clear consumption contract.</a:t>
            </a:r>
          </a:p>
          <a:p xmlns:a="http://schemas.openxmlformats.org/drawingml/2006/main">
            <a:r>
              <a:t/>
            </a:r>
          </a:p>
          <a:p xmlns:a="http://schemas.openxmlformats.org/drawingml/2006/main">
            <a:r>
              <a:t>[Sources]</a:t>
            </a:r>
          </a:p>
          <a:p xmlns:a="http://schemas.openxmlformats.org/drawingml/2006/main">
            <a:r>
              <a:t>- Derived from the captured live authoring and seeded inspection surfaces in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profile details, then point to the runtime summary. The UI is explicit that this object consumes one selected native runtime rather than configuring providers. Move to the second capture to show the editable narrowing surface and the inherited MCP/skill treatment.</a:t>
            </a:r>
          </a:p>
          <a:p xmlns:a="http://schemas.openxmlformats.org/drawingml/2006/main">
            <a:r>
              <a:t/>
            </a:r>
          </a:p>
          <a:p xmlns:a="http://schemas.openxmlformats.org/drawingml/2006/main">
            <a:r>
              <a:t>[Sources]</a:t>
            </a:r>
          </a:p>
          <a:p xmlns:a="http://schemas.openxmlformats.org/drawingml/2006/main">
            <a:r>
              <a:t>- Local capture: 01-capability-profile-overview.jpg</a:t>
            </a:r>
          </a:p>
          <a:p xmlns:a="http://schemas.openxmlformats.org/drawingml/2006/main">
            <a:r>
              <a:t>- Local capture: 02-capability-allowed-selections.jpg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first capture to separate operational naming, Agent identity, Capability Profile selection, and the creation-only prompt. Use the second to show that restrictions and defaults are visible in the same node editor. Emphasize that Node Profile reuse is deliberately deferred; the supported operation is copy then edit.</a:t>
            </a:r>
          </a:p>
          <a:p xmlns:a="http://schemas.openxmlformats.org/drawingml/2006/main">
            <a:r>
              <a:t/>
            </a:r>
          </a:p>
          <a:p xmlns:a="http://schemas.openxmlformats.org/drawingml/2006/main">
            <a:r>
              <a:t>[Sources]</a:t>
            </a:r>
          </a:p>
          <a:p xmlns:a="http://schemas.openxmlformats.org/drawingml/2006/main">
            <a:r>
              <a:t>- Local capture: 03-workflow-node-profile.jpg</a:t>
            </a:r>
          </a:p>
          <a:p xmlns:a="http://schemas.openxmlformats.org/drawingml/2006/main">
            <a:r>
              <a:t>- Local capture: 04-node-restrictions-and-defaults.jpg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connection as an authoring convenience rather than execution truth. The source and destination nodes derive logical addresses. The trigger, ordered prompt sources, target cardinality/order/filter, and create-on-missing behavior are already explicit in the editor. This is the functional layer a future script or custom provider would target.</a:t>
            </a:r>
          </a:p>
          <a:p xmlns:a="http://schemas.openxmlformats.org/drawingml/2006/main">
            <a:r>
              <a:t/>
            </a:r>
          </a:p>
          <a:p xmlns:a="http://schemas.openxmlformats.org/drawingml/2006/main">
            <a:r>
              <a:t>[Sources]</a:t>
            </a:r>
          </a:p>
          <a:p xmlns:a="http://schemas.openxmlformats.org/drawingml/2006/main">
            <a:r>
              <a:t>- Local capture: 05-connection-trigger-and-prompt.jpg</a:t>
            </a:r>
          </a:p>
          <a:p xmlns:a="http://schemas.openxmlformats.org/drawingml/2006/main">
            <a:r>
              <a:t>- Local capture: 06-connection-prompt-and-target.jpg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and legibility checkpoint. Compilation produced a Session Event definition for the named Workflow instance, but the request was never dispatched. The UI makes the boundary visible: authoring and compilation can be reviewed before any provider work begins.</a:t>
            </a:r>
          </a:p>
          <a:p xmlns:a="http://schemas.openxmlformats.org/drawingml/2006/main">
            <a:r>
              <a:t/>
            </a:r>
          </a:p>
          <a:p xmlns:a="http://schemas.openxmlformats.org/drawingml/2006/main">
            <a:r>
              <a:t>[Sources]</a:t>
            </a:r>
          </a:p>
          <a:p xmlns:a="http://schemas.openxmlformats.org/drawingml/2006/main">
            <a:r>
              <a:t>- Local capture: 07-compile-and-run.jpg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a seeded inspection record. Point first to the model and reasoning selectors: they apply only to the next direct user message. Then point to the immutable resolution metadata. Workflow-addressed messages continue to obey the pinned Node Profile defaults, while direct user prompts can use the wider attached runtime exposure.</a:t>
            </a:r>
          </a:p>
          <a:p xmlns:a="http://schemas.openxmlformats.org/drawingml/2006/main">
            <a:r>
              <a:t/>
            </a:r>
          </a:p>
          <a:p xmlns:a="http://schemas.openxmlformats.org/drawingml/2006/main">
            <a:r>
              <a:t>[Sources]</a:t>
            </a:r>
          </a:p>
          <a:p xmlns:a="http://schemas.openxmlformats.org/drawingml/2006/main">
            <a:r>
              <a:t>- Local seeded capture: 08-session-profile-and-message-controls.jpg</a:t>
            </a:r>
          </a:p>
          <a:p xmlns:a="http://schemas.openxmlformats.org/drawingml/2006/main">
            <a:r>
              <a:t>- Local seeded capture: 09-pinned-defaults-and-node-capabilities.jpg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showing that attached runtime exposure and recorded delivery provenance are separate from pinned node truth. The Session Event delivery section exists, but the canonical run projection is intentionally deferred. Use the three questions to guide the review and resist choosing a graph or role abstraction prematurely.</a:t>
            </a:r>
          </a:p>
          <a:p xmlns:a="http://schemas.openxmlformats.org/drawingml/2006/main">
            <a:r>
              <a:t/>
            </a:r>
          </a:p>
          <a:p xmlns:a="http://schemas.openxmlformats.org/drawingml/2006/main">
            <a:r>
              <a:t>[Sources]</a:t>
            </a:r>
          </a:p>
          <a:p xmlns:a="http://schemas.openxmlformats.org/drawingml/2006/main">
            <a:r>
              <a:t>- Local seeded capture: 10-attached-runtime-and-delivery-provenance.jpg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2b91da0b1540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991a4e6d994401" /><Relationship Type="http://schemas.openxmlformats.org/officeDocument/2006/relationships/slideLayout" Target="/ppt/slideLayouts/slideLayout1.xml" Id="R7808de9a12b949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08de9a12b949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a39ec416754962" /><Relationship Type="http://schemas.openxmlformats.org/officeDocument/2006/relationships/image" Target="/ppt/media/image.jpeg" Id="R8c00868d34a5426a" /><Relationship Type="http://schemas.openxmlformats.org/officeDocument/2006/relationships/notesSlide" Target="/ppt/notesSlides/notesSlide1.xml" Id="Rf5c1b41fe4a548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fb4d1ba717427c" /><Relationship Type="http://schemas.openxmlformats.org/officeDocument/2006/relationships/notesSlide" Target="/ppt/notesSlides/notesSlide2.xml" Id="R6c43754ecbdc46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7ccbd4d94f4d71" /><Relationship Type="http://schemas.openxmlformats.org/officeDocument/2006/relationships/image" Target="/ppt/media/image2.jpeg" Id="R3a218c1a1d164a4f" /><Relationship Type="http://schemas.openxmlformats.org/officeDocument/2006/relationships/image" Target="/ppt/media/image3.jpeg" Id="Rfb0c8535f9404a8e" /><Relationship Type="http://schemas.openxmlformats.org/officeDocument/2006/relationships/notesSlide" Target="/ppt/notesSlides/notesSlide3.xml" Id="R07c44b26fbeb43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4366b42a4e4580" /><Relationship Type="http://schemas.openxmlformats.org/officeDocument/2006/relationships/image" Target="/ppt/media/image4.jpeg" Id="Rdf3801ceb43b4e31" /><Relationship Type="http://schemas.openxmlformats.org/officeDocument/2006/relationships/image" Target="/ppt/media/image5.jpeg" Id="Re2a8ad8376ec45ab" /><Relationship Type="http://schemas.openxmlformats.org/officeDocument/2006/relationships/notesSlide" Target="/ppt/notesSlides/notesSlide4.xml" Id="R4c0421c8bda445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1838b7dd964f53" /><Relationship Type="http://schemas.openxmlformats.org/officeDocument/2006/relationships/image" Target="/ppt/media/image6.jpeg" Id="R50274a4ba7d9443b" /><Relationship Type="http://schemas.openxmlformats.org/officeDocument/2006/relationships/image" Target="/ppt/media/image7.jpeg" Id="R7797ed6d55654f9b" /><Relationship Type="http://schemas.openxmlformats.org/officeDocument/2006/relationships/notesSlide" Target="/ppt/notesSlides/notesSlide5.xml" Id="Rd2b9ed15064f47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0b0e5a35dc4a04" /><Relationship Type="http://schemas.openxmlformats.org/officeDocument/2006/relationships/image" Target="/ppt/media/image8.jpeg" Id="R683d8449a3274e94" /><Relationship Type="http://schemas.openxmlformats.org/officeDocument/2006/relationships/notesSlide" Target="/ppt/notesSlides/notesSlide6.xml" Id="R6bd30f9d98574f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4128e4f9f94547" /><Relationship Type="http://schemas.openxmlformats.org/officeDocument/2006/relationships/image" Target="/ppt/media/image9.jpeg" Id="R1f38f117c6394e4f" /><Relationship Type="http://schemas.openxmlformats.org/officeDocument/2006/relationships/image" Target="/ppt/media/image10.jpeg" Id="R2313ac9ce41a4113" /><Relationship Type="http://schemas.openxmlformats.org/officeDocument/2006/relationships/notesSlide" Target="/ppt/notesSlides/notesSlide7.xml" Id="Rcbbd287763ab4c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9dc6c394944257" /><Relationship Type="http://schemas.openxmlformats.org/officeDocument/2006/relationships/image" Target="/ppt/media/image11.jpeg" Id="Rcc61e01bfc674b3a" /><Relationship Type="http://schemas.openxmlformats.org/officeDocument/2006/relationships/notesSlide" Target="/ppt/notesSlides/notesSlide8.xml" Id="R346d4e346fc44fd1"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3" name="cover-eyebrow">
            <a:extLst xmlns:a="http://schemas.openxmlformats.org/drawingml/2006/main">
              <a:ext uri="{FF2B5EF4-FFF2-40B4-BE49-F238E27FC236}">
                <a16:creationId xmlns:a16="http://schemas.microsoft.com/office/drawing/2014/main" id="{186996D5-E342-438B-96DD-DA436EFD560D}"/>
              </a:ext>
            </a:extLst>
          </p:cNvPr>
          <p:cNvSpPr>
            <a:spLocks xmlns:a="http://schemas.openxmlformats.org/drawingml/2006/main" noGrp="1"/>
          </p:cNvSpPr>
          <p:nvPr/>
        </p:nvSpPr>
        <p:spPr>
          <a:xfrm xmlns:a="http://schemas.openxmlformats.org/drawingml/2006/main">
            <a:off x="400050" y="3619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CODEX ORCHESTRATOR · UI WALKTHROUGH</a:t>
            </a:r>
          </a:p>
        </p:txBody>
      </p:sp>
      <p:sp>
        <p:nvSpPr>
          <p:cNvPr id="2" name="cover-title">
            <a:extLst xmlns:a="http://schemas.openxmlformats.org/drawingml/2006/main">
              <a:ext uri="{FF2B5EF4-FFF2-40B4-BE49-F238E27FC236}">
                <a16:creationId xmlns:a16="http://schemas.microsoft.com/office/drawing/2014/main" id="{E2D3FDC8-29EF-4179-A84B-C1CAFB4F06D7}"/>
              </a:ext>
            </a:extLst>
          </p:cNvPr>
          <p:cNvSpPr>
            <a:spLocks xmlns:a="http://schemas.openxmlformats.org/drawingml/2006/main" noGrp="1"/>
          </p:cNvSpPr>
          <p:nvPr/>
        </p:nvSpPr>
        <p:spPr>
          <a:xfrm xmlns:a="http://schemas.openxmlformats.org/drawingml/2006/main">
            <a:off x="400050" y="1866900"/>
            <a:ext cx="5334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4350" b="1">
                <a:solidFill>
                  <a:srgbClr val="101914"/>
                </a:solidFill>
                <a:latin typeface="Arial"/>
                <a:ea typeface="Arial"/>
                <a:cs typeface="Arial"/>
              </a:defRPr>
            </a:pPr>
            <a:r>
              <a:rPr sz="4350" b="1">
                <a:solidFill>
                  <a:srgbClr val="101914"/>
                </a:solidFill>
                <a:latin typeface="Arial"/>
                <a:ea typeface="Arial"/>
                <a:cs typeface="Arial"/>
              </a:rPr>
              <a:t>From Harness UX</a:t>
            </a:r>
          </a:p>
          <a:p xmlns:a="http://schemas.openxmlformats.org/drawingml/2006/main">
            <a:pPr>
              <a:defRPr sz="4350" b="1">
                <a:solidFill>
                  <a:srgbClr val="101914"/>
                </a:solidFill>
                <a:latin typeface="Arial"/>
                <a:ea typeface="Arial"/>
                <a:cs typeface="Arial"/>
              </a:defRPr>
            </a:pPr>
            <a:r>
              <a:rPr sz="4350" b="1">
                <a:solidFill>
                  <a:srgbClr val="101914"/>
                </a:solidFill>
                <a:latin typeface="Arial"/>
                <a:ea typeface="Arial"/>
                <a:cs typeface="Arial"/>
              </a:rPr>
              <a:t>to Session Events</a:t>
            </a:r>
          </a:p>
        </p:txBody>
      </p:sp>
      <p:sp>
        <p:nvSpPr>
          <p:cNvPr id="3" name="cover-subtitle">
            <a:extLst xmlns:a="http://schemas.openxmlformats.org/drawingml/2006/main">
              <a:ext uri="{FF2B5EF4-FFF2-40B4-BE49-F238E27FC236}">
                <a16:creationId xmlns:a16="http://schemas.microsoft.com/office/drawing/2014/main" id="{9BDF4F75-CC07-47E3-B085-1B7FA0C5619B}"/>
              </a:ext>
            </a:extLst>
          </p:cNvPr>
          <p:cNvSpPr>
            <a:spLocks xmlns:a="http://schemas.openxmlformats.org/drawingml/2006/main" noGrp="1"/>
          </p:cNvSpPr>
          <p:nvPr/>
        </p:nvSpPr>
        <p:spPr>
          <a:xfrm xmlns:a="http://schemas.openxmlformats.org/drawingml/2006/main">
            <a:off x="438150" y="421005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75">
                <a:solidFill>
                  <a:srgbClr val="66706A"/>
                </a:solidFill>
                <a:latin typeface="Arial"/>
                <a:ea typeface="Arial"/>
                <a:cs typeface="Arial"/>
              </a:defRPr>
            </a:pPr>
            <a:r>
              <a:rPr sz="1575">
                <a:solidFill>
                  <a:srgbClr val="66706A"/>
                </a:solidFill>
                <a:latin typeface="Arial"/>
                <a:ea typeface="Arial"/>
                <a:cs typeface="Arial"/>
              </a:rPr>
              <a:t>A screenshot-led walkthrough of capability exposure, node configuration, event compilation, and pinned runtime truth.</a:t>
            </a:r>
          </a:p>
        </p:txBody>
      </p:sp>
      <p:sp>
        <p:nvSpPr>
          <p:cNvPr id="4" name="frame-08-session-profile-and-message-controls.jpg">
            <a:extLst xmlns:a="http://schemas.openxmlformats.org/drawingml/2006/main">
              <a:ext uri="{FF2B5EF4-FFF2-40B4-BE49-F238E27FC236}">
                <a16:creationId xmlns:a16="http://schemas.microsoft.com/office/drawing/2014/main" id="{93DB4816-A43D-4DFA-BDF0-AACD1425DA65}"/>
              </a:ext>
            </a:extLst>
          </p:cNvPr>
          <p:cNvSpPr>
            <a:spLocks xmlns:a="http://schemas.openxmlformats.org/drawingml/2006/main" noGrp="1"/>
          </p:cNvSpPr>
          <p:nvPr/>
        </p:nvSpPr>
        <p:spPr>
          <a:xfrm xmlns:a="http://schemas.openxmlformats.org/drawingml/2006/main">
            <a:off x="6324600" y="438150"/>
            <a:ext cx="5429250" cy="5476875"/>
          </a:xfrm>
          <a:prstGeom xmlns:a="http://schemas.openxmlformats.org/drawingml/2006/main" prst="roundRect">
            <a:avLst>
              <a:gd name="adj" fmla="val 2105"/>
            </a:avLst>
          </a:prstGeom>
          <a:solidFill xmlns:a="http://schemas.openxmlformats.org/drawingml/2006/main">
            <a:srgbClr val="FFFFFF"/>
          </a:solidFill>
          <a:ln xmlns:a="http://schemas.openxmlformats.org/drawingml/2006/main" w="9525">
            <a:solidFill>
              <a:srgbClr val="ABB5A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c00868d34a5426a"/>
          <a:stretch xmlns:a="http://schemas.openxmlformats.org/drawingml/2006/main"/>
        </p:blipFill>
        <p:spPr>
          <a:xfrm xmlns:a="http://schemas.openxmlformats.org/drawingml/2006/main">
            <a:off x="6381750" y="1412538"/>
            <a:ext cx="5314950" cy="3528099"/>
          </a:xfrm>
          <a:prstGeom xmlns:a="http://schemas.openxmlformats.org/drawingml/2006/main" prst="roundRect">
            <a:avLst>
              <a:gd name="adj" fmla="val 2151"/>
            </a:avLst>
          </a:prstGeom>
        </p:spPr>
      </p:pic>
      <p:sp>
        <p:nvSpPr>
          <p:cNvPr id="6" name="evidence-SEEDED INSPECTION FIXTURE">
            <a:extLst xmlns:a="http://schemas.openxmlformats.org/drawingml/2006/main">
              <a:ext uri="{FF2B5EF4-FFF2-40B4-BE49-F238E27FC236}">
                <a16:creationId xmlns:a16="http://schemas.microsoft.com/office/drawing/2014/main" id="{09332FA9-D292-4CD1-B8FE-9D81D379B296}"/>
              </a:ext>
            </a:extLst>
          </p:cNvPr>
          <p:cNvSpPr>
            <a:spLocks xmlns:a="http://schemas.openxmlformats.org/drawingml/2006/main" noGrp="1"/>
          </p:cNvSpPr>
          <p:nvPr/>
        </p:nvSpPr>
        <p:spPr>
          <a:xfrm xmlns:a="http://schemas.openxmlformats.org/drawingml/2006/main">
            <a:off x="6457950" y="571500"/>
            <a:ext cx="1814513" cy="266700"/>
          </a:xfrm>
          <a:prstGeom xmlns:a="http://schemas.openxmlformats.org/drawingml/2006/main" prst="roundRect">
            <a:avLst>
              <a:gd name="adj" fmla="val 50000"/>
            </a:avLst>
          </a:prstGeom>
          <a:solidFill xmlns:a="http://schemas.openxmlformats.org/drawingml/2006/main">
            <a:srgbClr val="F6EBDD"/>
          </a:solidFill>
          <a:ln xmlns:a="http://schemas.openxmlformats.org/drawingml/2006/main" w="9525">
            <a:solidFill>
              <a:srgbClr val="F6EBDD"/>
            </a:solidFill>
            <a:prstDash val="solid"/>
          </a:ln>
        </p:spPr>
      </p:sp>
      <p:sp>
        <p:nvSpPr>
          <p:cNvPr id="7" name="evidence-text-SEEDED INSPECTION FIXTURE">
            <a:extLst xmlns:a="http://schemas.openxmlformats.org/drawingml/2006/main">
              <a:ext uri="{FF2B5EF4-FFF2-40B4-BE49-F238E27FC236}">
                <a16:creationId xmlns:a16="http://schemas.microsoft.com/office/drawing/2014/main" id="{19B8319B-3812-4FF4-B4D9-919D9D88CF37}"/>
              </a:ext>
            </a:extLst>
          </p:cNvPr>
          <p:cNvSpPr>
            <a:spLocks xmlns:a="http://schemas.openxmlformats.org/drawingml/2006/main" noGrp="1"/>
          </p:cNvSpPr>
          <p:nvPr/>
        </p:nvSpPr>
        <p:spPr>
          <a:xfrm xmlns:a="http://schemas.openxmlformats.org/drawingml/2006/main">
            <a:off x="6572250" y="638175"/>
            <a:ext cx="1585913"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A55B16"/>
                </a:solidFill>
                <a:latin typeface="Arial"/>
                <a:ea typeface="Arial"/>
                <a:cs typeface="Arial"/>
              </a:defRPr>
            </a:pPr>
            <a:r>
              <a:rPr sz="750" b="1">
                <a:solidFill>
                  <a:srgbClr val="A55B16"/>
                </a:solidFill>
                <a:latin typeface="Arial"/>
                <a:ea typeface="Arial"/>
                <a:cs typeface="Arial"/>
              </a:rPr>
              <a:t>SEEDED INSPECTION FIXTURE</a:t>
            </a:r>
          </a:p>
        </p:txBody>
      </p:sp>
      <p:sp>
        <p:nvSpPr>
          <p:cNvPr id="8" name="evidence-BRANCH aaca806">
            <a:extLst xmlns:a="http://schemas.openxmlformats.org/drawingml/2006/main">
              <a:ext uri="{FF2B5EF4-FFF2-40B4-BE49-F238E27FC236}">
                <a16:creationId xmlns:a16="http://schemas.microsoft.com/office/drawing/2014/main" id="{D153B8E9-BC18-4C6B-948F-0A2604CE4B20}"/>
              </a:ext>
            </a:extLst>
          </p:cNvPr>
          <p:cNvSpPr>
            <a:spLocks xmlns:a="http://schemas.openxmlformats.org/drawingml/2006/main" noGrp="1"/>
          </p:cNvSpPr>
          <p:nvPr/>
        </p:nvSpPr>
        <p:spPr>
          <a:xfrm xmlns:a="http://schemas.openxmlformats.org/drawingml/2006/main">
            <a:off x="400050" y="5943600"/>
            <a:ext cx="13525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9" name="evidence-text-BRANCH aaca806">
            <a:extLst xmlns:a="http://schemas.openxmlformats.org/drawingml/2006/main">
              <a:ext uri="{FF2B5EF4-FFF2-40B4-BE49-F238E27FC236}">
                <a16:creationId xmlns:a16="http://schemas.microsoft.com/office/drawing/2014/main" id="{2B6BC980-3194-46FE-B855-570909C99011}"/>
              </a:ext>
            </a:extLst>
          </p:cNvPr>
          <p:cNvSpPr>
            <a:spLocks xmlns:a="http://schemas.openxmlformats.org/drawingml/2006/main" noGrp="1"/>
          </p:cNvSpPr>
          <p:nvPr/>
        </p:nvSpPr>
        <p:spPr>
          <a:xfrm xmlns:a="http://schemas.openxmlformats.org/drawingml/2006/main">
            <a:off x="514350" y="6010275"/>
            <a:ext cx="1123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BRANCH aaca806</a:t>
            </a:r>
          </a:p>
        </p:txBody>
      </p:sp>
      <p:sp>
        <p:nvSpPr>
          <p:cNvPr id="10" name="evidence-NO PROVIDER DISPATCH">
            <a:extLst xmlns:a="http://schemas.openxmlformats.org/drawingml/2006/main">
              <a:ext uri="{FF2B5EF4-FFF2-40B4-BE49-F238E27FC236}">
                <a16:creationId xmlns:a16="http://schemas.microsoft.com/office/drawing/2014/main" id="{6B5D1FCA-ABFC-448F-B9B5-59545EAD33D3}"/>
              </a:ext>
            </a:extLst>
          </p:cNvPr>
          <p:cNvSpPr>
            <a:spLocks xmlns:a="http://schemas.openxmlformats.org/drawingml/2006/main" noGrp="1"/>
          </p:cNvSpPr>
          <p:nvPr/>
        </p:nvSpPr>
        <p:spPr>
          <a:xfrm xmlns:a="http://schemas.openxmlformats.org/drawingml/2006/main">
            <a:off x="1885950" y="5943600"/>
            <a:ext cx="156210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1" name="evidence-text-NO PROVIDER DISPATCH">
            <a:extLst xmlns:a="http://schemas.openxmlformats.org/drawingml/2006/main">
              <a:ext uri="{FF2B5EF4-FFF2-40B4-BE49-F238E27FC236}">
                <a16:creationId xmlns:a16="http://schemas.microsoft.com/office/drawing/2014/main" id="{08B4E389-3066-4C42-BC14-83527069C666}"/>
              </a:ext>
            </a:extLst>
          </p:cNvPr>
          <p:cNvSpPr>
            <a:spLocks xmlns:a="http://schemas.openxmlformats.org/drawingml/2006/main" noGrp="1"/>
          </p:cNvSpPr>
          <p:nvPr/>
        </p:nvSpPr>
        <p:spPr>
          <a:xfrm xmlns:a="http://schemas.openxmlformats.org/drawingml/2006/main">
            <a:off x="2000250" y="6010275"/>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NO PROVIDER DISPATCH</a:t>
            </a:r>
          </a:p>
        </p:txBody>
      </p:sp>
      <p:sp>
        <p:nvSpPr>
          <p:cNvPr id="12" name="cover-footer">
            <a:extLst xmlns:a="http://schemas.openxmlformats.org/drawingml/2006/main">
              <a:ext uri="{FF2B5EF4-FFF2-40B4-BE49-F238E27FC236}">
                <a16:creationId xmlns:a16="http://schemas.microsoft.com/office/drawing/2014/main" id="{68A0D2B2-8A24-4089-98A0-07679CCB3F41}"/>
              </a:ext>
            </a:extLst>
          </p:cNvPr>
          <p:cNvSpPr>
            <a:spLocks xmlns:a="http://schemas.openxmlformats.org/drawingml/2006/main" noGrp="1"/>
          </p:cNvSpPr>
          <p:nvPr/>
        </p:nvSpPr>
        <p:spPr>
          <a:xfrm xmlns:a="http://schemas.openxmlformats.org/drawingml/2006/main">
            <a:off x="10287000" y="6381750"/>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6706A"/>
                </a:solidFill>
                <a:latin typeface="Arial"/>
                <a:ea typeface="Arial"/>
                <a:cs typeface="Arial"/>
              </a:defRPr>
            </a:pPr>
            <a:r>
              <a:rPr sz="825">
                <a:solidFill>
                  <a:srgbClr val="66706A"/>
                </a:solidFill>
                <a:latin typeface="Arial"/>
                <a:ea typeface="Arial"/>
                <a:cs typeface="Arial"/>
              </a:rPr>
              <a:t>Captured 2 Sep 2026</a:t>
            </a:r>
          </a:p>
        </p:txBody>
      </p:sp>
    </p:spTree>
    <p:extLst>
      <p:ext uri="{BB962C8B-B14F-4D97-AF65-F5344CB8AC3E}">
        <p14:creationId xmlns:p14="http://schemas.microsoft.com/office/powerpoint/2010/main" val="1727665149"/>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9" name="eyebrow-2">
            <a:extLst xmlns:a="http://schemas.openxmlformats.org/drawingml/2006/main">
              <a:ext uri="{FF2B5EF4-FFF2-40B4-BE49-F238E27FC236}">
                <a16:creationId xmlns:a16="http://schemas.microsoft.com/office/drawing/2014/main" id="{C5D05ED6-2CD8-4699-80D0-019DF9BEE1D5}"/>
              </a:ext>
            </a:extLst>
          </p:cNvPr>
          <p:cNvSpPr>
            <a:spLocks xmlns:a="http://schemas.openxmlformats.org/drawingml/2006/main" noGrp="1"/>
          </p:cNvSpPr>
          <p:nvPr/>
        </p:nvSpPr>
        <p:spPr>
          <a:xfrm xmlns:a="http://schemas.openxmlformats.org/drawingml/2006/main">
            <a:off x="400050" y="323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CONCEPTUAL MAP</a:t>
            </a:r>
          </a:p>
        </p:txBody>
      </p:sp>
      <p:sp>
        <p:nvSpPr>
          <p:cNvPr id="2" name="title-2">
            <a:extLst xmlns:a="http://schemas.openxmlformats.org/drawingml/2006/main">
              <a:ext uri="{FF2B5EF4-FFF2-40B4-BE49-F238E27FC236}">
                <a16:creationId xmlns:a16="http://schemas.microsoft.com/office/drawing/2014/main" id="{54DE0A88-EDD7-418B-8ECF-03D90769ED36}"/>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700" b="1">
                <a:solidFill>
                  <a:srgbClr val="101914"/>
                </a:solidFill>
                <a:latin typeface="Arial"/>
                <a:ea typeface="Arial"/>
                <a:cs typeface="Arial"/>
              </a:defRPr>
            </a:pPr>
            <a:r>
              <a:rPr sz="2700" b="1">
                <a:solidFill>
                  <a:srgbClr val="101914"/>
                </a:solidFill>
                <a:latin typeface="Arial"/>
                <a:ea typeface="Arial"/>
                <a:cs typeface="Arial"/>
              </a:rPr>
              <a:t>The UI now exposes five distinct layers</a:t>
            </a:r>
          </a:p>
        </p:txBody>
      </p:sp>
      <p:sp>
        <p:nvSpPr>
          <p:cNvPr id="3" name="slide-number-2">
            <a:extLst xmlns:a="http://schemas.openxmlformats.org/drawingml/2006/main">
              <a:ext uri="{FF2B5EF4-FFF2-40B4-BE49-F238E27FC236}">
                <a16:creationId xmlns:a16="http://schemas.microsoft.com/office/drawing/2014/main" id="{50A21D52-6B29-46B4-9463-C3B1BE0B5ECB}"/>
              </a:ext>
            </a:extLst>
          </p:cNvPr>
          <p:cNvSpPr>
            <a:spLocks xmlns:a="http://schemas.openxmlformats.org/drawingml/2006/main" noGrp="1"/>
          </p:cNvSpPr>
          <p:nvPr/>
        </p:nvSpPr>
        <p:spPr>
          <a:xfrm xmlns:a="http://schemas.openxmlformats.org/drawingml/2006/main">
            <a:off x="11334750" y="400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a:solidFill>
                  <a:srgbClr val="66706A"/>
                </a:solidFill>
                <a:latin typeface="Arial"/>
                <a:ea typeface="Arial"/>
                <a:cs typeface="Arial"/>
              </a:defRPr>
            </a:pPr>
            <a:r>
              <a:rPr sz="900">
                <a:solidFill>
                  <a:srgbClr val="66706A"/>
                </a:solidFill>
                <a:latin typeface="Arial"/>
                <a:ea typeface="Arial"/>
                <a:cs typeface="Arial"/>
              </a:rPr>
              <a:t>02</a:t>
            </a:r>
          </a:p>
        </p:txBody>
      </p:sp>
      <p:sp>
        <p:nvSpPr>
          <p:cNvPr id="4" name="stage-1">
            <a:extLst xmlns:a="http://schemas.openxmlformats.org/drawingml/2006/main">
              <a:ext uri="{FF2B5EF4-FFF2-40B4-BE49-F238E27FC236}">
                <a16:creationId xmlns:a16="http://schemas.microsoft.com/office/drawing/2014/main" id="{DA2C357C-F1DF-4B0C-88FA-1AB94D743477}"/>
              </a:ext>
            </a:extLst>
          </p:cNvPr>
          <p:cNvSpPr>
            <a:spLocks xmlns:a="http://schemas.openxmlformats.org/drawingml/2006/main" noGrp="1"/>
          </p:cNvSpPr>
          <p:nvPr/>
        </p:nvSpPr>
        <p:spPr>
          <a:xfrm xmlns:a="http://schemas.openxmlformats.org/drawingml/2006/main">
            <a:off x="552450" y="1885950"/>
            <a:ext cx="2095500" cy="23241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8CEC9"/>
            </a:solidFill>
            <a:prstDash val="solid"/>
          </a:ln>
        </p:spPr>
      </p:sp>
      <p:sp>
        <p:nvSpPr>
          <p:cNvPr id="5" name="stage-number-1">
            <a:extLst xmlns:a="http://schemas.openxmlformats.org/drawingml/2006/main">
              <a:ext uri="{FF2B5EF4-FFF2-40B4-BE49-F238E27FC236}">
                <a16:creationId xmlns:a16="http://schemas.microsoft.com/office/drawing/2014/main" id="{5C96F1EB-4AD3-4783-BFB1-16E121780E68}"/>
              </a:ext>
            </a:extLst>
          </p:cNvPr>
          <p:cNvSpPr>
            <a:spLocks xmlns:a="http://schemas.openxmlformats.org/drawingml/2006/main" noGrp="1"/>
          </p:cNvSpPr>
          <p:nvPr/>
        </p:nvSpPr>
        <p:spPr>
          <a:xfrm xmlns:a="http://schemas.openxmlformats.org/drawingml/2006/main">
            <a:off x="742950" y="20764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250" b="1">
                <a:solidFill>
                  <a:srgbClr val="2D5D48"/>
                </a:solidFill>
                <a:latin typeface="Arial"/>
                <a:ea typeface="Arial"/>
                <a:cs typeface="Arial"/>
              </a:defRPr>
            </a:pPr>
            <a:r>
              <a:rPr sz="2250" b="1">
                <a:solidFill>
                  <a:srgbClr val="2D5D48"/>
                </a:solidFill>
                <a:latin typeface="Arial"/>
                <a:ea typeface="Arial"/>
                <a:cs typeface="Arial"/>
              </a:rPr>
              <a:t>1</a:t>
            </a:r>
          </a:p>
        </p:txBody>
      </p:sp>
      <p:sp>
        <p:nvSpPr>
          <p:cNvPr id="6" name="stage-title-1">
            <a:extLst xmlns:a="http://schemas.openxmlformats.org/drawingml/2006/main">
              <a:ext uri="{FF2B5EF4-FFF2-40B4-BE49-F238E27FC236}">
                <a16:creationId xmlns:a16="http://schemas.microsoft.com/office/drawing/2014/main" id="{89E87395-6D47-4C2A-989E-4DCA5807A95E}"/>
              </a:ext>
            </a:extLst>
          </p:cNvPr>
          <p:cNvSpPr>
            <a:spLocks xmlns:a="http://schemas.openxmlformats.org/drawingml/2006/main" noGrp="1"/>
          </p:cNvSpPr>
          <p:nvPr/>
        </p:nvSpPr>
        <p:spPr>
          <a:xfrm xmlns:a="http://schemas.openxmlformats.org/drawingml/2006/main">
            <a:off x="742950" y="27813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Selected runtime</a:t>
            </a:r>
          </a:p>
        </p:txBody>
      </p:sp>
      <p:sp>
        <p:nvSpPr>
          <p:cNvPr id="7" name="stage-detail-1">
            <a:extLst xmlns:a="http://schemas.openxmlformats.org/drawingml/2006/main">
              <a:ext uri="{FF2B5EF4-FFF2-40B4-BE49-F238E27FC236}">
                <a16:creationId xmlns:a16="http://schemas.microsoft.com/office/drawing/2014/main" id="{35F24A29-3FAA-4D74-ABE7-6E0A5E37B085}"/>
              </a:ext>
            </a:extLst>
          </p:cNvPr>
          <p:cNvSpPr>
            <a:spLocks xmlns:a="http://schemas.openxmlformats.org/drawingml/2006/main" noGrp="1"/>
          </p:cNvSpPr>
          <p:nvPr/>
        </p:nvSpPr>
        <p:spPr>
          <a:xfrm xmlns:a="http://schemas.openxmlformats.org/drawingml/2006/main">
            <a:off x="742950" y="3571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a:solidFill>
                  <a:srgbClr val="66706A"/>
                </a:solidFill>
                <a:latin typeface="Arial"/>
                <a:ea typeface="Arial"/>
                <a:cs typeface="Arial"/>
              </a:defRPr>
            </a:pPr>
            <a:r>
              <a:rPr sz="1125">
                <a:solidFill>
                  <a:srgbClr val="66706A"/>
                </a:solidFill>
                <a:latin typeface="Arial"/>
                <a:ea typeface="Arial"/>
                <a:cs typeface="Arial"/>
              </a:rPr>
              <a:t>Provider-managed exposure</a:t>
            </a:r>
          </a:p>
        </p:txBody>
      </p:sp>
      <p:sp>
        <p:nvSpPr>
          <p:cNvPr id="8" name="arrow-1">
            <a:extLst xmlns:a="http://schemas.openxmlformats.org/drawingml/2006/main">
              <a:ext uri="{FF2B5EF4-FFF2-40B4-BE49-F238E27FC236}">
                <a16:creationId xmlns:a16="http://schemas.microsoft.com/office/drawing/2014/main" id="{4FE0138C-5FC9-4149-87AA-2D9DA80DAC2F}"/>
              </a:ext>
            </a:extLst>
          </p:cNvPr>
          <p:cNvSpPr>
            <a:spLocks xmlns:a="http://schemas.openxmlformats.org/drawingml/2006/main" noGrp="1"/>
          </p:cNvSpPr>
          <p:nvPr/>
        </p:nvSpPr>
        <p:spPr>
          <a:xfrm xmlns:a="http://schemas.openxmlformats.org/drawingml/2006/main">
            <a:off x="2657475" y="2876550"/>
            <a:ext cx="24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59"/>
          </a:bodyPr>
          <a:lstStyle xmlns:a="http://schemas.openxmlformats.org/drawingml/2006/main"/>
          <a:p xmlns:a="http://schemas.openxmlformats.org/drawingml/2006/main">
            <a:pPr algn="ctr">
              <a:defRPr sz="2100" b="1">
                <a:solidFill>
                  <a:srgbClr val="2D5D48"/>
                </a:solidFill>
                <a:latin typeface="Arial"/>
                <a:ea typeface="Arial"/>
                <a:cs typeface="Arial"/>
              </a:defRPr>
            </a:pPr>
            <a:r>
              <a:rPr sz="2100" b="1">
                <a:solidFill>
                  <a:srgbClr val="2D5D48"/>
                </a:solidFill>
                <a:latin typeface="Arial"/>
                <a:ea typeface="Arial"/>
                <a:cs typeface="Arial"/>
              </a:rPr>
              <a:t>→</a:t>
            </a:r>
          </a:p>
        </p:txBody>
      </p:sp>
      <p:sp>
        <p:nvSpPr>
          <p:cNvPr id="9" name="stage-2">
            <a:extLst xmlns:a="http://schemas.openxmlformats.org/drawingml/2006/main">
              <a:ext uri="{FF2B5EF4-FFF2-40B4-BE49-F238E27FC236}">
                <a16:creationId xmlns:a16="http://schemas.microsoft.com/office/drawing/2014/main" id="{35E27801-C098-41EC-AFA5-3C57B825EBBE}"/>
              </a:ext>
            </a:extLst>
          </p:cNvPr>
          <p:cNvSpPr>
            <a:spLocks xmlns:a="http://schemas.openxmlformats.org/drawingml/2006/main" noGrp="1"/>
          </p:cNvSpPr>
          <p:nvPr/>
        </p:nvSpPr>
        <p:spPr>
          <a:xfrm xmlns:a="http://schemas.openxmlformats.org/drawingml/2006/main">
            <a:off x="2781300" y="1885950"/>
            <a:ext cx="2095500" cy="23241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8CEC9"/>
            </a:solidFill>
            <a:prstDash val="solid"/>
          </a:ln>
        </p:spPr>
      </p:sp>
      <p:sp>
        <p:nvSpPr>
          <p:cNvPr id="10" name="stage-number-2">
            <a:extLst xmlns:a="http://schemas.openxmlformats.org/drawingml/2006/main">
              <a:ext uri="{FF2B5EF4-FFF2-40B4-BE49-F238E27FC236}">
                <a16:creationId xmlns:a16="http://schemas.microsoft.com/office/drawing/2014/main" id="{69D393BA-50A7-44F4-9AC8-D412A8D0CC8E}"/>
              </a:ext>
            </a:extLst>
          </p:cNvPr>
          <p:cNvSpPr>
            <a:spLocks xmlns:a="http://schemas.openxmlformats.org/drawingml/2006/main" noGrp="1"/>
          </p:cNvSpPr>
          <p:nvPr/>
        </p:nvSpPr>
        <p:spPr>
          <a:xfrm xmlns:a="http://schemas.openxmlformats.org/drawingml/2006/main">
            <a:off x="2971800" y="20764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250" b="1">
                <a:solidFill>
                  <a:srgbClr val="2D5D48"/>
                </a:solidFill>
                <a:latin typeface="Arial"/>
                <a:ea typeface="Arial"/>
                <a:cs typeface="Arial"/>
              </a:defRPr>
            </a:pPr>
            <a:r>
              <a:rPr sz="2250" b="1">
                <a:solidFill>
                  <a:srgbClr val="2D5D48"/>
                </a:solidFill>
                <a:latin typeface="Arial"/>
                <a:ea typeface="Arial"/>
                <a:cs typeface="Arial"/>
              </a:rPr>
              <a:t>2</a:t>
            </a:r>
          </a:p>
        </p:txBody>
      </p:sp>
      <p:sp>
        <p:nvSpPr>
          <p:cNvPr id="11" name="stage-title-2">
            <a:extLst xmlns:a="http://schemas.openxmlformats.org/drawingml/2006/main">
              <a:ext uri="{FF2B5EF4-FFF2-40B4-BE49-F238E27FC236}">
                <a16:creationId xmlns:a16="http://schemas.microsoft.com/office/drawing/2014/main" id="{C50D3538-B13F-4727-976A-1D211BF6E032}"/>
              </a:ext>
            </a:extLst>
          </p:cNvPr>
          <p:cNvSpPr>
            <a:spLocks xmlns:a="http://schemas.openxmlformats.org/drawingml/2006/main" noGrp="1"/>
          </p:cNvSpPr>
          <p:nvPr/>
        </p:nvSpPr>
        <p:spPr>
          <a:xfrm xmlns:a="http://schemas.openxmlformats.org/drawingml/2006/main">
            <a:off x="2971800" y="27813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Capability Profile</a:t>
            </a:r>
          </a:p>
        </p:txBody>
      </p:sp>
      <p:sp>
        <p:nvSpPr>
          <p:cNvPr id="12" name="stage-detail-2">
            <a:extLst xmlns:a="http://schemas.openxmlformats.org/drawingml/2006/main">
              <a:ext uri="{FF2B5EF4-FFF2-40B4-BE49-F238E27FC236}">
                <a16:creationId xmlns:a16="http://schemas.microsoft.com/office/drawing/2014/main" id="{33AEEA6B-D1B5-4567-A4E9-BD99FE7D42F9}"/>
              </a:ext>
            </a:extLst>
          </p:cNvPr>
          <p:cNvSpPr>
            <a:spLocks xmlns:a="http://schemas.openxmlformats.org/drawingml/2006/main" noGrp="1"/>
          </p:cNvSpPr>
          <p:nvPr/>
        </p:nvSpPr>
        <p:spPr>
          <a:xfrm xmlns:a="http://schemas.openxmlformats.org/drawingml/2006/main">
            <a:off x="2971800" y="3571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a:solidFill>
                  <a:srgbClr val="66706A"/>
                </a:solidFill>
                <a:latin typeface="Arial"/>
                <a:ea typeface="Arial"/>
                <a:cs typeface="Arial"/>
              </a:defRPr>
            </a:pPr>
            <a:r>
              <a:rPr sz="1125">
                <a:solidFill>
                  <a:srgbClr val="66706A"/>
                </a:solidFill>
                <a:latin typeface="Arial"/>
                <a:ea typeface="Arial"/>
                <a:cs typeface="Arial"/>
              </a:rPr>
              <a:t>Reusable technical boundary</a:t>
            </a:r>
          </a:p>
        </p:txBody>
      </p:sp>
      <p:sp>
        <p:nvSpPr>
          <p:cNvPr id="13" name="arrow-2">
            <a:extLst xmlns:a="http://schemas.openxmlformats.org/drawingml/2006/main">
              <a:ext uri="{FF2B5EF4-FFF2-40B4-BE49-F238E27FC236}">
                <a16:creationId xmlns:a16="http://schemas.microsoft.com/office/drawing/2014/main" id="{4C3F72CB-FDD6-46D3-A998-3140781E1232}"/>
              </a:ext>
            </a:extLst>
          </p:cNvPr>
          <p:cNvSpPr>
            <a:spLocks xmlns:a="http://schemas.openxmlformats.org/drawingml/2006/main" noGrp="1"/>
          </p:cNvSpPr>
          <p:nvPr/>
        </p:nvSpPr>
        <p:spPr>
          <a:xfrm xmlns:a="http://schemas.openxmlformats.org/drawingml/2006/main">
            <a:off x="4886325" y="2876550"/>
            <a:ext cx="24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59"/>
          </a:bodyPr>
          <a:lstStyle xmlns:a="http://schemas.openxmlformats.org/drawingml/2006/main"/>
          <a:p xmlns:a="http://schemas.openxmlformats.org/drawingml/2006/main">
            <a:pPr algn="ctr">
              <a:defRPr sz="2100" b="1">
                <a:solidFill>
                  <a:srgbClr val="2D5D48"/>
                </a:solidFill>
                <a:latin typeface="Arial"/>
                <a:ea typeface="Arial"/>
                <a:cs typeface="Arial"/>
              </a:defRPr>
            </a:pPr>
            <a:r>
              <a:rPr sz="2100" b="1">
                <a:solidFill>
                  <a:srgbClr val="2D5D48"/>
                </a:solidFill>
                <a:latin typeface="Arial"/>
                <a:ea typeface="Arial"/>
                <a:cs typeface="Arial"/>
              </a:rPr>
              <a:t>→</a:t>
            </a:r>
          </a:p>
        </p:txBody>
      </p:sp>
      <p:sp>
        <p:nvSpPr>
          <p:cNvPr id="14" name="stage-3">
            <a:extLst xmlns:a="http://schemas.openxmlformats.org/drawingml/2006/main">
              <a:ext uri="{FF2B5EF4-FFF2-40B4-BE49-F238E27FC236}">
                <a16:creationId xmlns:a16="http://schemas.microsoft.com/office/drawing/2014/main" id="{2136B5E6-9081-470B-8A17-565FA2DAC814}"/>
              </a:ext>
            </a:extLst>
          </p:cNvPr>
          <p:cNvSpPr>
            <a:spLocks xmlns:a="http://schemas.openxmlformats.org/drawingml/2006/main" noGrp="1"/>
          </p:cNvSpPr>
          <p:nvPr/>
        </p:nvSpPr>
        <p:spPr>
          <a:xfrm xmlns:a="http://schemas.openxmlformats.org/drawingml/2006/main">
            <a:off x="5010150" y="1885950"/>
            <a:ext cx="2095500" cy="23241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8CEC9"/>
            </a:solidFill>
            <a:prstDash val="solid"/>
          </a:ln>
        </p:spPr>
      </p:sp>
      <p:sp>
        <p:nvSpPr>
          <p:cNvPr id="15" name="stage-number-3">
            <a:extLst xmlns:a="http://schemas.openxmlformats.org/drawingml/2006/main">
              <a:ext uri="{FF2B5EF4-FFF2-40B4-BE49-F238E27FC236}">
                <a16:creationId xmlns:a16="http://schemas.microsoft.com/office/drawing/2014/main" id="{30C5440C-8AEE-47E1-A5A4-DE5E53C7CDA2}"/>
              </a:ext>
            </a:extLst>
          </p:cNvPr>
          <p:cNvSpPr>
            <a:spLocks xmlns:a="http://schemas.openxmlformats.org/drawingml/2006/main" noGrp="1"/>
          </p:cNvSpPr>
          <p:nvPr/>
        </p:nvSpPr>
        <p:spPr>
          <a:xfrm xmlns:a="http://schemas.openxmlformats.org/drawingml/2006/main">
            <a:off x="5200650" y="20764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250" b="1">
                <a:solidFill>
                  <a:srgbClr val="2D5D48"/>
                </a:solidFill>
                <a:latin typeface="Arial"/>
                <a:ea typeface="Arial"/>
                <a:cs typeface="Arial"/>
              </a:defRPr>
            </a:pPr>
            <a:r>
              <a:rPr sz="2250" b="1">
                <a:solidFill>
                  <a:srgbClr val="2D5D48"/>
                </a:solidFill>
                <a:latin typeface="Arial"/>
                <a:ea typeface="Arial"/>
                <a:cs typeface="Arial"/>
              </a:rPr>
              <a:t>3</a:t>
            </a:r>
          </a:p>
        </p:txBody>
      </p:sp>
      <p:sp>
        <p:nvSpPr>
          <p:cNvPr id="16" name="stage-title-3">
            <a:extLst xmlns:a="http://schemas.openxmlformats.org/drawingml/2006/main">
              <a:ext uri="{FF2B5EF4-FFF2-40B4-BE49-F238E27FC236}">
                <a16:creationId xmlns:a16="http://schemas.microsoft.com/office/drawing/2014/main" id="{A699B259-5E3D-4EB6-B480-2211FF0405A9}"/>
              </a:ext>
            </a:extLst>
          </p:cNvPr>
          <p:cNvSpPr>
            <a:spLocks xmlns:a="http://schemas.openxmlformats.org/drawingml/2006/main" noGrp="1"/>
          </p:cNvSpPr>
          <p:nvPr/>
        </p:nvSpPr>
        <p:spPr>
          <a:xfrm xmlns:a="http://schemas.openxmlformats.org/drawingml/2006/main">
            <a:off x="5200650" y="27813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Node Profile</a:t>
            </a:r>
          </a:p>
        </p:txBody>
      </p:sp>
      <p:sp>
        <p:nvSpPr>
          <p:cNvPr id="17" name="stage-detail-3">
            <a:extLst xmlns:a="http://schemas.openxmlformats.org/drawingml/2006/main">
              <a:ext uri="{FF2B5EF4-FFF2-40B4-BE49-F238E27FC236}">
                <a16:creationId xmlns:a16="http://schemas.microsoft.com/office/drawing/2014/main" id="{DA715194-1200-43A7-8BA7-08D7CB7DB7D4}"/>
              </a:ext>
            </a:extLst>
          </p:cNvPr>
          <p:cNvSpPr>
            <a:spLocks xmlns:a="http://schemas.openxmlformats.org/drawingml/2006/main" noGrp="1"/>
          </p:cNvSpPr>
          <p:nvPr/>
        </p:nvSpPr>
        <p:spPr>
          <a:xfrm xmlns:a="http://schemas.openxmlformats.org/drawingml/2006/main">
            <a:off x="5200650" y="3571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a:solidFill>
                  <a:srgbClr val="66706A"/>
                </a:solidFill>
                <a:latin typeface="Arial"/>
                <a:ea typeface="Arial"/>
                <a:cs typeface="Arial"/>
              </a:defRPr>
            </a:pPr>
            <a:r>
              <a:rPr sz="1125">
                <a:solidFill>
                  <a:srgbClr val="66706A"/>
                </a:solidFill>
                <a:latin typeface="Arial"/>
                <a:ea typeface="Arial"/>
                <a:cs typeface="Arial"/>
              </a:rPr>
              <a:t>Embedded operational config</a:t>
            </a:r>
          </a:p>
        </p:txBody>
      </p:sp>
      <p:sp>
        <p:nvSpPr>
          <p:cNvPr id="18" name="arrow-3">
            <a:extLst xmlns:a="http://schemas.openxmlformats.org/drawingml/2006/main">
              <a:ext uri="{FF2B5EF4-FFF2-40B4-BE49-F238E27FC236}">
                <a16:creationId xmlns:a16="http://schemas.microsoft.com/office/drawing/2014/main" id="{45FB14BC-DB89-48F1-9B75-B54D1A27F40F}"/>
              </a:ext>
            </a:extLst>
          </p:cNvPr>
          <p:cNvSpPr>
            <a:spLocks xmlns:a="http://schemas.openxmlformats.org/drawingml/2006/main" noGrp="1"/>
          </p:cNvSpPr>
          <p:nvPr/>
        </p:nvSpPr>
        <p:spPr>
          <a:xfrm xmlns:a="http://schemas.openxmlformats.org/drawingml/2006/main">
            <a:off x="7115175" y="2876550"/>
            <a:ext cx="24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59"/>
          </a:bodyPr>
          <a:lstStyle xmlns:a="http://schemas.openxmlformats.org/drawingml/2006/main"/>
          <a:p xmlns:a="http://schemas.openxmlformats.org/drawingml/2006/main">
            <a:pPr algn="ctr">
              <a:defRPr sz="2100" b="1">
                <a:solidFill>
                  <a:srgbClr val="2D5D48"/>
                </a:solidFill>
                <a:latin typeface="Arial"/>
                <a:ea typeface="Arial"/>
                <a:cs typeface="Arial"/>
              </a:defRPr>
            </a:pPr>
            <a:r>
              <a:rPr sz="2100" b="1">
                <a:solidFill>
                  <a:srgbClr val="2D5D48"/>
                </a:solidFill>
                <a:latin typeface="Arial"/>
                <a:ea typeface="Arial"/>
                <a:cs typeface="Arial"/>
              </a:rPr>
              <a:t>→</a:t>
            </a:r>
          </a:p>
        </p:txBody>
      </p:sp>
      <p:sp>
        <p:nvSpPr>
          <p:cNvPr id="19" name="stage-4">
            <a:extLst xmlns:a="http://schemas.openxmlformats.org/drawingml/2006/main">
              <a:ext uri="{FF2B5EF4-FFF2-40B4-BE49-F238E27FC236}">
                <a16:creationId xmlns:a16="http://schemas.microsoft.com/office/drawing/2014/main" id="{2DBC4888-1C14-4C65-BE35-458E15286D67}"/>
              </a:ext>
            </a:extLst>
          </p:cNvPr>
          <p:cNvSpPr>
            <a:spLocks xmlns:a="http://schemas.openxmlformats.org/drawingml/2006/main" noGrp="1"/>
          </p:cNvSpPr>
          <p:nvPr/>
        </p:nvSpPr>
        <p:spPr>
          <a:xfrm xmlns:a="http://schemas.openxmlformats.org/drawingml/2006/main">
            <a:off x="7239000" y="1885950"/>
            <a:ext cx="2095500" cy="23241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8CEC9"/>
            </a:solidFill>
            <a:prstDash val="solid"/>
          </a:ln>
        </p:spPr>
      </p:sp>
      <p:sp>
        <p:nvSpPr>
          <p:cNvPr id="20" name="stage-number-4">
            <a:extLst xmlns:a="http://schemas.openxmlformats.org/drawingml/2006/main">
              <a:ext uri="{FF2B5EF4-FFF2-40B4-BE49-F238E27FC236}">
                <a16:creationId xmlns:a16="http://schemas.microsoft.com/office/drawing/2014/main" id="{120A7EEC-18E1-437B-845F-A732E278363C}"/>
              </a:ext>
            </a:extLst>
          </p:cNvPr>
          <p:cNvSpPr>
            <a:spLocks xmlns:a="http://schemas.openxmlformats.org/drawingml/2006/main" noGrp="1"/>
          </p:cNvSpPr>
          <p:nvPr/>
        </p:nvSpPr>
        <p:spPr>
          <a:xfrm xmlns:a="http://schemas.openxmlformats.org/drawingml/2006/main">
            <a:off x="7429500" y="20764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250" b="1">
                <a:solidFill>
                  <a:srgbClr val="2D5D48"/>
                </a:solidFill>
                <a:latin typeface="Arial"/>
                <a:ea typeface="Arial"/>
                <a:cs typeface="Arial"/>
              </a:defRPr>
            </a:pPr>
            <a:r>
              <a:rPr sz="2250" b="1">
                <a:solidFill>
                  <a:srgbClr val="2D5D48"/>
                </a:solidFill>
                <a:latin typeface="Arial"/>
                <a:ea typeface="Arial"/>
                <a:cs typeface="Arial"/>
              </a:rPr>
              <a:t>4</a:t>
            </a:r>
          </a:p>
        </p:txBody>
      </p:sp>
      <p:sp>
        <p:nvSpPr>
          <p:cNvPr id="21" name="stage-title-4">
            <a:extLst xmlns:a="http://schemas.openxmlformats.org/drawingml/2006/main">
              <a:ext uri="{FF2B5EF4-FFF2-40B4-BE49-F238E27FC236}">
                <a16:creationId xmlns:a16="http://schemas.microsoft.com/office/drawing/2014/main" id="{21A686B7-9771-4738-8499-15627AD43CE7}"/>
              </a:ext>
            </a:extLst>
          </p:cNvPr>
          <p:cNvSpPr>
            <a:spLocks xmlns:a="http://schemas.openxmlformats.org/drawingml/2006/main" noGrp="1"/>
          </p:cNvSpPr>
          <p:nvPr/>
        </p:nvSpPr>
        <p:spPr>
          <a:xfrm xmlns:a="http://schemas.openxmlformats.org/drawingml/2006/main">
            <a:off x="7429500" y="27813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Session Event</a:t>
            </a:r>
          </a:p>
        </p:txBody>
      </p:sp>
      <p:sp>
        <p:nvSpPr>
          <p:cNvPr id="22" name="stage-detail-4">
            <a:extLst xmlns:a="http://schemas.openxmlformats.org/drawingml/2006/main">
              <a:ext uri="{FF2B5EF4-FFF2-40B4-BE49-F238E27FC236}">
                <a16:creationId xmlns:a16="http://schemas.microsoft.com/office/drawing/2014/main" id="{58EA537A-CDC5-4BEB-A275-5F2E2FD85FAF}"/>
              </a:ext>
            </a:extLst>
          </p:cNvPr>
          <p:cNvSpPr>
            <a:spLocks xmlns:a="http://schemas.openxmlformats.org/drawingml/2006/main" noGrp="1"/>
          </p:cNvSpPr>
          <p:nvPr/>
        </p:nvSpPr>
        <p:spPr>
          <a:xfrm xmlns:a="http://schemas.openxmlformats.org/drawingml/2006/main">
            <a:off x="7429500" y="3571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a:solidFill>
                  <a:srgbClr val="66706A"/>
                </a:solidFill>
                <a:latin typeface="Arial"/>
                <a:ea typeface="Arial"/>
                <a:cs typeface="Arial"/>
              </a:defRPr>
            </a:pPr>
            <a:r>
              <a:rPr sz="1125">
                <a:solidFill>
                  <a:srgbClr val="66706A"/>
                </a:solidFill>
                <a:latin typeface="Arial"/>
                <a:ea typeface="Arial"/>
                <a:cs typeface="Arial"/>
              </a:rPr>
              <a:t>Trigger + prompt + target</a:t>
            </a:r>
          </a:p>
        </p:txBody>
      </p:sp>
      <p:sp>
        <p:nvSpPr>
          <p:cNvPr id="23" name="arrow-4">
            <a:extLst xmlns:a="http://schemas.openxmlformats.org/drawingml/2006/main">
              <a:ext uri="{FF2B5EF4-FFF2-40B4-BE49-F238E27FC236}">
                <a16:creationId xmlns:a16="http://schemas.microsoft.com/office/drawing/2014/main" id="{E84917DE-D0D9-4B5F-A0DE-4CF28BD9483A}"/>
              </a:ext>
            </a:extLst>
          </p:cNvPr>
          <p:cNvSpPr>
            <a:spLocks xmlns:a="http://schemas.openxmlformats.org/drawingml/2006/main" noGrp="1"/>
          </p:cNvSpPr>
          <p:nvPr/>
        </p:nvSpPr>
        <p:spPr>
          <a:xfrm xmlns:a="http://schemas.openxmlformats.org/drawingml/2006/main">
            <a:off x="9344025" y="2876550"/>
            <a:ext cx="24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59"/>
          </a:bodyPr>
          <a:lstStyle xmlns:a="http://schemas.openxmlformats.org/drawingml/2006/main"/>
          <a:p xmlns:a="http://schemas.openxmlformats.org/drawingml/2006/main">
            <a:pPr algn="ctr">
              <a:defRPr sz="2100" b="1">
                <a:solidFill>
                  <a:srgbClr val="2D5D48"/>
                </a:solidFill>
                <a:latin typeface="Arial"/>
                <a:ea typeface="Arial"/>
                <a:cs typeface="Arial"/>
              </a:defRPr>
            </a:pPr>
            <a:r>
              <a:rPr sz="2100" b="1">
                <a:solidFill>
                  <a:srgbClr val="2D5D48"/>
                </a:solidFill>
                <a:latin typeface="Arial"/>
                <a:ea typeface="Arial"/>
                <a:cs typeface="Arial"/>
              </a:rPr>
              <a:t>→</a:t>
            </a:r>
          </a:p>
        </p:txBody>
      </p:sp>
      <p:sp>
        <p:nvSpPr>
          <p:cNvPr id="24" name="stage-5">
            <a:extLst xmlns:a="http://schemas.openxmlformats.org/drawingml/2006/main">
              <a:ext uri="{FF2B5EF4-FFF2-40B4-BE49-F238E27FC236}">
                <a16:creationId xmlns:a16="http://schemas.microsoft.com/office/drawing/2014/main" id="{44295CF0-85FE-4541-ABE1-1525C89A575C}"/>
              </a:ext>
            </a:extLst>
          </p:cNvPr>
          <p:cNvSpPr>
            <a:spLocks xmlns:a="http://schemas.openxmlformats.org/drawingml/2006/main" noGrp="1"/>
          </p:cNvSpPr>
          <p:nvPr/>
        </p:nvSpPr>
        <p:spPr>
          <a:xfrm xmlns:a="http://schemas.openxmlformats.org/drawingml/2006/main">
            <a:off x="9467850" y="1885950"/>
            <a:ext cx="2095500" cy="2324100"/>
          </a:xfrm>
          <a:prstGeom xmlns:a="http://schemas.openxmlformats.org/drawingml/2006/main" prst="roundRect">
            <a:avLst>
              <a:gd name="adj" fmla="val 5455"/>
            </a:avLst>
          </a:prstGeom>
          <a:solidFill xmlns:a="http://schemas.openxmlformats.org/drawingml/2006/main">
            <a:srgbClr val="EAF1EA"/>
          </a:solidFill>
          <a:ln xmlns:a="http://schemas.openxmlformats.org/drawingml/2006/main" w="9525">
            <a:solidFill>
              <a:srgbClr val="2D5D48"/>
            </a:solidFill>
            <a:prstDash val="solid"/>
          </a:ln>
        </p:spPr>
      </p:sp>
      <p:sp>
        <p:nvSpPr>
          <p:cNvPr id="25" name="stage-number-5">
            <a:extLst xmlns:a="http://schemas.openxmlformats.org/drawingml/2006/main">
              <a:ext uri="{FF2B5EF4-FFF2-40B4-BE49-F238E27FC236}">
                <a16:creationId xmlns:a16="http://schemas.microsoft.com/office/drawing/2014/main" id="{9EB65A63-01D2-4928-8FF6-738507F466B3}"/>
              </a:ext>
            </a:extLst>
          </p:cNvPr>
          <p:cNvSpPr>
            <a:spLocks xmlns:a="http://schemas.openxmlformats.org/drawingml/2006/main" noGrp="1"/>
          </p:cNvSpPr>
          <p:nvPr/>
        </p:nvSpPr>
        <p:spPr>
          <a:xfrm xmlns:a="http://schemas.openxmlformats.org/drawingml/2006/main">
            <a:off x="9658350" y="20764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250" b="1">
                <a:solidFill>
                  <a:srgbClr val="2D5D48"/>
                </a:solidFill>
                <a:latin typeface="Arial"/>
                <a:ea typeface="Arial"/>
                <a:cs typeface="Arial"/>
              </a:defRPr>
            </a:pPr>
            <a:r>
              <a:rPr sz="2250" b="1">
                <a:solidFill>
                  <a:srgbClr val="2D5D48"/>
                </a:solidFill>
                <a:latin typeface="Arial"/>
                <a:ea typeface="Arial"/>
                <a:cs typeface="Arial"/>
              </a:rPr>
              <a:t>5</a:t>
            </a:r>
          </a:p>
        </p:txBody>
      </p:sp>
      <p:sp>
        <p:nvSpPr>
          <p:cNvPr id="26" name="stage-title-5">
            <a:extLst xmlns:a="http://schemas.openxmlformats.org/drawingml/2006/main">
              <a:ext uri="{FF2B5EF4-FFF2-40B4-BE49-F238E27FC236}">
                <a16:creationId xmlns:a16="http://schemas.microsoft.com/office/drawing/2014/main" id="{B43106F3-D04B-4ADC-92CE-9676A74E5827}"/>
              </a:ext>
            </a:extLst>
          </p:cNvPr>
          <p:cNvSpPr>
            <a:spLocks xmlns:a="http://schemas.openxmlformats.org/drawingml/2006/main" noGrp="1"/>
          </p:cNvSpPr>
          <p:nvPr/>
        </p:nvSpPr>
        <p:spPr>
          <a:xfrm xmlns:a="http://schemas.openxmlformats.org/drawingml/2006/main">
            <a:off x="9658350" y="27813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Session Profile</a:t>
            </a:r>
          </a:p>
        </p:txBody>
      </p:sp>
      <p:sp>
        <p:nvSpPr>
          <p:cNvPr id="27" name="stage-detail-5">
            <a:extLst xmlns:a="http://schemas.openxmlformats.org/drawingml/2006/main">
              <a:ext uri="{FF2B5EF4-FFF2-40B4-BE49-F238E27FC236}">
                <a16:creationId xmlns:a16="http://schemas.microsoft.com/office/drawing/2014/main" id="{2836609E-3D90-48E7-985D-CC248B5D00D4}"/>
              </a:ext>
            </a:extLst>
          </p:cNvPr>
          <p:cNvSpPr>
            <a:spLocks xmlns:a="http://schemas.openxmlformats.org/drawingml/2006/main" noGrp="1"/>
          </p:cNvSpPr>
          <p:nvPr/>
        </p:nvSpPr>
        <p:spPr>
          <a:xfrm xmlns:a="http://schemas.openxmlformats.org/drawingml/2006/main">
            <a:off x="9658350" y="3571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a:solidFill>
                  <a:srgbClr val="66706A"/>
                </a:solidFill>
                <a:latin typeface="Arial"/>
                <a:ea typeface="Arial"/>
                <a:cs typeface="Arial"/>
              </a:defRPr>
            </a:pPr>
            <a:r>
              <a:rPr sz="1125">
                <a:solidFill>
                  <a:srgbClr val="66706A"/>
                </a:solidFill>
                <a:latin typeface="Arial"/>
                <a:ea typeface="Arial"/>
                <a:cs typeface="Arial"/>
              </a:rPr>
              <a:t>Pinned runtime truth</a:t>
            </a:r>
          </a:p>
        </p:txBody>
      </p:sp>
      <p:sp>
        <p:nvSpPr>
          <p:cNvPr id="28" name="map-caption">
            <a:extLst xmlns:a="http://schemas.openxmlformats.org/drawingml/2006/main">
              <a:ext uri="{FF2B5EF4-FFF2-40B4-BE49-F238E27FC236}">
                <a16:creationId xmlns:a16="http://schemas.microsoft.com/office/drawing/2014/main" id="{CB92DBF5-1394-4580-B6F4-59BEA6B4C0A7}"/>
              </a:ext>
            </a:extLst>
          </p:cNvPr>
          <p:cNvSpPr>
            <a:spLocks xmlns:a="http://schemas.openxmlformats.org/drawingml/2006/main" noGrp="1"/>
          </p:cNvSpPr>
          <p:nvPr/>
        </p:nvSpPr>
        <p:spPr>
          <a:xfrm xmlns:a="http://schemas.openxmlformats.org/drawingml/2006/main">
            <a:off x="857250" y="48768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a:solidFill>
                  <a:srgbClr val="101914"/>
                </a:solidFill>
                <a:latin typeface="Arial"/>
                <a:ea typeface="Arial"/>
                <a:cs typeface="Arial"/>
              </a:defRPr>
            </a:pPr>
            <a:r>
              <a:rPr sz="1575">
                <a:solidFill>
                  <a:srgbClr val="101914"/>
                </a:solidFill>
                <a:latin typeface="Arial"/>
                <a:ea typeface="Arial"/>
                <a:cs typeface="Arial"/>
              </a:rPr>
              <a:t>The boundaries are intentionally legible before they are made extensible: authoring owns definitions; Session Events own execution semantics; Agent Sessions expose resolved truth.</a:t>
            </a:r>
          </a:p>
        </p:txBody>
      </p:sp>
    </p:spTree>
    <p:extLst>
      <p:ext uri="{BB962C8B-B14F-4D97-AF65-F5344CB8AC3E}">
        <p14:creationId xmlns:p14="http://schemas.microsoft.com/office/powerpoint/2010/main" val="1674080005"/>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0" name="eyebrow-3">
            <a:extLst xmlns:a="http://schemas.openxmlformats.org/drawingml/2006/main">
              <a:ext uri="{FF2B5EF4-FFF2-40B4-BE49-F238E27FC236}">
                <a16:creationId xmlns:a16="http://schemas.microsoft.com/office/drawing/2014/main" id="{FBB05EFE-23D3-498B-BB25-9405D8EB06E2}"/>
              </a:ext>
            </a:extLst>
          </p:cNvPr>
          <p:cNvSpPr>
            <a:spLocks xmlns:a="http://schemas.openxmlformats.org/drawingml/2006/main" noGrp="1"/>
          </p:cNvSpPr>
          <p:nvPr/>
        </p:nvSpPr>
        <p:spPr>
          <a:xfrm xmlns:a="http://schemas.openxmlformats.org/drawingml/2006/main">
            <a:off x="400050" y="323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AUTHORING SURFACE</a:t>
            </a:r>
          </a:p>
        </p:txBody>
      </p:sp>
      <p:sp>
        <p:nvSpPr>
          <p:cNvPr id="2" name="title-3">
            <a:extLst xmlns:a="http://schemas.openxmlformats.org/drawingml/2006/main">
              <a:ext uri="{FF2B5EF4-FFF2-40B4-BE49-F238E27FC236}">
                <a16:creationId xmlns:a16="http://schemas.microsoft.com/office/drawing/2014/main" id="{67872389-7F21-4DCF-A291-10C9F9219FB5}"/>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700" b="1">
                <a:solidFill>
                  <a:srgbClr val="101914"/>
                </a:solidFill>
                <a:latin typeface="Arial"/>
                <a:ea typeface="Arial"/>
                <a:cs typeface="Arial"/>
              </a:defRPr>
            </a:pPr>
            <a:r>
              <a:rPr sz="2700" b="1">
                <a:solidFill>
                  <a:srgbClr val="101914"/>
                </a:solidFill>
                <a:latin typeface="Arial"/>
                <a:ea typeface="Arial"/>
                <a:cs typeface="Arial"/>
              </a:rPr>
              <a:t>Capability Profile: reusable technical exposure</a:t>
            </a:r>
          </a:p>
        </p:txBody>
      </p:sp>
      <p:sp>
        <p:nvSpPr>
          <p:cNvPr id="3" name="slide-number-3">
            <a:extLst xmlns:a="http://schemas.openxmlformats.org/drawingml/2006/main">
              <a:ext uri="{FF2B5EF4-FFF2-40B4-BE49-F238E27FC236}">
                <a16:creationId xmlns:a16="http://schemas.microsoft.com/office/drawing/2014/main" id="{DEEE1EB7-2F08-4DBB-8548-44FFD2E70606}"/>
              </a:ext>
            </a:extLst>
          </p:cNvPr>
          <p:cNvSpPr>
            <a:spLocks xmlns:a="http://schemas.openxmlformats.org/drawingml/2006/main" noGrp="1"/>
          </p:cNvSpPr>
          <p:nvPr/>
        </p:nvSpPr>
        <p:spPr>
          <a:xfrm xmlns:a="http://schemas.openxmlformats.org/drawingml/2006/main">
            <a:off x="11334750" y="400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a:solidFill>
                  <a:srgbClr val="66706A"/>
                </a:solidFill>
                <a:latin typeface="Arial"/>
                <a:ea typeface="Arial"/>
                <a:cs typeface="Arial"/>
              </a:defRPr>
            </a:pPr>
            <a:r>
              <a:rPr sz="900">
                <a:solidFill>
                  <a:srgbClr val="66706A"/>
                </a:solidFill>
                <a:latin typeface="Arial"/>
                <a:ea typeface="Arial"/>
                <a:cs typeface="Arial"/>
              </a:rPr>
              <a:t>03</a:t>
            </a:r>
          </a:p>
        </p:txBody>
      </p:sp>
      <p:sp>
        <p:nvSpPr>
          <p:cNvPr id="4" name="capability-bullet-dot-0">
            <a:extLst xmlns:a="http://schemas.openxmlformats.org/drawingml/2006/main">
              <a:ext uri="{FF2B5EF4-FFF2-40B4-BE49-F238E27FC236}">
                <a16:creationId xmlns:a16="http://schemas.microsoft.com/office/drawing/2014/main" id="{00CD41A5-49F0-4547-ACF4-3C3EA35630BB}"/>
              </a:ext>
            </a:extLst>
          </p:cNvPr>
          <p:cNvSpPr>
            <a:spLocks xmlns:a="http://schemas.openxmlformats.org/drawingml/2006/main" noGrp="1"/>
          </p:cNvSpPr>
          <p:nvPr/>
        </p:nvSpPr>
        <p:spPr>
          <a:xfrm xmlns:a="http://schemas.openxmlformats.org/drawingml/2006/main">
            <a:off x="495300" y="16859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5" name="capability-bullet-0">
            <a:extLst xmlns:a="http://schemas.openxmlformats.org/drawingml/2006/main">
              <a:ext uri="{FF2B5EF4-FFF2-40B4-BE49-F238E27FC236}">
                <a16:creationId xmlns:a16="http://schemas.microsoft.com/office/drawing/2014/main" id="{0D72C287-19DC-4871-BAD9-7E16DC2DA1AA}"/>
              </a:ext>
            </a:extLst>
          </p:cNvPr>
          <p:cNvSpPr>
            <a:spLocks xmlns:a="http://schemas.openxmlformats.org/drawingml/2006/main" noGrp="1"/>
          </p:cNvSpPr>
          <p:nvPr/>
        </p:nvSpPr>
        <p:spPr>
          <a:xfrm xmlns:a="http://schemas.openxmlformats.org/drawingml/2006/main">
            <a:off x="704850" y="16192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The globally selected native runtime is visible as read-only inherited truth.</a:t>
            </a:r>
          </a:p>
        </p:txBody>
      </p:sp>
      <p:sp>
        <p:nvSpPr>
          <p:cNvPr id="6" name="capability-bullet-dot-1">
            <a:extLst xmlns:a="http://schemas.openxmlformats.org/drawingml/2006/main">
              <a:ext uri="{FF2B5EF4-FFF2-40B4-BE49-F238E27FC236}">
                <a16:creationId xmlns:a16="http://schemas.microsoft.com/office/drawing/2014/main" id="{3AFA4790-B636-48BF-A5BC-8CDEC86046D4}"/>
              </a:ext>
            </a:extLst>
          </p:cNvPr>
          <p:cNvSpPr>
            <a:spLocks xmlns:a="http://schemas.openxmlformats.org/drawingml/2006/main" noGrp="1"/>
          </p:cNvSpPr>
          <p:nvPr/>
        </p:nvSpPr>
        <p:spPr>
          <a:xfrm xmlns:a="http://schemas.openxmlformats.org/drawingml/2006/main">
            <a:off x="495300" y="227647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7" name="capability-bullet-1">
            <a:extLst xmlns:a="http://schemas.openxmlformats.org/drawingml/2006/main">
              <a:ext uri="{FF2B5EF4-FFF2-40B4-BE49-F238E27FC236}">
                <a16:creationId xmlns:a16="http://schemas.microsoft.com/office/drawing/2014/main" id="{B8325A49-F434-4D3B-BE09-31D458806909}"/>
              </a:ext>
            </a:extLst>
          </p:cNvPr>
          <p:cNvSpPr>
            <a:spLocks xmlns:a="http://schemas.openxmlformats.org/drawingml/2006/main" noGrp="1"/>
          </p:cNvSpPr>
          <p:nvPr/>
        </p:nvSpPr>
        <p:spPr>
          <a:xfrm xmlns:a="http://schemas.openxmlformats.org/drawingml/2006/main">
            <a:off x="704850" y="22098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173"/>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Models, reasoning modes, and sandbox modes can be narrowed for downstream nodes.</a:t>
            </a:r>
          </a:p>
        </p:txBody>
      </p:sp>
      <p:sp>
        <p:nvSpPr>
          <p:cNvPr id="8" name="capability-bullet-dot-2">
            <a:extLst xmlns:a="http://schemas.openxmlformats.org/drawingml/2006/main">
              <a:ext uri="{FF2B5EF4-FFF2-40B4-BE49-F238E27FC236}">
                <a16:creationId xmlns:a16="http://schemas.microsoft.com/office/drawing/2014/main" id="{D49A202B-5871-4FEF-90C0-AAFEA4D1026F}"/>
              </a:ext>
            </a:extLst>
          </p:cNvPr>
          <p:cNvSpPr>
            <a:spLocks xmlns:a="http://schemas.openxmlformats.org/drawingml/2006/main" noGrp="1"/>
          </p:cNvSpPr>
          <p:nvPr/>
        </p:nvSpPr>
        <p:spPr>
          <a:xfrm xmlns:a="http://schemas.openxmlformats.org/drawingml/2006/main">
            <a:off x="495300" y="28670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9" name="capability-bullet-2">
            <a:extLst xmlns:a="http://schemas.openxmlformats.org/drawingml/2006/main">
              <a:ext uri="{FF2B5EF4-FFF2-40B4-BE49-F238E27FC236}">
                <a16:creationId xmlns:a16="http://schemas.microsoft.com/office/drawing/2014/main" id="{06395EEB-C567-4DAC-892D-A43990BE0BD5}"/>
              </a:ext>
            </a:extLst>
          </p:cNvPr>
          <p:cNvSpPr>
            <a:spLocks xmlns:a="http://schemas.openxmlformats.org/drawingml/2006/main" noGrp="1"/>
          </p:cNvSpPr>
          <p:nvPr/>
        </p:nvSpPr>
        <p:spPr>
          <a:xfrm xmlns:a="http://schemas.openxmlformats.org/drawingml/2006/main">
            <a:off x="704850" y="28003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315"/>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MCP tools and skills are shown as inherited and disabled in this bounded slice.</a:t>
            </a:r>
          </a:p>
        </p:txBody>
      </p:sp>
      <p:sp>
        <p:nvSpPr>
          <p:cNvPr id="10" name="frame-01-capability-profile-overview.jpg">
            <a:extLst xmlns:a="http://schemas.openxmlformats.org/drawingml/2006/main">
              <a:ext uri="{FF2B5EF4-FFF2-40B4-BE49-F238E27FC236}">
                <a16:creationId xmlns:a16="http://schemas.microsoft.com/office/drawing/2014/main" id="{07585116-0B1B-457D-84EA-498300669E1A}"/>
              </a:ext>
            </a:extLst>
          </p:cNvPr>
          <p:cNvSpPr>
            <a:spLocks xmlns:a="http://schemas.openxmlformats.org/drawingml/2006/main" noGrp="1"/>
          </p:cNvSpPr>
          <p:nvPr/>
        </p:nvSpPr>
        <p:spPr>
          <a:xfrm xmlns:a="http://schemas.openxmlformats.org/drawingml/2006/main">
            <a:off x="39433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a218c1a1d164a4f"/>
          <a:stretch xmlns:a="http://schemas.openxmlformats.org/drawingml/2006/main"/>
        </p:blipFill>
        <p:spPr>
          <a:xfrm xmlns:a="http://schemas.openxmlformats.org/drawingml/2006/main">
            <a:off x="4021318" y="1409700"/>
            <a:ext cx="3615963" cy="2400300"/>
          </a:xfrm>
          <a:prstGeom xmlns:a="http://schemas.openxmlformats.org/drawingml/2006/main" prst="roundRect">
            <a:avLst>
              <a:gd name="adj" fmla="val 4762"/>
            </a:avLst>
          </a:prstGeom>
        </p:spPr>
      </p:pic>
      <p:sp>
        <p:nvSpPr>
          <p:cNvPr id="12" name="evidence-LIVE AUTHORING STATE">
            <a:extLst xmlns:a="http://schemas.openxmlformats.org/drawingml/2006/main">
              <a:ext uri="{FF2B5EF4-FFF2-40B4-BE49-F238E27FC236}">
                <a16:creationId xmlns:a16="http://schemas.microsoft.com/office/drawing/2014/main" id="{FA4AB937-7181-4CBD-A9B6-9C34CA1F883C}"/>
              </a:ext>
            </a:extLst>
          </p:cNvPr>
          <p:cNvSpPr>
            <a:spLocks xmlns:a="http://schemas.openxmlformats.org/drawingml/2006/main" noGrp="1"/>
          </p:cNvSpPr>
          <p:nvPr/>
        </p:nvSpPr>
        <p:spPr>
          <a:xfrm xmlns:a="http://schemas.openxmlformats.org/drawingml/2006/main">
            <a:off x="4076700" y="1485900"/>
            <a:ext cx="15049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3" name="evidence-text-LIVE AUTHORING STATE">
            <a:extLst xmlns:a="http://schemas.openxmlformats.org/drawingml/2006/main">
              <a:ext uri="{FF2B5EF4-FFF2-40B4-BE49-F238E27FC236}">
                <a16:creationId xmlns:a16="http://schemas.microsoft.com/office/drawing/2014/main" id="{204A955E-E168-42B3-B996-43B4A2210685}"/>
              </a:ext>
            </a:extLst>
          </p:cNvPr>
          <p:cNvSpPr>
            <a:spLocks xmlns:a="http://schemas.openxmlformats.org/drawingml/2006/main" noGrp="1"/>
          </p:cNvSpPr>
          <p:nvPr/>
        </p:nvSpPr>
        <p:spPr>
          <a:xfrm xmlns:a="http://schemas.openxmlformats.org/drawingml/2006/main">
            <a:off x="4191000" y="1552575"/>
            <a:ext cx="1276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AUTHORING STATE</a:t>
            </a:r>
          </a:p>
        </p:txBody>
      </p:sp>
      <p:sp>
        <p:nvSpPr>
          <p:cNvPr id="14" name="frame-02-capability-allowed-selections.jpg">
            <a:extLst xmlns:a="http://schemas.openxmlformats.org/drawingml/2006/main">
              <a:ext uri="{FF2B5EF4-FFF2-40B4-BE49-F238E27FC236}">
                <a16:creationId xmlns:a16="http://schemas.microsoft.com/office/drawing/2014/main" id="{950A3396-156D-4040-8159-1FD3EDC9BBE8}"/>
              </a:ext>
            </a:extLst>
          </p:cNvPr>
          <p:cNvSpPr>
            <a:spLocks xmlns:a="http://schemas.openxmlformats.org/drawingml/2006/main" noGrp="1"/>
          </p:cNvSpPr>
          <p:nvPr/>
        </p:nvSpPr>
        <p:spPr>
          <a:xfrm xmlns:a="http://schemas.openxmlformats.org/drawingml/2006/main">
            <a:off x="78676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b0c8535f9404a8e"/>
          <a:stretch xmlns:a="http://schemas.openxmlformats.org/drawingml/2006/main"/>
        </p:blipFill>
        <p:spPr>
          <a:xfrm xmlns:a="http://schemas.openxmlformats.org/drawingml/2006/main">
            <a:off x="7945618" y="1409700"/>
            <a:ext cx="3615963" cy="2400300"/>
          </a:xfrm>
          <a:prstGeom xmlns:a="http://schemas.openxmlformats.org/drawingml/2006/main" prst="roundRect">
            <a:avLst>
              <a:gd name="adj" fmla="val 4762"/>
            </a:avLst>
          </a:prstGeom>
        </p:spPr>
      </p:pic>
      <p:sp>
        <p:nvSpPr>
          <p:cNvPr id="16" name="evidence-LIVE AUTHORING STATE">
            <a:extLst xmlns:a="http://schemas.openxmlformats.org/drawingml/2006/main">
              <a:ext uri="{FF2B5EF4-FFF2-40B4-BE49-F238E27FC236}">
                <a16:creationId xmlns:a16="http://schemas.microsoft.com/office/drawing/2014/main" id="{9F6FAC68-FA80-4320-812D-0FACE640BBB2}"/>
              </a:ext>
            </a:extLst>
          </p:cNvPr>
          <p:cNvSpPr>
            <a:spLocks xmlns:a="http://schemas.openxmlformats.org/drawingml/2006/main" noGrp="1"/>
          </p:cNvSpPr>
          <p:nvPr/>
        </p:nvSpPr>
        <p:spPr>
          <a:xfrm xmlns:a="http://schemas.openxmlformats.org/drawingml/2006/main">
            <a:off x="8001000" y="1485900"/>
            <a:ext cx="15049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7" name="evidence-text-LIVE AUTHORING STATE">
            <a:extLst xmlns:a="http://schemas.openxmlformats.org/drawingml/2006/main">
              <a:ext uri="{FF2B5EF4-FFF2-40B4-BE49-F238E27FC236}">
                <a16:creationId xmlns:a16="http://schemas.microsoft.com/office/drawing/2014/main" id="{4CC2B193-96DA-41D6-9CD7-F7772D02C857}"/>
              </a:ext>
            </a:extLst>
          </p:cNvPr>
          <p:cNvSpPr>
            <a:spLocks xmlns:a="http://schemas.openxmlformats.org/drawingml/2006/main" noGrp="1"/>
          </p:cNvSpPr>
          <p:nvPr/>
        </p:nvSpPr>
        <p:spPr>
          <a:xfrm xmlns:a="http://schemas.openxmlformats.org/drawingml/2006/main">
            <a:off x="8115300" y="1552575"/>
            <a:ext cx="1276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AUTHORING STATE</a:t>
            </a:r>
          </a:p>
        </p:txBody>
      </p:sp>
      <p:sp>
        <p:nvSpPr>
          <p:cNvPr id="18" name="capability-takeaway">
            <a:extLst xmlns:a="http://schemas.openxmlformats.org/drawingml/2006/main">
              <a:ext uri="{FF2B5EF4-FFF2-40B4-BE49-F238E27FC236}">
                <a16:creationId xmlns:a16="http://schemas.microsoft.com/office/drawing/2014/main" id="{174578FE-F6D6-436A-8EDE-8B92DA1CCFA0}"/>
              </a:ext>
            </a:extLst>
          </p:cNvPr>
          <p:cNvSpPr>
            <a:spLocks xmlns:a="http://schemas.openxmlformats.org/drawingml/2006/main" noGrp="1"/>
          </p:cNvSpPr>
          <p:nvPr/>
        </p:nvSpPr>
        <p:spPr>
          <a:xfrm xmlns:a="http://schemas.openxmlformats.org/drawingml/2006/main">
            <a:off x="3943350" y="4171950"/>
            <a:ext cx="7696200" cy="1333500"/>
          </a:xfrm>
          <a:prstGeom xmlns:a="http://schemas.openxmlformats.org/drawingml/2006/main" prst="roundRect">
            <a:avLst>
              <a:gd name="adj" fmla="val 8571"/>
            </a:avLst>
          </a:prstGeom>
          <a:solidFill xmlns:a="http://schemas.openxmlformats.org/drawingml/2006/main">
            <a:srgbClr val="EAF1EA"/>
          </a:solidFill>
          <a:ln xmlns:a="http://schemas.openxmlformats.org/drawingml/2006/main" w="9525">
            <a:solidFill>
              <a:srgbClr val="EAF1EA"/>
            </a:solidFill>
            <a:prstDash val="solid"/>
          </a:ln>
        </p:spPr>
      </p:sp>
      <p:sp>
        <p:nvSpPr>
          <p:cNvPr id="19" name="capability-takeaway-text">
            <a:extLst xmlns:a="http://schemas.openxmlformats.org/drawingml/2006/main">
              <a:ext uri="{FF2B5EF4-FFF2-40B4-BE49-F238E27FC236}">
                <a16:creationId xmlns:a16="http://schemas.microsoft.com/office/drawing/2014/main" id="{B4858C98-96DE-4010-A30F-AE27545B2CFF}"/>
              </a:ext>
            </a:extLst>
          </p:cNvPr>
          <p:cNvSpPr>
            <a:spLocks xmlns:a="http://schemas.openxmlformats.org/drawingml/2006/main" noGrp="1"/>
          </p:cNvSpPr>
          <p:nvPr/>
        </p:nvSpPr>
        <p:spPr>
          <a:xfrm xmlns:a="http://schemas.openxmlformats.org/drawingml/2006/main">
            <a:off x="4248150" y="4438650"/>
            <a:ext cx="7086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Boundary rule</a:t>
            </a:r>
          </a:p>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A Capability Profile may only narrow the attached runtime. Provider connection setup remains a separate concern.</a:t>
            </a:r>
          </a:p>
        </p:txBody>
      </p:sp>
    </p:spTree>
    <p:extLst>
      <p:ext uri="{BB962C8B-B14F-4D97-AF65-F5344CB8AC3E}">
        <p14:creationId xmlns:p14="http://schemas.microsoft.com/office/powerpoint/2010/main" val="191157276"/>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0" name="eyebrow-4">
            <a:extLst xmlns:a="http://schemas.openxmlformats.org/drawingml/2006/main">
              <a:ext uri="{FF2B5EF4-FFF2-40B4-BE49-F238E27FC236}">
                <a16:creationId xmlns:a16="http://schemas.microsoft.com/office/drawing/2014/main" id="{41124192-96A5-4058-BC25-8395A7F93F4C}"/>
              </a:ext>
            </a:extLst>
          </p:cNvPr>
          <p:cNvSpPr>
            <a:spLocks xmlns:a="http://schemas.openxmlformats.org/drawingml/2006/main" noGrp="1"/>
          </p:cNvSpPr>
          <p:nvPr/>
        </p:nvSpPr>
        <p:spPr>
          <a:xfrm xmlns:a="http://schemas.openxmlformats.org/drawingml/2006/main">
            <a:off x="400050" y="323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WORKFLOW NODE</a:t>
            </a:r>
          </a:p>
        </p:txBody>
      </p:sp>
      <p:sp>
        <p:nvSpPr>
          <p:cNvPr id="2" name="title-4">
            <a:extLst xmlns:a="http://schemas.openxmlformats.org/drawingml/2006/main">
              <a:ext uri="{FF2B5EF4-FFF2-40B4-BE49-F238E27FC236}">
                <a16:creationId xmlns:a16="http://schemas.microsoft.com/office/drawing/2014/main" id="{50C0291A-3E1C-4133-B8ED-946FF7700F75}"/>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700" b="1">
                <a:solidFill>
                  <a:srgbClr val="101914"/>
                </a:solidFill>
                <a:latin typeface="Arial"/>
                <a:ea typeface="Arial"/>
                <a:cs typeface="Arial"/>
              </a:defRPr>
            </a:pPr>
            <a:r>
              <a:rPr sz="2700" b="1">
                <a:solidFill>
                  <a:srgbClr val="101914"/>
                </a:solidFill>
                <a:latin typeface="Arial"/>
                <a:ea typeface="Arial"/>
                <a:cs typeface="Arial"/>
              </a:rPr>
              <a:t>Node Profile: embedded, copyable operational context</a:t>
            </a:r>
          </a:p>
        </p:txBody>
      </p:sp>
      <p:sp>
        <p:nvSpPr>
          <p:cNvPr id="3" name="slide-number-4">
            <a:extLst xmlns:a="http://schemas.openxmlformats.org/drawingml/2006/main">
              <a:ext uri="{FF2B5EF4-FFF2-40B4-BE49-F238E27FC236}">
                <a16:creationId xmlns:a16="http://schemas.microsoft.com/office/drawing/2014/main" id="{D5A83955-8F1E-4E0D-ADB6-09C7E84EB3F0}"/>
              </a:ext>
            </a:extLst>
          </p:cNvPr>
          <p:cNvSpPr>
            <a:spLocks xmlns:a="http://schemas.openxmlformats.org/drawingml/2006/main" noGrp="1"/>
          </p:cNvSpPr>
          <p:nvPr/>
        </p:nvSpPr>
        <p:spPr>
          <a:xfrm xmlns:a="http://schemas.openxmlformats.org/drawingml/2006/main">
            <a:off x="11334750" y="400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a:solidFill>
                  <a:srgbClr val="66706A"/>
                </a:solidFill>
                <a:latin typeface="Arial"/>
                <a:ea typeface="Arial"/>
                <a:cs typeface="Arial"/>
              </a:defRPr>
            </a:pPr>
            <a:r>
              <a:rPr sz="900">
                <a:solidFill>
                  <a:srgbClr val="66706A"/>
                </a:solidFill>
                <a:latin typeface="Arial"/>
                <a:ea typeface="Arial"/>
                <a:cs typeface="Arial"/>
              </a:rPr>
              <a:t>04</a:t>
            </a:r>
          </a:p>
        </p:txBody>
      </p:sp>
      <p:sp>
        <p:nvSpPr>
          <p:cNvPr id="4" name="node-bullet-dot-0">
            <a:extLst xmlns:a="http://schemas.openxmlformats.org/drawingml/2006/main">
              <a:ext uri="{FF2B5EF4-FFF2-40B4-BE49-F238E27FC236}">
                <a16:creationId xmlns:a16="http://schemas.microsoft.com/office/drawing/2014/main" id="{B8370DAB-043E-4827-A2B7-12B09815B519}"/>
              </a:ext>
            </a:extLst>
          </p:cNvPr>
          <p:cNvSpPr>
            <a:spLocks xmlns:a="http://schemas.openxmlformats.org/drawingml/2006/main" noGrp="1"/>
          </p:cNvSpPr>
          <p:nvPr/>
        </p:nvSpPr>
        <p:spPr>
          <a:xfrm xmlns:a="http://schemas.openxmlformats.org/drawingml/2006/main">
            <a:off x="495300" y="16859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5" name="node-bullet-0">
            <a:extLst xmlns:a="http://schemas.openxmlformats.org/drawingml/2006/main">
              <a:ext uri="{FF2B5EF4-FFF2-40B4-BE49-F238E27FC236}">
                <a16:creationId xmlns:a16="http://schemas.microsoft.com/office/drawing/2014/main" id="{6CAB2DF4-A2A3-4270-A574-8C0E7B919310}"/>
              </a:ext>
            </a:extLst>
          </p:cNvPr>
          <p:cNvSpPr>
            <a:spLocks xmlns:a="http://schemas.openxmlformats.org/drawingml/2006/main" noGrp="1"/>
          </p:cNvSpPr>
          <p:nvPr/>
        </p:nvSpPr>
        <p:spPr>
          <a:xfrm xmlns:a="http://schemas.openxmlformats.org/drawingml/2006/main">
            <a:off x="704850" y="161925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The initial prompt is included only when this node creates a Session.</a:t>
            </a:r>
          </a:p>
        </p:txBody>
      </p:sp>
      <p:sp>
        <p:nvSpPr>
          <p:cNvPr id="6" name="node-bullet-dot-1">
            <a:extLst xmlns:a="http://schemas.openxmlformats.org/drawingml/2006/main">
              <a:ext uri="{FF2B5EF4-FFF2-40B4-BE49-F238E27FC236}">
                <a16:creationId xmlns:a16="http://schemas.microsoft.com/office/drawing/2014/main" id="{B77CCB22-3A83-4B2C-92BF-4385BCB52030}"/>
              </a:ext>
            </a:extLst>
          </p:cNvPr>
          <p:cNvSpPr>
            <a:spLocks xmlns:a="http://schemas.openxmlformats.org/drawingml/2006/main" noGrp="1"/>
          </p:cNvSpPr>
          <p:nvPr/>
        </p:nvSpPr>
        <p:spPr>
          <a:xfrm xmlns:a="http://schemas.openxmlformats.org/drawingml/2006/main">
            <a:off x="495300" y="227647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7" name="node-bullet-1">
            <a:extLst xmlns:a="http://schemas.openxmlformats.org/drawingml/2006/main">
              <a:ext uri="{FF2B5EF4-FFF2-40B4-BE49-F238E27FC236}">
                <a16:creationId xmlns:a16="http://schemas.microsoft.com/office/drawing/2014/main" id="{E9547637-A45A-4C55-945B-A874873DB17A}"/>
              </a:ext>
            </a:extLst>
          </p:cNvPr>
          <p:cNvSpPr>
            <a:spLocks xmlns:a="http://schemas.openxmlformats.org/drawingml/2006/main" noGrp="1"/>
          </p:cNvSpPr>
          <p:nvPr/>
        </p:nvSpPr>
        <p:spPr>
          <a:xfrm xmlns:a="http://schemas.openxmlformats.org/drawingml/2006/main">
            <a:off x="704850" y="22098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Node capabilities can narrow the selected Capability Profile again.</a:t>
            </a:r>
          </a:p>
        </p:txBody>
      </p:sp>
      <p:sp>
        <p:nvSpPr>
          <p:cNvPr id="8" name="node-bullet-dot-2">
            <a:extLst xmlns:a="http://schemas.openxmlformats.org/drawingml/2006/main">
              <a:ext uri="{FF2B5EF4-FFF2-40B4-BE49-F238E27FC236}">
                <a16:creationId xmlns:a16="http://schemas.microsoft.com/office/drawing/2014/main" id="{9DB5CCFD-611D-48EA-A4AD-8F750C23A16E}"/>
              </a:ext>
            </a:extLst>
          </p:cNvPr>
          <p:cNvSpPr>
            <a:spLocks xmlns:a="http://schemas.openxmlformats.org/drawingml/2006/main" noGrp="1"/>
          </p:cNvSpPr>
          <p:nvPr/>
        </p:nvSpPr>
        <p:spPr>
          <a:xfrm xmlns:a="http://schemas.openxmlformats.org/drawingml/2006/main">
            <a:off x="495300" y="28670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9" name="node-bullet-2">
            <a:extLst xmlns:a="http://schemas.openxmlformats.org/drawingml/2006/main">
              <a:ext uri="{FF2B5EF4-FFF2-40B4-BE49-F238E27FC236}">
                <a16:creationId xmlns:a16="http://schemas.microsoft.com/office/drawing/2014/main" id="{A020E3E2-9D34-4997-9EDB-7BEC7452CCD4}"/>
              </a:ext>
            </a:extLst>
          </p:cNvPr>
          <p:cNvSpPr>
            <a:spLocks xmlns:a="http://schemas.openxmlformats.org/drawingml/2006/main" noGrp="1"/>
          </p:cNvSpPr>
          <p:nvPr/>
        </p:nvSpPr>
        <p:spPr>
          <a:xfrm xmlns:a="http://schemas.openxmlformats.org/drawingml/2006/main">
            <a:off x="704850" y="280035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5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Pinned defaults govern workflow-addressed messages; identity remains separate.</a:t>
            </a:r>
          </a:p>
        </p:txBody>
      </p:sp>
      <p:sp>
        <p:nvSpPr>
          <p:cNvPr id="10" name="frame-03-workflow-node-profile.jpg">
            <a:extLst xmlns:a="http://schemas.openxmlformats.org/drawingml/2006/main">
              <a:ext uri="{FF2B5EF4-FFF2-40B4-BE49-F238E27FC236}">
                <a16:creationId xmlns:a16="http://schemas.microsoft.com/office/drawing/2014/main" id="{D8599DC8-B954-4494-9D4F-E41167A0CE6C}"/>
              </a:ext>
            </a:extLst>
          </p:cNvPr>
          <p:cNvSpPr>
            <a:spLocks xmlns:a="http://schemas.openxmlformats.org/drawingml/2006/main" noGrp="1"/>
          </p:cNvSpPr>
          <p:nvPr/>
        </p:nvSpPr>
        <p:spPr>
          <a:xfrm xmlns:a="http://schemas.openxmlformats.org/drawingml/2006/main">
            <a:off x="39433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f3801ceb43b4e31"/>
          <a:stretch xmlns:a="http://schemas.openxmlformats.org/drawingml/2006/main"/>
        </p:blipFill>
        <p:spPr>
          <a:xfrm xmlns:a="http://schemas.openxmlformats.org/drawingml/2006/main">
            <a:off x="4021318" y="1409700"/>
            <a:ext cx="3615963" cy="2400300"/>
          </a:xfrm>
          <a:prstGeom xmlns:a="http://schemas.openxmlformats.org/drawingml/2006/main" prst="roundRect">
            <a:avLst>
              <a:gd name="adj" fmla="val 4762"/>
            </a:avLst>
          </a:prstGeom>
        </p:spPr>
      </p:pic>
      <p:sp>
        <p:nvSpPr>
          <p:cNvPr id="12" name="evidence-LIVE AUTHORING STATE">
            <a:extLst xmlns:a="http://schemas.openxmlformats.org/drawingml/2006/main">
              <a:ext uri="{FF2B5EF4-FFF2-40B4-BE49-F238E27FC236}">
                <a16:creationId xmlns:a16="http://schemas.microsoft.com/office/drawing/2014/main" id="{3BFC4A2E-FEA4-4ACE-986C-FECE6C0A6C97}"/>
              </a:ext>
            </a:extLst>
          </p:cNvPr>
          <p:cNvSpPr>
            <a:spLocks xmlns:a="http://schemas.openxmlformats.org/drawingml/2006/main" noGrp="1"/>
          </p:cNvSpPr>
          <p:nvPr/>
        </p:nvSpPr>
        <p:spPr>
          <a:xfrm xmlns:a="http://schemas.openxmlformats.org/drawingml/2006/main">
            <a:off x="4076700" y="1485900"/>
            <a:ext cx="15049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3" name="evidence-text-LIVE AUTHORING STATE">
            <a:extLst xmlns:a="http://schemas.openxmlformats.org/drawingml/2006/main">
              <a:ext uri="{FF2B5EF4-FFF2-40B4-BE49-F238E27FC236}">
                <a16:creationId xmlns:a16="http://schemas.microsoft.com/office/drawing/2014/main" id="{10B0D8A2-A053-4914-A836-419AFF4D97B2}"/>
              </a:ext>
            </a:extLst>
          </p:cNvPr>
          <p:cNvSpPr>
            <a:spLocks xmlns:a="http://schemas.openxmlformats.org/drawingml/2006/main" noGrp="1"/>
          </p:cNvSpPr>
          <p:nvPr/>
        </p:nvSpPr>
        <p:spPr>
          <a:xfrm xmlns:a="http://schemas.openxmlformats.org/drawingml/2006/main">
            <a:off x="4191000" y="1552575"/>
            <a:ext cx="1276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AUTHORING STATE</a:t>
            </a:r>
          </a:p>
        </p:txBody>
      </p:sp>
      <p:sp>
        <p:nvSpPr>
          <p:cNvPr id="14" name="frame-04-node-restrictions-and-defaults.jpg">
            <a:extLst xmlns:a="http://schemas.openxmlformats.org/drawingml/2006/main">
              <a:ext uri="{FF2B5EF4-FFF2-40B4-BE49-F238E27FC236}">
                <a16:creationId xmlns:a16="http://schemas.microsoft.com/office/drawing/2014/main" id="{2498C788-D3E8-4ECF-95D7-87B9415EF7DF}"/>
              </a:ext>
            </a:extLst>
          </p:cNvPr>
          <p:cNvSpPr>
            <a:spLocks xmlns:a="http://schemas.openxmlformats.org/drawingml/2006/main" noGrp="1"/>
          </p:cNvSpPr>
          <p:nvPr/>
        </p:nvSpPr>
        <p:spPr>
          <a:xfrm xmlns:a="http://schemas.openxmlformats.org/drawingml/2006/main">
            <a:off x="78676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2a8ad8376ec45ab"/>
          <a:stretch xmlns:a="http://schemas.openxmlformats.org/drawingml/2006/main"/>
        </p:blipFill>
        <p:spPr>
          <a:xfrm xmlns:a="http://schemas.openxmlformats.org/drawingml/2006/main">
            <a:off x="7945618" y="1409700"/>
            <a:ext cx="3615963" cy="2400300"/>
          </a:xfrm>
          <a:prstGeom xmlns:a="http://schemas.openxmlformats.org/drawingml/2006/main" prst="roundRect">
            <a:avLst>
              <a:gd name="adj" fmla="val 4762"/>
            </a:avLst>
          </a:prstGeom>
        </p:spPr>
      </p:pic>
      <p:sp>
        <p:nvSpPr>
          <p:cNvPr id="16" name="evidence-LIVE AUTHORING STATE">
            <a:extLst xmlns:a="http://schemas.openxmlformats.org/drawingml/2006/main">
              <a:ext uri="{FF2B5EF4-FFF2-40B4-BE49-F238E27FC236}">
                <a16:creationId xmlns:a16="http://schemas.microsoft.com/office/drawing/2014/main" id="{5ACAC4FE-8EFC-4C98-A382-7550AEB5BDBF}"/>
              </a:ext>
            </a:extLst>
          </p:cNvPr>
          <p:cNvSpPr>
            <a:spLocks xmlns:a="http://schemas.openxmlformats.org/drawingml/2006/main" noGrp="1"/>
          </p:cNvSpPr>
          <p:nvPr/>
        </p:nvSpPr>
        <p:spPr>
          <a:xfrm xmlns:a="http://schemas.openxmlformats.org/drawingml/2006/main">
            <a:off x="8001000" y="1485900"/>
            <a:ext cx="15049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7" name="evidence-text-LIVE AUTHORING STATE">
            <a:extLst xmlns:a="http://schemas.openxmlformats.org/drawingml/2006/main">
              <a:ext uri="{FF2B5EF4-FFF2-40B4-BE49-F238E27FC236}">
                <a16:creationId xmlns:a16="http://schemas.microsoft.com/office/drawing/2014/main" id="{08D8A21C-DBFF-44EF-B8DA-351C3C323B74}"/>
              </a:ext>
            </a:extLst>
          </p:cNvPr>
          <p:cNvSpPr>
            <a:spLocks xmlns:a="http://schemas.openxmlformats.org/drawingml/2006/main" noGrp="1"/>
          </p:cNvSpPr>
          <p:nvPr/>
        </p:nvSpPr>
        <p:spPr>
          <a:xfrm xmlns:a="http://schemas.openxmlformats.org/drawingml/2006/main">
            <a:off x="8115300" y="1552575"/>
            <a:ext cx="1276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AUTHORING STATE</a:t>
            </a:r>
          </a:p>
        </p:txBody>
      </p:sp>
      <p:sp>
        <p:nvSpPr>
          <p:cNvPr id="18" name="node-takeaway">
            <a:extLst xmlns:a="http://schemas.openxmlformats.org/drawingml/2006/main">
              <a:ext uri="{FF2B5EF4-FFF2-40B4-BE49-F238E27FC236}">
                <a16:creationId xmlns:a16="http://schemas.microsoft.com/office/drawing/2014/main" id="{BD89C250-6EAC-4AA6-A63A-B074D42D47A4}"/>
              </a:ext>
            </a:extLst>
          </p:cNvPr>
          <p:cNvSpPr>
            <a:spLocks xmlns:a="http://schemas.openxmlformats.org/drawingml/2006/main" noGrp="1"/>
          </p:cNvSpPr>
          <p:nvPr/>
        </p:nvSpPr>
        <p:spPr>
          <a:xfrm xmlns:a="http://schemas.openxmlformats.org/drawingml/2006/main">
            <a:off x="3943350" y="4171950"/>
            <a:ext cx="769620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C8CEC9"/>
            </a:solidFill>
            <a:prstDash val="solid"/>
          </a:ln>
        </p:spPr>
      </p:sp>
      <p:sp>
        <p:nvSpPr>
          <p:cNvPr id="19" name="node-takeaway-text">
            <a:extLst xmlns:a="http://schemas.openxmlformats.org/drawingml/2006/main">
              <a:ext uri="{FF2B5EF4-FFF2-40B4-BE49-F238E27FC236}">
                <a16:creationId xmlns:a16="http://schemas.microsoft.com/office/drawing/2014/main" id="{C855D61A-D6A6-41E7-99A5-F9178A39DCB4}"/>
              </a:ext>
            </a:extLst>
          </p:cNvPr>
          <p:cNvSpPr>
            <a:spLocks xmlns:a="http://schemas.openxmlformats.org/drawingml/2006/main" noGrp="1"/>
          </p:cNvSpPr>
          <p:nvPr/>
        </p:nvSpPr>
        <p:spPr>
          <a:xfrm xmlns:a="http://schemas.openxmlformats.org/drawingml/2006/main">
            <a:off x="4248150" y="4438650"/>
            <a:ext cx="7086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Current reuse decision</a:t>
            </a:r>
          </a:p>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There is no shared Node Profile catalog. Copying creates independent node state that can be edited locally.</a:t>
            </a:r>
          </a:p>
        </p:txBody>
      </p:sp>
    </p:spTree>
    <p:extLst>
      <p:ext uri="{BB962C8B-B14F-4D97-AF65-F5344CB8AC3E}">
        <p14:creationId xmlns:p14="http://schemas.microsoft.com/office/powerpoint/2010/main" val="1950799160"/>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0" name="eyebrow-5">
            <a:extLst xmlns:a="http://schemas.openxmlformats.org/drawingml/2006/main">
              <a:ext uri="{FF2B5EF4-FFF2-40B4-BE49-F238E27FC236}">
                <a16:creationId xmlns:a16="http://schemas.microsoft.com/office/drawing/2014/main" id="{4486CC8E-64C3-4552-A9E4-30638BE93A93}"/>
              </a:ext>
            </a:extLst>
          </p:cNvPr>
          <p:cNvSpPr>
            <a:spLocks xmlns:a="http://schemas.openxmlformats.org/drawingml/2006/main" noGrp="1"/>
          </p:cNvSpPr>
          <p:nvPr/>
        </p:nvSpPr>
        <p:spPr>
          <a:xfrm xmlns:a="http://schemas.openxmlformats.org/drawingml/2006/main">
            <a:off x="400050" y="323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WORKFLOW CONNECTION</a:t>
            </a:r>
          </a:p>
        </p:txBody>
      </p:sp>
      <p:sp>
        <p:nvSpPr>
          <p:cNvPr id="2" name="title-5">
            <a:extLst xmlns:a="http://schemas.openxmlformats.org/drawingml/2006/main">
              <a:ext uri="{FF2B5EF4-FFF2-40B4-BE49-F238E27FC236}">
                <a16:creationId xmlns:a16="http://schemas.microsoft.com/office/drawing/2014/main" id="{911B9383-049D-4B0E-90E1-889FBBF86B9C}"/>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700" b="1">
                <a:solidFill>
                  <a:srgbClr val="101914"/>
                </a:solidFill>
                <a:latin typeface="Arial"/>
                <a:ea typeface="Arial"/>
                <a:cs typeface="Arial"/>
              </a:defRPr>
            </a:pPr>
            <a:r>
              <a:rPr sz="2700" b="1">
                <a:solidFill>
                  <a:srgbClr val="101914"/>
                </a:solidFill>
                <a:latin typeface="Arial"/>
                <a:ea typeface="Arial"/>
                <a:cs typeface="Arial"/>
              </a:rPr>
              <a:t>A visual edge compiles into a Session Event definition</a:t>
            </a:r>
          </a:p>
        </p:txBody>
      </p:sp>
      <p:sp>
        <p:nvSpPr>
          <p:cNvPr id="3" name="slide-number-5">
            <a:extLst xmlns:a="http://schemas.openxmlformats.org/drawingml/2006/main">
              <a:ext uri="{FF2B5EF4-FFF2-40B4-BE49-F238E27FC236}">
                <a16:creationId xmlns:a16="http://schemas.microsoft.com/office/drawing/2014/main" id="{161D65D6-8E59-47ED-A2FF-B05022DF85DF}"/>
              </a:ext>
            </a:extLst>
          </p:cNvPr>
          <p:cNvSpPr>
            <a:spLocks xmlns:a="http://schemas.openxmlformats.org/drawingml/2006/main" noGrp="1"/>
          </p:cNvSpPr>
          <p:nvPr/>
        </p:nvSpPr>
        <p:spPr>
          <a:xfrm xmlns:a="http://schemas.openxmlformats.org/drawingml/2006/main">
            <a:off x="11334750" y="400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a:solidFill>
                  <a:srgbClr val="66706A"/>
                </a:solidFill>
                <a:latin typeface="Arial"/>
                <a:ea typeface="Arial"/>
                <a:cs typeface="Arial"/>
              </a:defRPr>
            </a:pPr>
            <a:r>
              <a:rPr sz="900">
                <a:solidFill>
                  <a:srgbClr val="66706A"/>
                </a:solidFill>
                <a:latin typeface="Arial"/>
                <a:ea typeface="Arial"/>
                <a:cs typeface="Arial"/>
              </a:rPr>
              <a:t>05</a:t>
            </a:r>
          </a:p>
        </p:txBody>
      </p:sp>
      <p:sp>
        <p:nvSpPr>
          <p:cNvPr id="4" name="event-bullet-dot-0">
            <a:extLst xmlns:a="http://schemas.openxmlformats.org/drawingml/2006/main">
              <a:ext uri="{FF2B5EF4-FFF2-40B4-BE49-F238E27FC236}">
                <a16:creationId xmlns:a16="http://schemas.microsoft.com/office/drawing/2014/main" id="{9BF36DD3-E0BF-471F-828C-5655731BF0AD}"/>
              </a:ext>
            </a:extLst>
          </p:cNvPr>
          <p:cNvSpPr>
            <a:spLocks xmlns:a="http://schemas.openxmlformats.org/drawingml/2006/main" noGrp="1"/>
          </p:cNvSpPr>
          <p:nvPr/>
        </p:nvSpPr>
        <p:spPr>
          <a:xfrm xmlns:a="http://schemas.openxmlformats.org/drawingml/2006/main">
            <a:off x="495300" y="16859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5" name="event-bullet-0">
            <a:extLst xmlns:a="http://schemas.openxmlformats.org/drawingml/2006/main">
              <a:ext uri="{FF2B5EF4-FFF2-40B4-BE49-F238E27FC236}">
                <a16:creationId xmlns:a16="http://schemas.microsoft.com/office/drawing/2014/main" id="{67C8723E-BBB7-4B04-B2A2-6B6DD6F4E7A1}"/>
              </a:ext>
            </a:extLst>
          </p:cNvPr>
          <p:cNvSpPr>
            <a:spLocks xmlns:a="http://schemas.openxmlformats.org/drawingml/2006/main" noGrp="1"/>
          </p:cNvSpPr>
          <p:nvPr/>
        </p:nvSpPr>
        <p:spPr>
          <a:xfrm xmlns:a="http://schemas.openxmlformats.org/drawingml/2006/main">
            <a:off x="704850" y="161925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Trigger: invocation completed for the source node address.</a:t>
            </a:r>
          </a:p>
        </p:txBody>
      </p:sp>
      <p:sp>
        <p:nvSpPr>
          <p:cNvPr id="6" name="event-bullet-dot-1">
            <a:extLst xmlns:a="http://schemas.openxmlformats.org/drawingml/2006/main">
              <a:ext uri="{FF2B5EF4-FFF2-40B4-BE49-F238E27FC236}">
                <a16:creationId xmlns:a16="http://schemas.microsoft.com/office/drawing/2014/main" id="{F12CFCCA-08AA-4442-852E-F33D8530F576}"/>
              </a:ext>
            </a:extLst>
          </p:cNvPr>
          <p:cNvSpPr>
            <a:spLocks xmlns:a="http://schemas.openxmlformats.org/drawingml/2006/main" noGrp="1"/>
          </p:cNvSpPr>
          <p:nvPr/>
        </p:nvSpPr>
        <p:spPr>
          <a:xfrm xmlns:a="http://schemas.openxmlformats.org/drawingml/2006/main">
            <a:off x="495300" y="227647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7" name="event-bullet-1">
            <a:extLst xmlns:a="http://schemas.openxmlformats.org/drawingml/2006/main">
              <a:ext uri="{FF2B5EF4-FFF2-40B4-BE49-F238E27FC236}">
                <a16:creationId xmlns:a16="http://schemas.microsoft.com/office/drawing/2014/main" id="{B4351278-49FF-4EC6-AF92-76D330AF38BF}"/>
              </a:ext>
            </a:extLst>
          </p:cNvPr>
          <p:cNvSpPr>
            <a:spLocks xmlns:a="http://schemas.openxmlformats.org/drawingml/2006/main" noGrp="1"/>
          </p:cNvSpPr>
          <p:nvPr/>
        </p:nvSpPr>
        <p:spPr>
          <a:xfrm xmlns:a="http://schemas.openxmlformats.org/drawingml/2006/main">
            <a:off x="704850" y="22098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Prompt: ordered sources plus optional fixed connection text.</a:t>
            </a:r>
          </a:p>
        </p:txBody>
      </p:sp>
      <p:sp>
        <p:nvSpPr>
          <p:cNvPr id="8" name="event-bullet-dot-2">
            <a:extLst xmlns:a="http://schemas.openxmlformats.org/drawingml/2006/main">
              <a:ext uri="{FF2B5EF4-FFF2-40B4-BE49-F238E27FC236}">
                <a16:creationId xmlns:a16="http://schemas.microsoft.com/office/drawing/2014/main" id="{9A83B1B5-B6DB-4624-988B-7809A3D1E0B1}"/>
              </a:ext>
            </a:extLst>
          </p:cNvPr>
          <p:cNvSpPr>
            <a:spLocks xmlns:a="http://schemas.openxmlformats.org/drawingml/2006/main" noGrp="1"/>
          </p:cNvSpPr>
          <p:nvPr/>
        </p:nvSpPr>
        <p:spPr>
          <a:xfrm xmlns:a="http://schemas.openxmlformats.org/drawingml/2006/main">
            <a:off x="495300" y="28670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9" name="event-bullet-2">
            <a:extLst xmlns:a="http://schemas.openxmlformats.org/drawingml/2006/main">
              <a:ext uri="{FF2B5EF4-FFF2-40B4-BE49-F238E27FC236}">
                <a16:creationId xmlns:a16="http://schemas.microsoft.com/office/drawing/2014/main" id="{3121C4BA-1973-4745-A9F3-D084B51BA0BA}"/>
              </a:ext>
            </a:extLst>
          </p:cNvPr>
          <p:cNvSpPr>
            <a:spLocks xmlns:a="http://schemas.openxmlformats.org/drawingml/2006/main" noGrp="1"/>
          </p:cNvSpPr>
          <p:nvPr/>
        </p:nvSpPr>
        <p:spPr>
          <a:xfrm xmlns:a="http://schemas.openxmlformats.org/drawingml/2006/main">
            <a:off x="704850" y="280035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03"/>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Target: destination node address, selection order, running filter, and no-match policy.</a:t>
            </a:r>
          </a:p>
        </p:txBody>
      </p:sp>
      <p:sp>
        <p:nvSpPr>
          <p:cNvPr id="10" name="frame-05-connection-trigger-and-prompt.jpg">
            <a:extLst xmlns:a="http://schemas.openxmlformats.org/drawingml/2006/main">
              <a:ext uri="{FF2B5EF4-FFF2-40B4-BE49-F238E27FC236}">
                <a16:creationId xmlns:a16="http://schemas.microsoft.com/office/drawing/2014/main" id="{55C390D5-DD87-445B-9433-14CCBDB3D1BB}"/>
              </a:ext>
            </a:extLst>
          </p:cNvPr>
          <p:cNvSpPr>
            <a:spLocks xmlns:a="http://schemas.openxmlformats.org/drawingml/2006/main" noGrp="1"/>
          </p:cNvSpPr>
          <p:nvPr/>
        </p:nvSpPr>
        <p:spPr>
          <a:xfrm xmlns:a="http://schemas.openxmlformats.org/drawingml/2006/main">
            <a:off x="39433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0274a4ba7d9443b"/>
          <a:stretch xmlns:a="http://schemas.openxmlformats.org/drawingml/2006/main"/>
        </p:blipFill>
        <p:spPr>
          <a:xfrm xmlns:a="http://schemas.openxmlformats.org/drawingml/2006/main">
            <a:off x="4021318" y="1409700"/>
            <a:ext cx="3615963" cy="2400300"/>
          </a:xfrm>
          <a:prstGeom xmlns:a="http://schemas.openxmlformats.org/drawingml/2006/main" prst="roundRect">
            <a:avLst>
              <a:gd name="adj" fmla="val 4762"/>
            </a:avLst>
          </a:prstGeom>
        </p:spPr>
      </p:pic>
      <p:sp>
        <p:nvSpPr>
          <p:cNvPr id="12" name="evidence-LIVE AUTHORING STATE">
            <a:extLst xmlns:a="http://schemas.openxmlformats.org/drawingml/2006/main">
              <a:ext uri="{FF2B5EF4-FFF2-40B4-BE49-F238E27FC236}">
                <a16:creationId xmlns:a16="http://schemas.microsoft.com/office/drawing/2014/main" id="{28807BEE-D74D-4BB3-AF66-DB701999607E}"/>
              </a:ext>
            </a:extLst>
          </p:cNvPr>
          <p:cNvSpPr>
            <a:spLocks xmlns:a="http://schemas.openxmlformats.org/drawingml/2006/main" noGrp="1"/>
          </p:cNvSpPr>
          <p:nvPr/>
        </p:nvSpPr>
        <p:spPr>
          <a:xfrm xmlns:a="http://schemas.openxmlformats.org/drawingml/2006/main">
            <a:off x="4076700" y="1485900"/>
            <a:ext cx="15049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3" name="evidence-text-LIVE AUTHORING STATE">
            <a:extLst xmlns:a="http://schemas.openxmlformats.org/drawingml/2006/main">
              <a:ext uri="{FF2B5EF4-FFF2-40B4-BE49-F238E27FC236}">
                <a16:creationId xmlns:a16="http://schemas.microsoft.com/office/drawing/2014/main" id="{DD397E57-5516-4D32-8E62-44CCABC7A3EC}"/>
              </a:ext>
            </a:extLst>
          </p:cNvPr>
          <p:cNvSpPr>
            <a:spLocks xmlns:a="http://schemas.openxmlformats.org/drawingml/2006/main" noGrp="1"/>
          </p:cNvSpPr>
          <p:nvPr/>
        </p:nvSpPr>
        <p:spPr>
          <a:xfrm xmlns:a="http://schemas.openxmlformats.org/drawingml/2006/main">
            <a:off x="4191000" y="1552575"/>
            <a:ext cx="1276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AUTHORING STATE</a:t>
            </a:r>
          </a:p>
        </p:txBody>
      </p:sp>
      <p:sp>
        <p:nvSpPr>
          <p:cNvPr id="14" name="frame-06-connection-prompt-and-target.jpg">
            <a:extLst xmlns:a="http://schemas.openxmlformats.org/drawingml/2006/main">
              <a:ext uri="{FF2B5EF4-FFF2-40B4-BE49-F238E27FC236}">
                <a16:creationId xmlns:a16="http://schemas.microsoft.com/office/drawing/2014/main" id="{503ABFB3-7E87-474A-87A2-FE68469CC1DE}"/>
              </a:ext>
            </a:extLst>
          </p:cNvPr>
          <p:cNvSpPr>
            <a:spLocks xmlns:a="http://schemas.openxmlformats.org/drawingml/2006/main" noGrp="1"/>
          </p:cNvSpPr>
          <p:nvPr/>
        </p:nvSpPr>
        <p:spPr>
          <a:xfrm xmlns:a="http://schemas.openxmlformats.org/drawingml/2006/main">
            <a:off x="78676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797ed6d55654f9b"/>
          <a:stretch xmlns:a="http://schemas.openxmlformats.org/drawingml/2006/main"/>
        </p:blipFill>
        <p:spPr>
          <a:xfrm xmlns:a="http://schemas.openxmlformats.org/drawingml/2006/main">
            <a:off x="7945618" y="1409700"/>
            <a:ext cx="3615963" cy="2400300"/>
          </a:xfrm>
          <a:prstGeom xmlns:a="http://schemas.openxmlformats.org/drawingml/2006/main" prst="roundRect">
            <a:avLst>
              <a:gd name="adj" fmla="val 4762"/>
            </a:avLst>
          </a:prstGeom>
        </p:spPr>
      </p:pic>
      <p:sp>
        <p:nvSpPr>
          <p:cNvPr id="16" name="evidence-LIVE AUTHORING STATE">
            <a:extLst xmlns:a="http://schemas.openxmlformats.org/drawingml/2006/main">
              <a:ext uri="{FF2B5EF4-FFF2-40B4-BE49-F238E27FC236}">
                <a16:creationId xmlns:a16="http://schemas.microsoft.com/office/drawing/2014/main" id="{5823C272-3716-4316-B82E-9C70031DF075}"/>
              </a:ext>
            </a:extLst>
          </p:cNvPr>
          <p:cNvSpPr>
            <a:spLocks xmlns:a="http://schemas.openxmlformats.org/drawingml/2006/main" noGrp="1"/>
          </p:cNvSpPr>
          <p:nvPr/>
        </p:nvSpPr>
        <p:spPr>
          <a:xfrm xmlns:a="http://schemas.openxmlformats.org/drawingml/2006/main">
            <a:off x="8001000" y="1485900"/>
            <a:ext cx="15049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7" name="evidence-text-LIVE AUTHORING STATE">
            <a:extLst xmlns:a="http://schemas.openxmlformats.org/drawingml/2006/main">
              <a:ext uri="{FF2B5EF4-FFF2-40B4-BE49-F238E27FC236}">
                <a16:creationId xmlns:a16="http://schemas.microsoft.com/office/drawing/2014/main" id="{3B2F2486-09C0-406E-8613-44384930AEEA}"/>
              </a:ext>
            </a:extLst>
          </p:cNvPr>
          <p:cNvSpPr>
            <a:spLocks xmlns:a="http://schemas.openxmlformats.org/drawingml/2006/main" noGrp="1"/>
          </p:cNvSpPr>
          <p:nvPr/>
        </p:nvSpPr>
        <p:spPr>
          <a:xfrm xmlns:a="http://schemas.openxmlformats.org/drawingml/2006/main">
            <a:off x="8115300" y="1552575"/>
            <a:ext cx="1276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AUTHORING STATE</a:t>
            </a:r>
          </a:p>
        </p:txBody>
      </p:sp>
      <p:sp>
        <p:nvSpPr>
          <p:cNvPr id="18" name="event-takeaway">
            <a:extLst xmlns:a="http://schemas.openxmlformats.org/drawingml/2006/main">
              <a:ext uri="{FF2B5EF4-FFF2-40B4-BE49-F238E27FC236}">
                <a16:creationId xmlns:a16="http://schemas.microsoft.com/office/drawing/2014/main" id="{80DF8E8A-18F8-48D5-961E-86A6546A8B5A}"/>
              </a:ext>
            </a:extLst>
          </p:cNvPr>
          <p:cNvSpPr>
            <a:spLocks xmlns:a="http://schemas.openxmlformats.org/drawingml/2006/main" noGrp="1"/>
          </p:cNvSpPr>
          <p:nvPr/>
        </p:nvSpPr>
        <p:spPr>
          <a:xfrm xmlns:a="http://schemas.openxmlformats.org/drawingml/2006/main">
            <a:off x="3943350" y="4171950"/>
            <a:ext cx="7696200" cy="1333500"/>
          </a:xfrm>
          <a:prstGeom xmlns:a="http://schemas.openxmlformats.org/drawingml/2006/main" prst="roundRect">
            <a:avLst>
              <a:gd name="adj" fmla="val 8571"/>
            </a:avLst>
          </a:prstGeom>
          <a:solidFill xmlns:a="http://schemas.openxmlformats.org/drawingml/2006/main">
            <a:srgbClr val="EAF1EA"/>
          </a:solidFill>
          <a:ln xmlns:a="http://schemas.openxmlformats.org/drawingml/2006/main" w="9525">
            <a:solidFill>
              <a:srgbClr val="EAF1EA"/>
            </a:solidFill>
            <a:prstDash val="solid"/>
          </a:ln>
        </p:spPr>
      </p:sp>
      <p:sp>
        <p:nvSpPr>
          <p:cNvPr id="19" name="event-takeaway-text">
            <a:extLst xmlns:a="http://schemas.openxmlformats.org/drawingml/2006/main">
              <a:ext uri="{FF2B5EF4-FFF2-40B4-BE49-F238E27FC236}">
                <a16:creationId xmlns:a16="http://schemas.microsoft.com/office/drawing/2014/main" id="{416C1023-C73F-4E23-B35B-681B923CDB26}"/>
              </a:ext>
            </a:extLst>
          </p:cNvPr>
          <p:cNvSpPr>
            <a:spLocks xmlns:a="http://schemas.openxmlformats.org/drawingml/2006/main" noGrp="1"/>
          </p:cNvSpPr>
          <p:nvPr/>
        </p:nvSpPr>
        <p:spPr>
          <a:xfrm xmlns:a="http://schemas.openxmlformats.org/drawingml/2006/main">
            <a:off x="4248150" y="4438650"/>
            <a:ext cx="7086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Abstraction boundary</a:t>
            </a:r>
          </a:p>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The Workflow editor arranges recipe concepts. The compiled result is expressed entirely in the generic Session Event model.</a:t>
            </a:r>
          </a:p>
        </p:txBody>
      </p:sp>
    </p:spTree>
    <p:extLst>
      <p:ext uri="{BB962C8B-B14F-4D97-AF65-F5344CB8AC3E}">
        <p14:creationId xmlns:p14="http://schemas.microsoft.com/office/powerpoint/2010/main" val="1610128960"/>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8" name="eyebrow-6">
            <a:extLst xmlns:a="http://schemas.openxmlformats.org/drawingml/2006/main">
              <a:ext uri="{FF2B5EF4-FFF2-40B4-BE49-F238E27FC236}">
                <a16:creationId xmlns:a16="http://schemas.microsoft.com/office/drawing/2014/main" id="{1D48E9B4-DCE2-420A-AF36-CA98872E0CDF}"/>
              </a:ext>
            </a:extLst>
          </p:cNvPr>
          <p:cNvSpPr>
            <a:spLocks xmlns:a="http://schemas.openxmlformats.org/drawingml/2006/main" noGrp="1"/>
          </p:cNvSpPr>
          <p:nvPr/>
        </p:nvSpPr>
        <p:spPr>
          <a:xfrm xmlns:a="http://schemas.openxmlformats.org/drawingml/2006/main">
            <a:off x="400050" y="323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COMPILE AND RUN</a:t>
            </a:r>
          </a:p>
        </p:txBody>
      </p:sp>
      <p:sp>
        <p:nvSpPr>
          <p:cNvPr id="2" name="title-6">
            <a:extLst xmlns:a="http://schemas.openxmlformats.org/drawingml/2006/main">
              <a:ext uri="{FF2B5EF4-FFF2-40B4-BE49-F238E27FC236}">
                <a16:creationId xmlns:a16="http://schemas.microsoft.com/office/drawing/2014/main" id="{07FDF3B5-1008-48ED-94AA-428948927B3F}"/>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700" b="1">
                <a:solidFill>
                  <a:srgbClr val="101914"/>
                </a:solidFill>
                <a:latin typeface="Arial"/>
                <a:ea typeface="Arial"/>
                <a:cs typeface="Arial"/>
              </a:defRPr>
            </a:pPr>
            <a:r>
              <a:rPr sz="2700" b="1">
                <a:solidFill>
                  <a:srgbClr val="101914"/>
                </a:solidFill>
                <a:latin typeface="Arial"/>
                <a:ea typeface="Arial"/>
                <a:cs typeface="Arial"/>
              </a:rPr>
              <a:t>Compilation is explicit; dispatch is separate</a:t>
            </a:r>
          </a:p>
        </p:txBody>
      </p:sp>
      <p:sp>
        <p:nvSpPr>
          <p:cNvPr id="3" name="slide-number-6">
            <a:extLst xmlns:a="http://schemas.openxmlformats.org/drawingml/2006/main">
              <a:ext uri="{FF2B5EF4-FFF2-40B4-BE49-F238E27FC236}">
                <a16:creationId xmlns:a16="http://schemas.microsoft.com/office/drawing/2014/main" id="{90BD1D39-01F5-41F2-BC01-7A37D4B86B1A}"/>
              </a:ext>
            </a:extLst>
          </p:cNvPr>
          <p:cNvSpPr>
            <a:spLocks xmlns:a="http://schemas.openxmlformats.org/drawingml/2006/main" noGrp="1"/>
          </p:cNvSpPr>
          <p:nvPr/>
        </p:nvSpPr>
        <p:spPr>
          <a:xfrm xmlns:a="http://schemas.openxmlformats.org/drawingml/2006/main">
            <a:off x="11334750" y="400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a:solidFill>
                  <a:srgbClr val="66706A"/>
                </a:solidFill>
                <a:latin typeface="Arial"/>
                <a:ea typeface="Arial"/>
                <a:cs typeface="Arial"/>
              </a:defRPr>
            </a:pPr>
            <a:r>
              <a:rPr sz="900">
                <a:solidFill>
                  <a:srgbClr val="66706A"/>
                </a:solidFill>
                <a:latin typeface="Arial"/>
                <a:ea typeface="Arial"/>
                <a:cs typeface="Arial"/>
              </a:rPr>
              <a:t>06</a:t>
            </a:r>
          </a:p>
        </p:txBody>
      </p:sp>
      <p:sp>
        <p:nvSpPr>
          <p:cNvPr id="4" name="compile-bullet-dot-0">
            <a:extLst xmlns:a="http://schemas.openxmlformats.org/drawingml/2006/main">
              <a:ext uri="{FF2B5EF4-FFF2-40B4-BE49-F238E27FC236}">
                <a16:creationId xmlns:a16="http://schemas.microsoft.com/office/drawing/2014/main" id="{CA5511EE-0FC7-4545-BF18-A4549475CAC6}"/>
              </a:ext>
            </a:extLst>
          </p:cNvPr>
          <p:cNvSpPr>
            <a:spLocks xmlns:a="http://schemas.openxmlformats.org/drawingml/2006/main" noGrp="1"/>
          </p:cNvSpPr>
          <p:nvPr/>
        </p:nvSpPr>
        <p:spPr>
          <a:xfrm xmlns:a="http://schemas.openxmlformats.org/drawingml/2006/main">
            <a:off x="495300" y="18002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5" name="compile-bullet-0">
            <a:extLst xmlns:a="http://schemas.openxmlformats.org/drawingml/2006/main">
              <a:ext uri="{FF2B5EF4-FFF2-40B4-BE49-F238E27FC236}">
                <a16:creationId xmlns:a16="http://schemas.microsoft.com/office/drawing/2014/main" id="{3E8A4376-02F4-4121-9591-F9284981A0DB}"/>
              </a:ext>
            </a:extLst>
          </p:cNvPr>
          <p:cNvSpPr>
            <a:spLocks xmlns:a="http://schemas.openxmlformats.org/drawingml/2006/main" noGrp="1"/>
          </p:cNvSpPr>
          <p:nvPr/>
        </p:nvSpPr>
        <p:spPr>
          <a:xfrm xmlns:a="http://schemas.openxmlformats.org/drawingml/2006/main">
            <a:off x="704850" y="17335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A Workflow instance ID scopes all logical Session addresses for the run.</a:t>
            </a:r>
          </a:p>
        </p:txBody>
      </p:sp>
      <p:sp>
        <p:nvSpPr>
          <p:cNvPr id="6" name="compile-bullet-dot-1">
            <a:extLst xmlns:a="http://schemas.openxmlformats.org/drawingml/2006/main">
              <a:ext uri="{FF2B5EF4-FFF2-40B4-BE49-F238E27FC236}">
                <a16:creationId xmlns:a16="http://schemas.microsoft.com/office/drawing/2014/main" id="{F7F6BED9-9F83-4DB8-BE52-B4AD327D7BD5}"/>
              </a:ext>
            </a:extLst>
          </p:cNvPr>
          <p:cNvSpPr>
            <a:spLocks xmlns:a="http://schemas.openxmlformats.org/drawingml/2006/main" noGrp="1"/>
          </p:cNvSpPr>
          <p:nvPr/>
        </p:nvSpPr>
        <p:spPr>
          <a:xfrm xmlns:a="http://schemas.openxmlformats.org/drawingml/2006/main">
            <a:off x="495300" y="239077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7" name="compile-bullet-1">
            <a:extLst xmlns:a="http://schemas.openxmlformats.org/drawingml/2006/main">
              <a:ext uri="{FF2B5EF4-FFF2-40B4-BE49-F238E27FC236}">
                <a16:creationId xmlns:a16="http://schemas.microsoft.com/office/drawing/2014/main" id="{312CCA4C-4B82-423B-8616-211B2BFBA6F9}"/>
              </a:ext>
            </a:extLst>
          </p:cNvPr>
          <p:cNvSpPr>
            <a:spLocks xmlns:a="http://schemas.openxmlformats.org/drawingml/2006/main" noGrp="1"/>
          </p:cNvSpPr>
          <p:nvPr/>
        </p:nvSpPr>
        <p:spPr>
          <a:xfrm xmlns:a="http://schemas.openxmlformats.org/drawingml/2006/main">
            <a:off x="704850" y="232410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The active recipe compiles into one or more Session Event definitions.</a:t>
            </a:r>
          </a:p>
        </p:txBody>
      </p:sp>
      <p:sp>
        <p:nvSpPr>
          <p:cNvPr id="8" name="compile-bullet-dot-2">
            <a:extLst xmlns:a="http://schemas.openxmlformats.org/drawingml/2006/main">
              <a:ext uri="{FF2B5EF4-FFF2-40B4-BE49-F238E27FC236}">
                <a16:creationId xmlns:a16="http://schemas.microsoft.com/office/drawing/2014/main" id="{92623F72-72CC-4CBB-B62F-5D2B966473AE}"/>
              </a:ext>
            </a:extLst>
          </p:cNvPr>
          <p:cNvSpPr>
            <a:spLocks xmlns:a="http://schemas.openxmlformats.org/drawingml/2006/main" noGrp="1"/>
          </p:cNvSpPr>
          <p:nvPr/>
        </p:nvSpPr>
        <p:spPr>
          <a:xfrm xmlns:a="http://schemas.openxmlformats.org/drawingml/2006/main">
            <a:off x="495300" y="29813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9" name="compile-bullet-2">
            <a:extLst xmlns:a="http://schemas.openxmlformats.org/drawingml/2006/main">
              <a:ext uri="{FF2B5EF4-FFF2-40B4-BE49-F238E27FC236}">
                <a16:creationId xmlns:a16="http://schemas.microsoft.com/office/drawing/2014/main" id="{83B2C517-FCA0-4CE0-B7DD-BF390E875F92}"/>
              </a:ext>
            </a:extLst>
          </p:cNvPr>
          <p:cNvSpPr>
            <a:spLocks xmlns:a="http://schemas.openxmlformats.org/drawingml/2006/main" noGrp="1"/>
          </p:cNvSpPr>
          <p:nvPr/>
        </p:nvSpPr>
        <p:spPr>
          <a:xfrm xmlns:a="http://schemas.openxmlformats.org/drawingml/2006/main">
            <a:off x="704850" y="29146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The user-triggered occurrence is staged independently from dispatch.</a:t>
            </a:r>
          </a:p>
        </p:txBody>
      </p:sp>
      <p:sp>
        <p:nvSpPr>
          <p:cNvPr id="10" name="frame-07-compile-and-run.jpg">
            <a:extLst xmlns:a="http://schemas.openxmlformats.org/drawingml/2006/main">
              <a:ext uri="{FF2B5EF4-FFF2-40B4-BE49-F238E27FC236}">
                <a16:creationId xmlns:a16="http://schemas.microsoft.com/office/drawing/2014/main" id="{43C7B92D-3993-4D44-BAD3-49DCD848B02F}"/>
              </a:ext>
            </a:extLst>
          </p:cNvPr>
          <p:cNvSpPr>
            <a:spLocks xmlns:a="http://schemas.openxmlformats.org/drawingml/2006/main" noGrp="1"/>
          </p:cNvSpPr>
          <p:nvPr/>
        </p:nvSpPr>
        <p:spPr>
          <a:xfrm xmlns:a="http://schemas.openxmlformats.org/drawingml/2006/main">
            <a:off x="3943350" y="1352550"/>
            <a:ext cx="7696200" cy="5105400"/>
          </a:xfrm>
          <a:prstGeom xmlns:a="http://schemas.openxmlformats.org/drawingml/2006/main" prst="roundRect">
            <a:avLst>
              <a:gd name="adj" fmla="val 2239"/>
            </a:avLst>
          </a:prstGeom>
          <a:solidFill xmlns:a="http://schemas.openxmlformats.org/drawingml/2006/main">
            <a:srgbClr val="FFFFFF"/>
          </a:solidFill>
          <a:ln xmlns:a="http://schemas.openxmlformats.org/drawingml/2006/main" w="9525">
            <a:solidFill>
              <a:srgbClr val="ABB5AF"/>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83d8449a3274e94"/>
          <a:stretch xmlns:a="http://schemas.openxmlformats.org/drawingml/2006/main"/>
        </p:blipFill>
        <p:spPr>
          <a:xfrm xmlns:a="http://schemas.openxmlformats.org/drawingml/2006/main">
            <a:off x="4031996" y="1409700"/>
            <a:ext cx="7518907" cy="4991100"/>
          </a:xfrm>
          <a:prstGeom xmlns:a="http://schemas.openxmlformats.org/drawingml/2006/main" prst="roundRect">
            <a:avLst>
              <a:gd name="adj" fmla="val 2290"/>
            </a:avLst>
          </a:prstGeom>
        </p:spPr>
      </p:pic>
      <p:sp>
        <p:nvSpPr>
          <p:cNvPr id="12" name="evidence-LIVE · NOT DISPATCHED">
            <a:extLst xmlns:a="http://schemas.openxmlformats.org/drawingml/2006/main">
              <a:ext uri="{FF2B5EF4-FFF2-40B4-BE49-F238E27FC236}">
                <a16:creationId xmlns:a16="http://schemas.microsoft.com/office/drawing/2014/main" id="{4A7830A5-0F82-4C95-B898-747491874ADE}"/>
              </a:ext>
            </a:extLst>
          </p:cNvPr>
          <p:cNvSpPr>
            <a:spLocks xmlns:a="http://schemas.openxmlformats.org/drawingml/2006/main" noGrp="1"/>
          </p:cNvSpPr>
          <p:nvPr/>
        </p:nvSpPr>
        <p:spPr>
          <a:xfrm xmlns:a="http://schemas.openxmlformats.org/drawingml/2006/main">
            <a:off x="4076700" y="1485900"/>
            <a:ext cx="1566863"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3" name="evidence-text-LIVE · NOT DISPATCHED">
            <a:extLst xmlns:a="http://schemas.openxmlformats.org/drawingml/2006/main">
              <a:ext uri="{FF2B5EF4-FFF2-40B4-BE49-F238E27FC236}">
                <a16:creationId xmlns:a16="http://schemas.microsoft.com/office/drawing/2014/main" id="{187932B2-DBE2-4A36-B9B1-1B64F0D78B98}"/>
              </a:ext>
            </a:extLst>
          </p:cNvPr>
          <p:cNvSpPr>
            <a:spLocks xmlns:a="http://schemas.openxmlformats.org/drawingml/2006/main" noGrp="1"/>
          </p:cNvSpPr>
          <p:nvPr/>
        </p:nvSpPr>
        <p:spPr>
          <a:xfrm xmlns:a="http://schemas.openxmlformats.org/drawingml/2006/main">
            <a:off x="4191000" y="1552575"/>
            <a:ext cx="1338263"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 NOT DISPATCHED</a:t>
            </a:r>
          </a:p>
        </p:txBody>
      </p:sp>
      <p:sp>
        <p:nvSpPr>
          <p:cNvPr id="14" name="evidence-0 PROVIDER INVOCATIONS">
            <a:extLst xmlns:a="http://schemas.openxmlformats.org/drawingml/2006/main">
              <a:ext uri="{FF2B5EF4-FFF2-40B4-BE49-F238E27FC236}">
                <a16:creationId xmlns:a16="http://schemas.microsoft.com/office/drawing/2014/main" id="{B2325B21-D4E9-43A7-BE4A-8969070B3C03}"/>
              </a:ext>
            </a:extLst>
          </p:cNvPr>
          <p:cNvSpPr>
            <a:spLocks xmlns:a="http://schemas.openxmlformats.org/drawingml/2006/main" noGrp="1"/>
          </p:cNvSpPr>
          <p:nvPr/>
        </p:nvSpPr>
        <p:spPr>
          <a:xfrm xmlns:a="http://schemas.openxmlformats.org/drawingml/2006/main">
            <a:off x="495300" y="5162550"/>
            <a:ext cx="175260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5" name="evidence-text-0 PROVIDER INVOCATIONS">
            <a:extLst xmlns:a="http://schemas.openxmlformats.org/drawingml/2006/main">
              <a:ext uri="{FF2B5EF4-FFF2-40B4-BE49-F238E27FC236}">
                <a16:creationId xmlns:a16="http://schemas.microsoft.com/office/drawing/2014/main" id="{64F24E58-9CAC-4084-A521-EF2AB7084744}"/>
              </a:ext>
            </a:extLst>
          </p:cNvPr>
          <p:cNvSpPr>
            <a:spLocks xmlns:a="http://schemas.openxmlformats.org/drawingml/2006/main" noGrp="1"/>
          </p:cNvSpPr>
          <p:nvPr/>
        </p:nvSpPr>
        <p:spPr>
          <a:xfrm xmlns:a="http://schemas.openxmlformats.org/drawingml/2006/main">
            <a:off x="609600" y="5229225"/>
            <a:ext cx="152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0 PROVIDER INVOCATIONS</a:t>
            </a:r>
          </a:p>
        </p:txBody>
      </p:sp>
      <p:sp>
        <p:nvSpPr>
          <p:cNvPr id="16" name="evidence-0 RUNTIME SESSIONS">
            <a:extLst xmlns:a="http://schemas.openxmlformats.org/drawingml/2006/main">
              <a:ext uri="{FF2B5EF4-FFF2-40B4-BE49-F238E27FC236}">
                <a16:creationId xmlns:a16="http://schemas.microsoft.com/office/drawing/2014/main" id="{0BBD962F-6BDE-40FE-AA28-EFB19C53461F}"/>
              </a:ext>
            </a:extLst>
          </p:cNvPr>
          <p:cNvSpPr>
            <a:spLocks xmlns:a="http://schemas.openxmlformats.org/drawingml/2006/main" noGrp="1"/>
          </p:cNvSpPr>
          <p:nvPr/>
        </p:nvSpPr>
        <p:spPr>
          <a:xfrm xmlns:a="http://schemas.openxmlformats.org/drawingml/2006/main">
            <a:off x="495300" y="5543550"/>
            <a:ext cx="1581150" cy="266700"/>
          </a:xfrm>
          <a:prstGeom xmlns:a="http://schemas.openxmlformats.org/drawingml/2006/main" prst="roundRect">
            <a:avLst>
              <a:gd name="adj" fmla="val 50000"/>
            </a:avLst>
          </a:prstGeom>
          <a:solidFill xmlns:a="http://schemas.openxmlformats.org/drawingml/2006/main">
            <a:srgbClr val="EAF1EA"/>
          </a:solidFill>
          <a:ln xmlns:a="http://schemas.openxmlformats.org/drawingml/2006/main" w="9525">
            <a:solidFill>
              <a:srgbClr val="EAF1EA"/>
            </a:solidFill>
            <a:prstDash val="solid"/>
          </a:ln>
        </p:spPr>
      </p:sp>
      <p:sp>
        <p:nvSpPr>
          <p:cNvPr id="17" name="evidence-text-0 RUNTIME SESSIONS">
            <a:extLst xmlns:a="http://schemas.openxmlformats.org/drawingml/2006/main">
              <a:ext uri="{FF2B5EF4-FFF2-40B4-BE49-F238E27FC236}">
                <a16:creationId xmlns:a16="http://schemas.microsoft.com/office/drawing/2014/main" id="{3A360A80-23D0-4F8F-9C8A-A10F7502D455}"/>
              </a:ext>
            </a:extLst>
          </p:cNvPr>
          <p:cNvSpPr>
            <a:spLocks xmlns:a="http://schemas.openxmlformats.org/drawingml/2006/main" noGrp="1"/>
          </p:cNvSpPr>
          <p:nvPr/>
        </p:nvSpPr>
        <p:spPr>
          <a:xfrm xmlns:a="http://schemas.openxmlformats.org/drawingml/2006/main">
            <a:off x="609600" y="5610225"/>
            <a:ext cx="1352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0 RUNTIME SESSIONS</a:t>
            </a:r>
          </a:p>
        </p:txBody>
      </p:sp>
    </p:spTree>
    <p:extLst>
      <p:ext uri="{BB962C8B-B14F-4D97-AF65-F5344CB8AC3E}">
        <p14:creationId xmlns:p14="http://schemas.microsoft.com/office/powerpoint/2010/main" val="1310735306"/>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0" name="eyebrow-7">
            <a:extLst xmlns:a="http://schemas.openxmlformats.org/drawingml/2006/main">
              <a:ext uri="{FF2B5EF4-FFF2-40B4-BE49-F238E27FC236}">
                <a16:creationId xmlns:a16="http://schemas.microsoft.com/office/drawing/2014/main" id="{C4A395B7-BBBC-42B9-83BA-5E8A46FBC698}"/>
              </a:ext>
            </a:extLst>
          </p:cNvPr>
          <p:cNvSpPr>
            <a:spLocks xmlns:a="http://schemas.openxmlformats.org/drawingml/2006/main" noGrp="1"/>
          </p:cNvSpPr>
          <p:nvPr/>
        </p:nvSpPr>
        <p:spPr>
          <a:xfrm xmlns:a="http://schemas.openxmlformats.org/drawingml/2006/main">
            <a:off x="400050" y="323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AGENT SESSION</a:t>
            </a:r>
          </a:p>
        </p:txBody>
      </p:sp>
      <p:sp>
        <p:nvSpPr>
          <p:cNvPr id="2" name="title-7">
            <a:extLst xmlns:a="http://schemas.openxmlformats.org/drawingml/2006/main">
              <a:ext uri="{FF2B5EF4-FFF2-40B4-BE49-F238E27FC236}">
                <a16:creationId xmlns:a16="http://schemas.microsoft.com/office/drawing/2014/main" id="{E642ABE9-11C1-4222-9DB1-9B0FC8018C98}"/>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700" b="1">
                <a:solidFill>
                  <a:srgbClr val="101914"/>
                </a:solidFill>
                <a:latin typeface="Arial"/>
                <a:ea typeface="Arial"/>
                <a:cs typeface="Arial"/>
              </a:defRPr>
            </a:pPr>
            <a:r>
              <a:rPr sz="2700" b="1">
                <a:solidFill>
                  <a:srgbClr val="101914"/>
                </a:solidFill>
                <a:latin typeface="Arial"/>
                <a:ea typeface="Arial"/>
                <a:cs typeface="Arial"/>
              </a:rPr>
              <a:t>Sessions pin truth; user prompts keep local choice</a:t>
            </a:r>
          </a:p>
        </p:txBody>
      </p:sp>
      <p:sp>
        <p:nvSpPr>
          <p:cNvPr id="3" name="slide-number-7">
            <a:extLst xmlns:a="http://schemas.openxmlformats.org/drawingml/2006/main">
              <a:ext uri="{FF2B5EF4-FFF2-40B4-BE49-F238E27FC236}">
                <a16:creationId xmlns:a16="http://schemas.microsoft.com/office/drawing/2014/main" id="{B4178F9C-702F-4638-9897-4590029CAF33}"/>
              </a:ext>
            </a:extLst>
          </p:cNvPr>
          <p:cNvSpPr>
            <a:spLocks xmlns:a="http://schemas.openxmlformats.org/drawingml/2006/main" noGrp="1"/>
          </p:cNvSpPr>
          <p:nvPr/>
        </p:nvSpPr>
        <p:spPr>
          <a:xfrm xmlns:a="http://schemas.openxmlformats.org/drawingml/2006/main">
            <a:off x="11334750" y="400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a:solidFill>
                  <a:srgbClr val="66706A"/>
                </a:solidFill>
                <a:latin typeface="Arial"/>
                <a:ea typeface="Arial"/>
                <a:cs typeface="Arial"/>
              </a:defRPr>
            </a:pPr>
            <a:r>
              <a:rPr sz="900">
                <a:solidFill>
                  <a:srgbClr val="66706A"/>
                </a:solidFill>
                <a:latin typeface="Arial"/>
                <a:ea typeface="Arial"/>
                <a:cs typeface="Arial"/>
              </a:rPr>
              <a:t>07</a:t>
            </a:r>
          </a:p>
        </p:txBody>
      </p:sp>
      <p:sp>
        <p:nvSpPr>
          <p:cNvPr id="4" name="session-bullet-dot-0">
            <a:extLst xmlns:a="http://schemas.openxmlformats.org/drawingml/2006/main">
              <a:ext uri="{FF2B5EF4-FFF2-40B4-BE49-F238E27FC236}">
                <a16:creationId xmlns:a16="http://schemas.microsoft.com/office/drawing/2014/main" id="{324A71AE-8EC7-4198-8AAF-89207EC9B3B5}"/>
              </a:ext>
            </a:extLst>
          </p:cNvPr>
          <p:cNvSpPr>
            <a:spLocks xmlns:a="http://schemas.openxmlformats.org/drawingml/2006/main" noGrp="1"/>
          </p:cNvSpPr>
          <p:nvPr/>
        </p:nvSpPr>
        <p:spPr>
          <a:xfrm xmlns:a="http://schemas.openxmlformats.org/drawingml/2006/main">
            <a:off x="495300" y="16859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5" name="session-bullet-0">
            <a:extLst xmlns:a="http://schemas.openxmlformats.org/drawingml/2006/main">
              <a:ext uri="{FF2B5EF4-FFF2-40B4-BE49-F238E27FC236}">
                <a16:creationId xmlns:a16="http://schemas.microsoft.com/office/drawing/2014/main" id="{60C38FDA-9FD0-4898-8B26-12BFCB1CFE75}"/>
              </a:ext>
            </a:extLst>
          </p:cNvPr>
          <p:cNvSpPr>
            <a:spLocks xmlns:a="http://schemas.openxmlformats.org/drawingml/2006/main" noGrp="1"/>
          </p:cNvSpPr>
          <p:nvPr/>
        </p:nvSpPr>
        <p:spPr>
          <a:xfrm xmlns:a="http://schemas.openxmlformats.org/drawingml/2006/main">
            <a:off x="704850" y="16192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The Session stores the resolved runtime reference, profile revision, and digest.</a:t>
            </a:r>
          </a:p>
        </p:txBody>
      </p:sp>
      <p:sp>
        <p:nvSpPr>
          <p:cNvPr id="6" name="session-bullet-dot-1">
            <a:extLst xmlns:a="http://schemas.openxmlformats.org/drawingml/2006/main">
              <a:ext uri="{FF2B5EF4-FFF2-40B4-BE49-F238E27FC236}">
                <a16:creationId xmlns:a16="http://schemas.microsoft.com/office/drawing/2014/main" id="{ABE11B76-5B7A-4B03-B87C-18F1E7F6A28F}"/>
              </a:ext>
            </a:extLst>
          </p:cNvPr>
          <p:cNvSpPr>
            <a:spLocks xmlns:a="http://schemas.openxmlformats.org/drawingml/2006/main" noGrp="1"/>
          </p:cNvSpPr>
          <p:nvPr/>
        </p:nvSpPr>
        <p:spPr>
          <a:xfrm xmlns:a="http://schemas.openxmlformats.org/drawingml/2006/main">
            <a:off x="495300" y="227647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7" name="session-bullet-1">
            <a:extLst xmlns:a="http://schemas.openxmlformats.org/drawingml/2006/main">
              <a:ext uri="{FF2B5EF4-FFF2-40B4-BE49-F238E27FC236}">
                <a16:creationId xmlns:a16="http://schemas.microsoft.com/office/drawing/2014/main" id="{413AED41-327B-470A-8D87-78E839923E62}"/>
              </a:ext>
            </a:extLst>
          </p:cNvPr>
          <p:cNvSpPr>
            <a:spLocks xmlns:a="http://schemas.openxmlformats.org/drawingml/2006/main" noGrp="1"/>
          </p:cNvSpPr>
          <p:nvPr/>
        </p:nvSpPr>
        <p:spPr>
          <a:xfrm xmlns:a="http://schemas.openxmlformats.org/drawingml/2006/main">
            <a:off x="704850" y="22098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Workflow messages use pinned model, reasoning, and sandbox defaults.</a:t>
            </a:r>
          </a:p>
        </p:txBody>
      </p:sp>
      <p:sp>
        <p:nvSpPr>
          <p:cNvPr id="8" name="session-bullet-dot-2">
            <a:extLst xmlns:a="http://schemas.openxmlformats.org/drawingml/2006/main">
              <a:ext uri="{FF2B5EF4-FFF2-40B4-BE49-F238E27FC236}">
                <a16:creationId xmlns:a16="http://schemas.microsoft.com/office/drawing/2014/main" id="{189B4DA4-C2D7-457C-8BC2-762F17EE95C3}"/>
              </a:ext>
            </a:extLst>
          </p:cNvPr>
          <p:cNvSpPr>
            <a:spLocks xmlns:a="http://schemas.openxmlformats.org/drawingml/2006/main" noGrp="1"/>
          </p:cNvSpPr>
          <p:nvPr/>
        </p:nvSpPr>
        <p:spPr>
          <a:xfrm xmlns:a="http://schemas.openxmlformats.org/drawingml/2006/main">
            <a:off x="495300" y="28670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9" name="session-bullet-2">
            <a:extLst xmlns:a="http://schemas.openxmlformats.org/drawingml/2006/main">
              <a:ext uri="{FF2B5EF4-FFF2-40B4-BE49-F238E27FC236}">
                <a16:creationId xmlns:a16="http://schemas.microsoft.com/office/drawing/2014/main" id="{0F42DCE2-2F1B-4C6B-9757-2A7D434B75AA}"/>
              </a:ext>
            </a:extLst>
          </p:cNvPr>
          <p:cNvSpPr>
            <a:spLocks xmlns:a="http://schemas.openxmlformats.org/drawingml/2006/main" noGrp="1"/>
          </p:cNvSpPr>
          <p:nvPr/>
        </p:nvSpPr>
        <p:spPr>
          <a:xfrm xmlns:a="http://schemas.openxmlformats.org/drawingml/2006/main">
            <a:off x="704850" y="28003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431"/>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A direct user message may choose any attached runtime model and reasoning mode for that message only.</a:t>
            </a:r>
          </a:p>
        </p:txBody>
      </p:sp>
      <p:sp>
        <p:nvSpPr>
          <p:cNvPr id="10" name="frame-08-session-profile-and-message-controls.jpg">
            <a:extLst xmlns:a="http://schemas.openxmlformats.org/drawingml/2006/main">
              <a:ext uri="{FF2B5EF4-FFF2-40B4-BE49-F238E27FC236}">
                <a16:creationId xmlns:a16="http://schemas.microsoft.com/office/drawing/2014/main" id="{98A67D83-89D1-48C9-AB7C-7A5FE4C76DCB}"/>
              </a:ext>
            </a:extLst>
          </p:cNvPr>
          <p:cNvSpPr>
            <a:spLocks xmlns:a="http://schemas.openxmlformats.org/drawingml/2006/main" noGrp="1"/>
          </p:cNvSpPr>
          <p:nvPr/>
        </p:nvSpPr>
        <p:spPr>
          <a:xfrm xmlns:a="http://schemas.openxmlformats.org/drawingml/2006/main">
            <a:off x="39433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f38f117c6394e4f"/>
          <a:stretch xmlns:a="http://schemas.openxmlformats.org/drawingml/2006/main"/>
        </p:blipFill>
        <p:spPr>
          <a:xfrm xmlns:a="http://schemas.openxmlformats.org/drawingml/2006/main">
            <a:off x="4021318" y="1409700"/>
            <a:ext cx="3615963" cy="2400300"/>
          </a:xfrm>
          <a:prstGeom xmlns:a="http://schemas.openxmlformats.org/drawingml/2006/main" prst="roundRect">
            <a:avLst>
              <a:gd name="adj" fmla="val 4762"/>
            </a:avLst>
          </a:prstGeom>
        </p:spPr>
      </p:pic>
      <p:sp>
        <p:nvSpPr>
          <p:cNvPr id="12" name="evidence-SEEDED FIXTURE">
            <a:extLst xmlns:a="http://schemas.openxmlformats.org/drawingml/2006/main">
              <a:ext uri="{FF2B5EF4-FFF2-40B4-BE49-F238E27FC236}">
                <a16:creationId xmlns:a16="http://schemas.microsoft.com/office/drawing/2014/main" id="{E07584CD-0384-474B-9B6E-FD21C807B044}"/>
              </a:ext>
            </a:extLst>
          </p:cNvPr>
          <p:cNvSpPr>
            <a:spLocks xmlns:a="http://schemas.openxmlformats.org/drawingml/2006/main" noGrp="1"/>
          </p:cNvSpPr>
          <p:nvPr/>
        </p:nvSpPr>
        <p:spPr>
          <a:xfrm xmlns:a="http://schemas.openxmlformats.org/drawingml/2006/main">
            <a:off x="4076700" y="1485900"/>
            <a:ext cx="1133475" cy="266700"/>
          </a:xfrm>
          <a:prstGeom xmlns:a="http://schemas.openxmlformats.org/drawingml/2006/main" prst="roundRect">
            <a:avLst>
              <a:gd name="adj" fmla="val 50000"/>
            </a:avLst>
          </a:prstGeom>
          <a:solidFill xmlns:a="http://schemas.openxmlformats.org/drawingml/2006/main">
            <a:srgbClr val="F6EBDD"/>
          </a:solidFill>
          <a:ln xmlns:a="http://schemas.openxmlformats.org/drawingml/2006/main" w="9525">
            <a:solidFill>
              <a:srgbClr val="F6EBDD"/>
            </a:solidFill>
            <a:prstDash val="solid"/>
          </a:ln>
        </p:spPr>
      </p:sp>
      <p:sp>
        <p:nvSpPr>
          <p:cNvPr id="13" name="evidence-text-SEEDED FIXTURE">
            <a:extLst xmlns:a="http://schemas.openxmlformats.org/drawingml/2006/main">
              <a:ext uri="{FF2B5EF4-FFF2-40B4-BE49-F238E27FC236}">
                <a16:creationId xmlns:a16="http://schemas.microsoft.com/office/drawing/2014/main" id="{B62C85DB-8191-4A53-B068-3910408F20FB}"/>
              </a:ext>
            </a:extLst>
          </p:cNvPr>
          <p:cNvSpPr>
            <a:spLocks xmlns:a="http://schemas.openxmlformats.org/drawingml/2006/main" noGrp="1"/>
          </p:cNvSpPr>
          <p:nvPr/>
        </p:nvSpPr>
        <p:spPr>
          <a:xfrm xmlns:a="http://schemas.openxmlformats.org/drawingml/2006/main">
            <a:off x="4191000" y="1552575"/>
            <a:ext cx="9048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A55B16"/>
                </a:solidFill>
                <a:latin typeface="Arial"/>
                <a:ea typeface="Arial"/>
                <a:cs typeface="Arial"/>
              </a:defRPr>
            </a:pPr>
            <a:r>
              <a:rPr sz="750" b="1">
                <a:solidFill>
                  <a:srgbClr val="A55B16"/>
                </a:solidFill>
                <a:latin typeface="Arial"/>
                <a:ea typeface="Arial"/>
                <a:cs typeface="Arial"/>
              </a:rPr>
              <a:t>SEEDED FIXTURE</a:t>
            </a:r>
          </a:p>
        </p:txBody>
      </p:sp>
      <p:sp>
        <p:nvSpPr>
          <p:cNvPr id="14" name="frame-09-pinned-defaults-and-node-capabilities.jpg">
            <a:extLst xmlns:a="http://schemas.openxmlformats.org/drawingml/2006/main">
              <a:ext uri="{FF2B5EF4-FFF2-40B4-BE49-F238E27FC236}">
                <a16:creationId xmlns:a16="http://schemas.microsoft.com/office/drawing/2014/main" id="{19F9A77D-77F1-4A4F-A4F5-BC273360A0EB}"/>
              </a:ext>
            </a:extLst>
          </p:cNvPr>
          <p:cNvSpPr>
            <a:spLocks xmlns:a="http://schemas.openxmlformats.org/drawingml/2006/main" noGrp="1"/>
          </p:cNvSpPr>
          <p:nvPr/>
        </p:nvSpPr>
        <p:spPr>
          <a:xfrm xmlns:a="http://schemas.openxmlformats.org/drawingml/2006/main">
            <a:off x="7867650" y="1352550"/>
            <a:ext cx="3771900" cy="25146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ABB5AF"/>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313ac9ce41a4113"/>
          <a:stretch xmlns:a="http://schemas.openxmlformats.org/drawingml/2006/main"/>
        </p:blipFill>
        <p:spPr>
          <a:xfrm xmlns:a="http://schemas.openxmlformats.org/drawingml/2006/main">
            <a:off x="7945618" y="1409700"/>
            <a:ext cx="3615963" cy="2400300"/>
          </a:xfrm>
          <a:prstGeom xmlns:a="http://schemas.openxmlformats.org/drawingml/2006/main" prst="roundRect">
            <a:avLst>
              <a:gd name="adj" fmla="val 4762"/>
            </a:avLst>
          </a:prstGeom>
        </p:spPr>
      </p:pic>
      <p:sp>
        <p:nvSpPr>
          <p:cNvPr id="16" name="evidence-SEEDED FIXTURE">
            <a:extLst xmlns:a="http://schemas.openxmlformats.org/drawingml/2006/main">
              <a:ext uri="{FF2B5EF4-FFF2-40B4-BE49-F238E27FC236}">
                <a16:creationId xmlns:a16="http://schemas.microsoft.com/office/drawing/2014/main" id="{58FBC0EA-5B71-430E-9C72-ADA58B497A0F}"/>
              </a:ext>
            </a:extLst>
          </p:cNvPr>
          <p:cNvSpPr>
            <a:spLocks xmlns:a="http://schemas.openxmlformats.org/drawingml/2006/main" noGrp="1"/>
          </p:cNvSpPr>
          <p:nvPr/>
        </p:nvSpPr>
        <p:spPr>
          <a:xfrm xmlns:a="http://schemas.openxmlformats.org/drawingml/2006/main">
            <a:off x="8001000" y="1485900"/>
            <a:ext cx="1133475" cy="266700"/>
          </a:xfrm>
          <a:prstGeom xmlns:a="http://schemas.openxmlformats.org/drawingml/2006/main" prst="roundRect">
            <a:avLst>
              <a:gd name="adj" fmla="val 50000"/>
            </a:avLst>
          </a:prstGeom>
          <a:solidFill xmlns:a="http://schemas.openxmlformats.org/drawingml/2006/main">
            <a:srgbClr val="F6EBDD"/>
          </a:solidFill>
          <a:ln xmlns:a="http://schemas.openxmlformats.org/drawingml/2006/main" w="9525">
            <a:solidFill>
              <a:srgbClr val="F6EBDD"/>
            </a:solidFill>
            <a:prstDash val="solid"/>
          </a:ln>
        </p:spPr>
      </p:sp>
      <p:sp>
        <p:nvSpPr>
          <p:cNvPr id="17" name="evidence-text-SEEDED FIXTURE">
            <a:extLst xmlns:a="http://schemas.openxmlformats.org/drawingml/2006/main">
              <a:ext uri="{FF2B5EF4-FFF2-40B4-BE49-F238E27FC236}">
                <a16:creationId xmlns:a16="http://schemas.microsoft.com/office/drawing/2014/main" id="{8F3E8769-4FDD-44BE-AC04-2449E4CA00A5}"/>
              </a:ext>
            </a:extLst>
          </p:cNvPr>
          <p:cNvSpPr>
            <a:spLocks xmlns:a="http://schemas.openxmlformats.org/drawingml/2006/main" noGrp="1"/>
          </p:cNvSpPr>
          <p:nvPr/>
        </p:nvSpPr>
        <p:spPr>
          <a:xfrm xmlns:a="http://schemas.openxmlformats.org/drawingml/2006/main">
            <a:off x="8115300" y="1552575"/>
            <a:ext cx="9048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A55B16"/>
                </a:solidFill>
                <a:latin typeface="Arial"/>
                <a:ea typeface="Arial"/>
                <a:cs typeface="Arial"/>
              </a:defRPr>
            </a:pPr>
            <a:r>
              <a:rPr sz="750" b="1">
                <a:solidFill>
                  <a:srgbClr val="A55B16"/>
                </a:solidFill>
                <a:latin typeface="Arial"/>
                <a:ea typeface="Arial"/>
                <a:cs typeface="Arial"/>
              </a:rPr>
              <a:t>SEEDED FIXTURE</a:t>
            </a:r>
          </a:p>
        </p:txBody>
      </p:sp>
      <p:sp>
        <p:nvSpPr>
          <p:cNvPr id="18" name="session-takeaway">
            <a:extLst xmlns:a="http://schemas.openxmlformats.org/drawingml/2006/main">
              <a:ext uri="{FF2B5EF4-FFF2-40B4-BE49-F238E27FC236}">
                <a16:creationId xmlns:a16="http://schemas.microsoft.com/office/drawing/2014/main" id="{AA6DFDD4-F94F-4061-BD13-086D4EFD1D9E}"/>
              </a:ext>
            </a:extLst>
          </p:cNvPr>
          <p:cNvSpPr>
            <a:spLocks xmlns:a="http://schemas.openxmlformats.org/drawingml/2006/main" noGrp="1"/>
          </p:cNvSpPr>
          <p:nvPr/>
        </p:nvSpPr>
        <p:spPr>
          <a:xfrm xmlns:a="http://schemas.openxmlformats.org/drawingml/2006/main">
            <a:off x="3943350" y="4171950"/>
            <a:ext cx="7696200" cy="1333500"/>
          </a:xfrm>
          <a:prstGeom xmlns:a="http://schemas.openxmlformats.org/drawingml/2006/main" prst="roundRect">
            <a:avLst>
              <a:gd name="adj" fmla="val 8571"/>
            </a:avLst>
          </a:prstGeom>
          <a:solidFill xmlns:a="http://schemas.openxmlformats.org/drawingml/2006/main">
            <a:srgbClr val="F6EBDD"/>
          </a:solidFill>
          <a:ln xmlns:a="http://schemas.openxmlformats.org/drawingml/2006/main" w="9525">
            <a:solidFill>
              <a:srgbClr val="F6EBDD"/>
            </a:solidFill>
            <a:prstDash val="solid"/>
          </a:ln>
        </p:spPr>
      </p:sp>
      <p:sp>
        <p:nvSpPr>
          <p:cNvPr id="19" name="session-takeaway-text">
            <a:extLst xmlns:a="http://schemas.openxmlformats.org/drawingml/2006/main">
              <a:ext uri="{FF2B5EF4-FFF2-40B4-BE49-F238E27FC236}">
                <a16:creationId xmlns:a16="http://schemas.microsoft.com/office/drawing/2014/main" id="{45F83D4E-2F0A-4FB2-A5DD-96DE3FC6588E}"/>
              </a:ext>
            </a:extLst>
          </p:cNvPr>
          <p:cNvSpPr>
            <a:spLocks xmlns:a="http://schemas.openxmlformats.org/drawingml/2006/main" noGrp="1"/>
          </p:cNvSpPr>
          <p:nvPr/>
        </p:nvSpPr>
        <p:spPr>
          <a:xfrm xmlns:a="http://schemas.openxmlformats.org/drawingml/2006/main">
            <a:off x="4248150" y="4438650"/>
            <a:ext cx="7086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893"/>
          </a:bodyPr>
          <a:lstStyle xmlns:a="http://schemas.openxmlformats.org/drawingml/2006/main"/>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Important distinction</a:t>
            </a:r>
          </a:p>
          <a:p xmlns:a="http://schemas.openxmlformats.org/drawingml/2006/main">
            <a:pPr>
              <a:defRPr sz="1650" b="1">
                <a:solidFill>
                  <a:srgbClr val="101914"/>
                </a:solidFill>
                <a:latin typeface="Arial"/>
                <a:ea typeface="Arial"/>
                <a:cs typeface="Arial"/>
              </a:defRPr>
            </a:pPr>
            <a:r>
              <a:rPr sz="1650" b="1">
                <a:solidFill>
                  <a:srgbClr val="101914"/>
                </a:solidFill>
                <a:latin typeface="Arial"/>
                <a:ea typeface="Arial"/>
                <a:cs typeface="Arial"/>
              </a:rPr>
              <a:t>The message selectors are not a mutable Session override profile. They resolve invocation-local user authority against the attached runtime.</a:t>
            </a:r>
          </a:p>
        </p:txBody>
      </p:sp>
    </p:spTree>
    <p:extLst>
      <p:ext uri="{BB962C8B-B14F-4D97-AF65-F5344CB8AC3E}">
        <p14:creationId xmlns:p14="http://schemas.microsoft.com/office/powerpoint/2010/main" val="1954550473"/>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8" name="eyebrow-8">
            <a:extLst xmlns:a="http://schemas.openxmlformats.org/drawingml/2006/main">
              <a:ext uri="{FF2B5EF4-FFF2-40B4-BE49-F238E27FC236}">
                <a16:creationId xmlns:a16="http://schemas.microsoft.com/office/drawing/2014/main" id="{98AD7419-5657-4E1D-94B9-3E1803262BF6}"/>
              </a:ext>
            </a:extLst>
          </p:cNvPr>
          <p:cNvSpPr>
            <a:spLocks xmlns:a="http://schemas.openxmlformats.org/drawingml/2006/main" noGrp="1"/>
          </p:cNvSpPr>
          <p:nvPr/>
        </p:nvSpPr>
        <p:spPr>
          <a:xfrm xmlns:a="http://schemas.openxmlformats.org/drawingml/2006/main">
            <a:off x="400050" y="323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WALKTHROUGH CLOSE</a:t>
            </a:r>
          </a:p>
        </p:txBody>
      </p:sp>
      <p:sp>
        <p:nvSpPr>
          <p:cNvPr id="2" name="title-8">
            <a:extLst xmlns:a="http://schemas.openxmlformats.org/drawingml/2006/main">
              <a:ext uri="{FF2B5EF4-FFF2-40B4-BE49-F238E27FC236}">
                <a16:creationId xmlns:a16="http://schemas.microsoft.com/office/drawing/2014/main" id="{56F7EE63-3757-47A8-AA31-49AEF7F14022}"/>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700" b="1">
                <a:solidFill>
                  <a:srgbClr val="101914"/>
                </a:solidFill>
                <a:latin typeface="Arial"/>
                <a:ea typeface="Arial"/>
                <a:cs typeface="Arial"/>
              </a:defRPr>
            </a:pPr>
            <a:r>
              <a:rPr sz="2700" b="1">
                <a:solidFill>
                  <a:srgbClr val="101914"/>
                </a:solidFill>
                <a:latin typeface="Arial"/>
                <a:ea typeface="Arial"/>
                <a:cs typeface="Arial"/>
              </a:rPr>
              <a:t>Runtime truth and provenance are inspectable from the Session</a:t>
            </a:r>
          </a:p>
        </p:txBody>
      </p:sp>
      <p:sp>
        <p:nvSpPr>
          <p:cNvPr id="3" name="slide-number-8">
            <a:extLst xmlns:a="http://schemas.openxmlformats.org/drawingml/2006/main">
              <a:ext uri="{FF2B5EF4-FFF2-40B4-BE49-F238E27FC236}">
                <a16:creationId xmlns:a16="http://schemas.microsoft.com/office/drawing/2014/main" id="{29490734-167A-4CF6-BCB3-5DD8BB047BC9}"/>
              </a:ext>
            </a:extLst>
          </p:cNvPr>
          <p:cNvSpPr>
            <a:spLocks xmlns:a="http://schemas.openxmlformats.org/drawingml/2006/main" noGrp="1"/>
          </p:cNvSpPr>
          <p:nvPr/>
        </p:nvSpPr>
        <p:spPr>
          <a:xfrm xmlns:a="http://schemas.openxmlformats.org/drawingml/2006/main">
            <a:off x="11334750" y="400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a:solidFill>
                  <a:srgbClr val="66706A"/>
                </a:solidFill>
                <a:latin typeface="Arial"/>
                <a:ea typeface="Arial"/>
                <a:cs typeface="Arial"/>
              </a:defRPr>
            </a:pPr>
            <a:r>
              <a:rPr sz="900">
                <a:solidFill>
                  <a:srgbClr val="66706A"/>
                </a:solidFill>
                <a:latin typeface="Arial"/>
                <a:ea typeface="Arial"/>
                <a:cs typeface="Arial"/>
              </a:rPr>
              <a:t>08</a:t>
            </a:r>
          </a:p>
        </p:txBody>
      </p:sp>
      <p:sp>
        <p:nvSpPr>
          <p:cNvPr id="4" name="frame-10-attached-runtime-and-delivery-provenance.jpg">
            <a:extLst xmlns:a="http://schemas.openxmlformats.org/drawingml/2006/main">
              <a:ext uri="{FF2B5EF4-FFF2-40B4-BE49-F238E27FC236}">
                <a16:creationId xmlns:a16="http://schemas.microsoft.com/office/drawing/2014/main" id="{ACE6A2F4-2F56-4FB3-9D57-4B3D0A75FD58}"/>
              </a:ext>
            </a:extLst>
          </p:cNvPr>
          <p:cNvSpPr>
            <a:spLocks xmlns:a="http://schemas.openxmlformats.org/drawingml/2006/main" noGrp="1"/>
          </p:cNvSpPr>
          <p:nvPr/>
        </p:nvSpPr>
        <p:spPr>
          <a:xfrm xmlns:a="http://schemas.openxmlformats.org/drawingml/2006/main">
            <a:off x="400050" y="1352550"/>
            <a:ext cx="6324600" cy="4210050"/>
          </a:xfrm>
          <a:prstGeom xmlns:a="http://schemas.openxmlformats.org/drawingml/2006/main" prst="roundRect">
            <a:avLst>
              <a:gd name="adj" fmla="val 2715"/>
            </a:avLst>
          </a:prstGeom>
          <a:solidFill xmlns:a="http://schemas.openxmlformats.org/drawingml/2006/main">
            <a:srgbClr val="FFFFFF"/>
          </a:solidFill>
          <a:ln xmlns:a="http://schemas.openxmlformats.org/drawingml/2006/main" w="9525">
            <a:solidFill>
              <a:srgbClr val="ABB5AF"/>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c61e01bfc674b3a"/>
          <a:stretch xmlns:a="http://schemas.openxmlformats.org/drawingml/2006/main"/>
        </p:blipFill>
        <p:spPr>
          <a:xfrm xmlns:a="http://schemas.openxmlformats.org/drawingml/2006/main">
            <a:off x="477302" y="1409700"/>
            <a:ext cx="6170096" cy="4095750"/>
          </a:xfrm>
          <a:prstGeom xmlns:a="http://schemas.openxmlformats.org/drawingml/2006/main" prst="roundRect">
            <a:avLst>
              <a:gd name="adj" fmla="val 2791"/>
            </a:avLst>
          </a:prstGeom>
        </p:spPr>
      </p:pic>
      <p:sp>
        <p:nvSpPr>
          <p:cNvPr id="6" name="evidence-SEEDED FIXTURE">
            <a:extLst xmlns:a="http://schemas.openxmlformats.org/drawingml/2006/main">
              <a:ext uri="{FF2B5EF4-FFF2-40B4-BE49-F238E27FC236}">
                <a16:creationId xmlns:a16="http://schemas.microsoft.com/office/drawing/2014/main" id="{41E2559E-5344-45E4-B30D-B267A27D9459}"/>
              </a:ext>
            </a:extLst>
          </p:cNvPr>
          <p:cNvSpPr>
            <a:spLocks xmlns:a="http://schemas.openxmlformats.org/drawingml/2006/main" noGrp="1"/>
          </p:cNvSpPr>
          <p:nvPr/>
        </p:nvSpPr>
        <p:spPr>
          <a:xfrm xmlns:a="http://schemas.openxmlformats.org/drawingml/2006/main">
            <a:off x="533400" y="1485900"/>
            <a:ext cx="1133475" cy="266700"/>
          </a:xfrm>
          <a:prstGeom xmlns:a="http://schemas.openxmlformats.org/drawingml/2006/main" prst="roundRect">
            <a:avLst>
              <a:gd name="adj" fmla="val 50000"/>
            </a:avLst>
          </a:prstGeom>
          <a:solidFill xmlns:a="http://schemas.openxmlformats.org/drawingml/2006/main">
            <a:srgbClr val="F6EBDD"/>
          </a:solidFill>
          <a:ln xmlns:a="http://schemas.openxmlformats.org/drawingml/2006/main" w="9525">
            <a:solidFill>
              <a:srgbClr val="F6EBDD"/>
            </a:solidFill>
            <a:prstDash val="solid"/>
          </a:ln>
        </p:spPr>
      </p:sp>
      <p:sp>
        <p:nvSpPr>
          <p:cNvPr id="7" name="evidence-text-SEEDED FIXTURE">
            <a:extLst xmlns:a="http://schemas.openxmlformats.org/drawingml/2006/main">
              <a:ext uri="{FF2B5EF4-FFF2-40B4-BE49-F238E27FC236}">
                <a16:creationId xmlns:a16="http://schemas.microsoft.com/office/drawing/2014/main" id="{2187C887-1647-447E-A966-83DE1051F29D}"/>
              </a:ext>
            </a:extLst>
          </p:cNvPr>
          <p:cNvSpPr>
            <a:spLocks xmlns:a="http://schemas.openxmlformats.org/drawingml/2006/main" noGrp="1"/>
          </p:cNvSpPr>
          <p:nvPr/>
        </p:nvSpPr>
        <p:spPr>
          <a:xfrm xmlns:a="http://schemas.openxmlformats.org/drawingml/2006/main">
            <a:off x="647700" y="1552575"/>
            <a:ext cx="9048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A55B16"/>
                </a:solidFill>
                <a:latin typeface="Arial"/>
                <a:ea typeface="Arial"/>
                <a:cs typeface="Arial"/>
              </a:defRPr>
            </a:pPr>
            <a:r>
              <a:rPr sz="750" b="1">
                <a:solidFill>
                  <a:srgbClr val="A55B16"/>
                </a:solidFill>
                <a:latin typeface="Arial"/>
                <a:ea typeface="Arial"/>
                <a:cs typeface="Arial"/>
              </a:rPr>
              <a:t>SEEDED FIXTURE</a:t>
            </a:r>
          </a:p>
        </p:txBody>
      </p:sp>
      <p:sp>
        <p:nvSpPr>
          <p:cNvPr id="8" name="questions">
            <a:extLst xmlns:a="http://schemas.openxmlformats.org/drawingml/2006/main">
              <a:ext uri="{FF2B5EF4-FFF2-40B4-BE49-F238E27FC236}">
                <a16:creationId xmlns:a16="http://schemas.microsoft.com/office/drawing/2014/main" id="{997CADDC-9E20-4DFD-9D36-E2FE3C7274AC}"/>
              </a:ext>
            </a:extLst>
          </p:cNvPr>
          <p:cNvSpPr>
            <a:spLocks xmlns:a="http://schemas.openxmlformats.org/drawingml/2006/main" noGrp="1"/>
          </p:cNvSpPr>
          <p:nvPr/>
        </p:nvSpPr>
        <p:spPr>
          <a:xfrm xmlns:a="http://schemas.openxmlformats.org/drawingml/2006/main">
            <a:off x="7067550" y="1352550"/>
            <a:ext cx="4724400" cy="4210050"/>
          </a:xfrm>
          <a:prstGeom xmlns:a="http://schemas.openxmlformats.org/drawingml/2006/main" prst="roundRect">
            <a:avLst>
              <a:gd name="adj" fmla="val 2715"/>
            </a:avLst>
          </a:prstGeom>
          <a:solidFill xmlns:a="http://schemas.openxmlformats.org/drawingml/2006/main">
            <a:srgbClr val="FFFFFF"/>
          </a:solidFill>
          <a:ln xmlns:a="http://schemas.openxmlformats.org/drawingml/2006/main" w="9525">
            <a:solidFill>
              <a:srgbClr val="C8CEC9"/>
            </a:solidFill>
            <a:prstDash val="solid"/>
          </a:ln>
        </p:spPr>
      </p:sp>
      <p:sp>
        <p:nvSpPr>
          <p:cNvPr id="9" name="questions-title">
            <a:extLst xmlns:a="http://schemas.openxmlformats.org/drawingml/2006/main">
              <a:ext uri="{FF2B5EF4-FFF2-40B4-BE49-F238E27FC236}">
                <a16:creationId xmlns:a16="http://schemas.microsoft.com/office/drawing/2014/main" id="{6E092EAE-DFF2-4A37-99A4-A53D9F6990AF}"/>
              </a:ext>
            </a:extLst>
          </p:cNvPr>
          <p:cNvSpPr>
            <a:spLocks xmlns:a="http://schemas.openxmlformats.org/drawingml/2006/main" noGrp="1"/>
          </p:cNvSpPr>
          <p:nvPr/>
        </p:nvSpPr>
        <p:spPr>
          <a:xfrm xmlns:a="http://schemas.openxmlformats.org/drawingml/2006/main">
            <a:off x="7410450" y="17145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025" b="1">
                <a:solidFill>
                  <a:srgbClr val="101914"/>
                </a:solidFill>
                <a:latin typeface="Arial"/>
                <a:ea typeface="Arial"/>
                <a:cs typeface="Arial"/>
              </a:defRPr>
            </a:pPr>
            <a:r>
              <a:rPr sz="2025" b="1">
                <a:solidFill>
                  <a:srgbClr val="101914"/>
                </a:solidFill>
                <a:latin typeface="Arial"/>
                <a:ea typeface="Arial"/>
                <a:cs typeface="Arial"/>
              </a:rPr>
              <a:t>Questions for review</a:t>
            </a:r>
          </a:p>
        </p:txBody>
      </p:sp>
      <p:sp>
        <p:nvSpPr>
          <p:cNvPr id="10" name="closing-bullet-dot-0">
            <a:extLst xmlns:a="http://schemas.openxmlformats.org/drawingml/2006/main">
              <a:ext uri="{FF2B5EF4-FFF2-40B4-BE49-F238E27FC236}">
                <a16:creationId xmlns:a16="http://schemas.microsoft.com/office/drawing/2014/main" id="{DCF3BC3C-1351-4267-8778-F0CC8B0ECF26}"/>
              </a:ext>
            </a:extLst>
          </p:cNvPr>
          <p:cNvSpPr>
            <a:spLocks xmlns:a="http://schemas.openxmlformats.org/drawingml/2006/main" noGrp="1"/>
          </p:cNvSpPr>
          <p:nvPr/>
        </p:nvSpPr>
        <p:spPr>
          <a:xfrm xmlns:a="http://schemas.openxmlformats.org/drawingml/2006/main">
            <a:off x="7410450" y="24860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11" name="closing-bullet-0">
            <a:extLst xmlns:a="http://schemas.openxmlformats.org/drawingml/2006/main">
              <a:ext uri="{FF2B5EF4-FFF2-40B4-BE49-F238E27FC236}">
                <a16:creationId xmlns:a16="http://schemas.microsoft.com/office/drawing/2014/main" id="{13B33F8F-6485-4538-BF23-0A372B093AF6}"/>
              </a:ext>
            </a:extLst>
          </p:cNvPr>
          <p:cNvSpPr>
            <a:spLocks xmlns:a="http://schemas.openxmlformats.org/drawingml/2006/main" noGrp="1"/>
          </p:cNvSpPr>
          <p:nvPr/>
        </p:nvSpPr>
        <p:spPr>
          <a:xfrm xmlns:a="http://schemas.openxmlformats.org/drawingml/2006/main">
            <a:off x="7620000" y="2419350"/>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Are the five boundaries legible enough to edit confidently?</a:t>
            </a:r>
          </a:p>
        </p:txBody>
      </p:sp>
      <p:sp>
        <p:nvSpPr>
          <p:cNvPr id="12" name="closing-bullet-dot-1">
            <a:extLst xmlns:a="http://schemas.openxmlformats.org/drawingml/2006/main">
              <a:ext uri="{FF2B5EF4-FFF2-40B4-BE49-F238E27FC236}">
                <a16:creationId xmlns:a16="http://schemas.microsoft.com/office/drawing/2014/main" id="{5E33C7AB-C790-4844-9A75-5D7B2FB96A14}"/>
              </a:ext>
            </a:extLst>
          </p:cNvPr>
          <p:cNvSpPr>
            <a:spLocks xmlns:a="http://schemas.openxmlformats.org/drawingml/2006/main" noGrp="1"/>
          </p:cNvSpPr>
          <p:nvPr/>
        </p:nvSpPr>
        <p:spPr>
          <a:xfrm xmlns:a="http://schemas.openxmlformats.org/drawingml/2006/main">
            <a:off x="7410450" y="307657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13" name="closing-bullet-1">
            <a:extLst xmlns:a="http://schemas.openxmlformats.org/drawingml/2006/main">
              <a:ext uri="{FF2B5EF4-FFF2-40B4-BE49-F238E27FC236}">
                <a16:creationId xmlns:a16="http://schemas.microsoft.com/office/drawing/2014/main" id="{075368BC-358F-43E3-A53B-2645C8FEEE43}"/>
              </a:ext>
            </a:extLst>
          </p:cNvPr>
          <p:cNvSpPr>
            <a:spLocks xmlns:a="http://schemas.openxmlformats.org/drawingml/2006/main" noGrp="1"/>
          </p:cNvSpPr>
          <p:nvPr/>
        </p:nvSpPr>
        <p:spPr>
          <a:xfrm xmlns:a="http://schemas.openxmlformats.org/drawingml/2006/main">
            <a:off x="7620000" y="3009900"/>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Does the Session view expose enough provenance for day-to-day work?</a:t>
            </a:r>
          </a:p>
        </p:txBody>
      </p:sp>
      <p:sp>
        <p:nvSpPr>
          <p:cNvPr id="14" name="closing-bullet-dot-2">
            <a:extLst xmlns:a="http://schemas.openxmlformats.org/drawingml/2006/main">
              <a:ext uri="{FF2B5EF4-FFF2-40B4-BE49-F238E27FC236}">
                <a16:creationId xmlns:a16="http://schemas.microsoft.com/office/drawing/2014/main" id="{1E12F815-A470-43A1-B67F-6DD07050C5BB}"/>
              </a:ext>
            </a:extLst>
          </p:cNvPr>
          <p:cNvSpPr>
            <a:spLocks xmlns:a="http://schemas.openxmlformats.org/drawingml/2006/main" noGrp="1"/>
          </p:cNvSpPr>
          <p:nvPr/>
        </p:nvSpPr>
        <p:spPr>
          <a:xfrm xmlns:a="http://schemas.openxmlformats.org/drawingml/2006/main">
            <a:off x="7410450" y="3667125"/>
            <a:ext cx="85725" cy="85725"/>
          </a:xfrm>
          <a:prstGeom xmlns:a="http://schemas.openxmlformats.org/drawingml/2006/main" prst="ellipse">
            <a:avLst/>
          </a:prstGeom>
          <a:solidFill xmlns:a="http://schemas.openxmlformats.org/drawingml/2006/main">
            <a:srgbClr val="2D5D48"/>
          </a:solidFill>
          <a:ln xmlns:a="http://schemas.openxmlformats.org/drawingml/2006/main" w="0">
            <a:solidFill>
              <a:srgbClr val="2D5D48"/>
            </a:solidFill>
            <a:prstDash val="solid"/>
          </a:ln>
        </p:spPr>
      </p:sp>
      <p:sp>
        <p:nvSpPr>
          <p:cNvPr id="15" name="closing-bullet-2">
            <a:extLst xmlns:a="http://schemas.openxmlformats.org/drawingml/2006/main">
              <a:ext uri="{FF2B5EF4-FFF2-40B4-BE49-F238E27FC236}">
                <a16:creationId xmlns:a16="http://schemas.microsoft.com/office/drawing/2014/main" id="{FAB2D33B-3FE8-4429-A760-C5DF6B15B10A}"/>
              </a:ext>
            </a:extLst>
          </p:cNvPr>
          <p:cNvSpPr>
            <a:spLocks xmlns:a="http://schemas.openxmlformats.org/drawingml/2006/main" noGrp="1"/>
          </p:cNvSpPr>
          <p:nvPr/>
        </p:nvSpPr>
        <p:spPr>
          <a:xfrm xmlns:a="http://schemas.openxmlformats.org/drawingml/2006/main">
            <a:off x="7620000" y="3600450"/>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01914"/>
                </a:solidFill>
                <a:latin typeface="Arial"/>
                <a:ea typeface="Arial"/>
                <a:cs typeface="Arial"/>
              </a:defRPr>
            </a:pPr>
            <a:r>
              <a:rPr sz="1275">
                <a:solidFill>
                  <a:srgbClr val="101914"/>
                </a:solidFill>
                <a:latin typeface="Arial"/>
                <a:ea typeface="Arial"/>
                <a:cs typeface="Arial"/>
              </a:rPr>
              <a:t>Which run-level projection should be designed next—without assuming it is a graph?</a:t>
            </a:r>
          </a:p>
        </p:txBody>
      </p:sp>
      <p:sp>
        <p:nvSpPr>
          <p:cNvPr id="16" name="closing-note">
            <a:extLst xmlns:a="http://schemas.openxmlformats.org/drawingml/2006/main">
              <a:ext uri="{FF2B5EF4-FFF2-40B4-BE49-F238E27FC236}">
                <a16:creationId xmlns:a16="http://schemas.microsoft.com/office/drawing/2014/main" id="{C98FB752-6AC2-4547-8736-1109C547C1FD}"/>
              </a:ext>
            </a:extLst>
          </p:cNvPr>
          <p:cNvSpPr>
            <a:spLocks xmlns:a="http://schemas.openxmlformats.org/drawingml/2006/main" noGrp="1"/>
          </p:cNvSpPr>
          <p:nvPr/>
        </p:nvSpPr>
        <p:spPr>
          <a:xfrm xmlns:a="http://schemas.openxmlformats.org/drawingml/2006/main">
            <a:off x="7410450" y="4629150"/>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6706A"/>
                </a:solidFill>
                <a:latin typeface="Arial"/>
                <a:ea typeface="Arial"/>
                <a:cs typeface="Arial"/>
              </a:defRPr>
            </a:pPr>
            <a:r>
              <a:rPr sz="1200">
                <a:solidFill>
                  <a:srgbClr val="66706A"/>
                </a:solidFill>
                <a:latin typeface="Arial"/>
                <a:ea typeface="Arial"/>
                <a:cs typeface="Arial"/>
              </a:rPr>
              <a:t>Deferred: canonical run UI, robust custom providers, role concepts, and provider connection management.</a:t>
            </a:r>
          </a:p>
        </p:txBody>
      </p:sp>
      <p:sp>
        <p:nvSpPr>
          <p:cNvPr id="17" name="closing-footer">
            <a:extLst xmlns:a="http://schemas.openxmlformats.org/drawingml/2006/main">
              <a:ext uri="{FF2B5EF4-FFF2-40B4-BE49-F238E27FC236}">
                <a16:creationId xmlns:a16="http://schemas.microsoft.com/office/drawing/2014/main" id="{D9BAF980-327B-4580-8835-D94AA3E98855}"/>
              </a:ext>
            </a:extLst>
          </p:cNvPr>
          <p:cNvSpPr>
            <a:spLocks xmlns:a="http://schemas.openxmlformats.org/drawingml/2006/main" noGrp="1"/>
          </p:cNvSpPr>
          <p:nvPr/>
        </p:nvSpPr>
        <p:spPr>
          <a:xfrm xmlns:a="http://schemas.openxmlformats.org/drawingml/2006/main">
            <a:off x="400050" y="600075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800" b="1">
                <a:solidFill>
                  <a:srgbClr val="101914"/>
                </a:solidFill>
                <a:latin typeface="Arial"/>
                <a:ea typeface="Arial"/>
                <a:cs typeface="Arial"/>
              </a:defRPr>
            </a:pPr>
            <a:r>
              <a:rPr sz="1800" b="1">
                <a:solidFill>
                  <a:srgbClr val="101914"/>
                </a:solidFill>
                <a:latin typeface="Arial"/>
                <a:ea typeface="Arial"/>
                <a:cs typeface="Arial"/>
              </a:rPr>
              <a:t>Next conversation: refine the presentation surface around proven functional boundaries.</a:t>
            </a:r>
          </a:p>
        </p:txBody>
      </p:sp>
    </p:spTree>
    <p:extLst>
      <p:ext uri="{BB962C8B-B14F-4D97-AF65-F5344CB8AC3E}">
        <p14:creationId xmlns:p14="http://schemas.microsoft.com/office/powerpoint/2010/main" val="11507548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2026-09-02T11:37:17.2660000Z</dcterms:created>
  <dcterms:modified xsi:type="dcterms:W3CDTF">2026-09-02T11:37:17.2660000Z</dcterms:modified>
</coreProperties>
</file>